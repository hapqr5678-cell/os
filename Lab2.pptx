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7"/>
  </p:notesMasterIdLst>
  <p:sldIdLst>
    <p:sldId id="256" r:id="rId2"/>
    <p:sldId id="296" r:id="rId3"/>
    <p:sldId id="257" r:id="rId4"/>
    <p:sldId id="258" r:id="rId5"/>
    <p:sldId id="259" r:id="rId6"/>
    <p:sldId id="260" r:id="rId7"/>
    <p:sldId id="261" r:id="rId8"/>
    <p:sldId id="301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302" r:id="rId21"/>
    <p:sldId id="274" r:id="rId22"/>
    <p:sldId id="275" r:id="rId23"/>
    <p:sldId id="303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7" r:id="rId42"/>
    <p:sldId id="304" r:id="rId43"/>
    <p:sldId id="305" r:id="rId44"/>
    <p:sldId id="294" r:id="rId45"/>
    <p:sldId id="295" r:id="rId46"/>
  </p:sldIdLst>
  <p:sldSz cx="12192000" cy="6858000"/>
  <p:notesSz cx="6858000" cy="9144000"/>
  <p:embeddedFontLst>
    <p:embeddedFont>
      <p:font typeface="Microsoft JhengHei" panose="020B0604030504040204" pitchFamily="34" charset="-120"/>
      <p:regular r:id="rId48"/>
      <p:bold r:id="rId49"/>
    </p:embeddedFon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onsolas" panose="020B0609020204030204" pitchFamily="49" charset="0"/>
      <p:regular r:id="rId54"/>
      <p:bold r:id="rId55"/>
      <p:italic r:id="rId56"/>
      <p:boldItalic r:id="rId57"/>
    </p:embeddedFont>
    <p:embeddedFont>
      <p:font typeface="Corbel" panose="020B0503020204020204" pitchFamily="34" charset="0"/>
      <p:regular r:id="rId58"/>
      <p:bold r:id="rId59"/>
      <p:italic r:id="rId60"/>
      <p:boldItalic r:id="rId61"/>
    </p:embeddedFont>
    <p:embeddedFont>
      <p:font typeface="Noto Sans Symbols" pitchFamily="2" charset="0"/>
      <p:regular r:id="rId62"/>
      <p:bold r:id="rId6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4" roundtripDataSignature="AMtx7mjnd7nDbBcGYy88yfu8GFNUkO3s3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37" autoAdjust="0"/>
    <p:restoredTop sz="79636" autoAdjust="0"/>
  </p:normalViewPr>
  <p:slideViewPr>
    <p:cSldViewPr snapToGrid="0">
      <p:cViewPr varScale="1">
        <p:scale>
          <a:sx n="79" d="100"/>
          <a:sy n="79" d="100"/>
        </p:scale>
        <p:origin x="116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3.fntdata"/><Relationship Id="rId55" Type="http://schemas.openxmlformats.org/officeDocument/2006/relationships/font" Target="fonts/font8.fntdata"/><Relationship Id="rId63" Type="http://schemas.openxmlformats.org/officeDocument/2006/relationships/font" Target="fonts/font16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6.fntdata"/><Relationship Id="rId58" Type="http://schemas.openxmlformats.org/officeDocument/2006/relationships/font" Target="fonts/font11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1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1.fntdata"/><Relationship Id="rId56" Type="http://schemas.openxmlformats.org/officeDocument/2006/relationships/font" Target="fonts/font9.fntdata"/><Relationship Id="rId64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font" Target="fonts/font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2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7.fntdata"/><Relationship Id="rId62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2.fntdata"/><Relationship Id="rId57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5.fntdata"/><Relationship Id="rId60" Type="http://schemas.openxmlformats.org/officeDocument/2006/relationships/font" Target="fonts/font13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476887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若為（</a:t>
            </a:r>
            <a:r>
              <a:rPr lang="en-US" altLang="zh-TW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Ubuntu 24.04</a:t>
            </a:r>
            <a:r>
              <a:rPr lang="zh-TW" altLang="en-US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）則</a:t>
            </a:r>
            <a:r>
              <a:rPr lang="zh-TW" altLang="en-US" sz="1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下載 </a:t>
            </a:r>
            <a:r>
              <a:rPr lang="en-US" altLang="zh-TW" sz="1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Linux kernel(v6.8) </a:t>
            </a:r>
            <a:r>
              <a:rPr lang="zh-TW" altLang="en-US" sz="12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原始碼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輸入 “</a:t>
            </a:r>
            <a:r>
              <a:rPr lang="en-US" altLang="zh-TW" sz="1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git clone --depth=1 --branch v6.8 https://git.kernel.org/pub/</a:t>
            </a:r>
            <a:r>
              <a:rPr lang="en-US" altLang="zh-TW" sz="12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scm</a:t>
            </a:r>
            <a:r>
              <a:rPr lang="en-US" altLang="zh-TW" sz="1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/</a:t>
            </a:r>
            <a:r>
              <a:rPr lang="en-US" altLang="zh-TW" sz="12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linux</a:t>
            </a:r>
            <a:r>
              <a:rPr lang="en-US" altLang="zh-TW" sz="1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/kernel/git/</a:t>
            </a:r>
            <a:r>
              <a:rPr lang="en-US" altLang="zh-TW" sz="12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torvalds</a:t>
            </a:r>
            <a:r>
              <a:rPr lang="en-US" altLang="zh-TW" sz="1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/</a:t>
            </a:r>
            <a:r>
              <a:rPr lang="en-US" altLang="zh-TW" sz="12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linux.git</a:t>
            </a:r>
            <a:r>
              <a:rPr lang="en-US" altLang="zh-TW" sz="12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lang="en-US" altLang="zh-TW"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zh-TW" dirty="0"/>
              <a:t>26.04 / 24.04</a:t>
            </a:r>
            <a:r>
              <a:rPr lang="zh-TW" altLang="en-US" dirty="0"/>
              <a:t> 跑 </a:t>
            </a:r>
            <a:r>
              <a:rPr lang="en-US" altLang="zh-TW" dirty="0"/>
              <a:t>v7.1.3</a:t>
            </a:r>
            <a:r>
              <a:rPr lang="zh-TW" altLang="en-US" dirty="0"/>
              <a:t> 都沒問題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50" name="Google Shape;15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32765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455e9bbeb7_0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62" name="Google Shape;162;g3455e9bbeb7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 err="1"/>
              <a:t>target</a:t>
            </a:r>
            <a:r>
              <a:rPr lang="en-US" dirty="0" err="1"/>
              <a:t>：要生成的東西（例如</a:t>
            </a:r>
            <a:r>
              <a:rPr lang="en-US" dirty="0"/>
              <a:t> </a:t>
            </a:r>
            <a:r>
              <a:rPr lang="en-US" dirty="0" err="1"/>
              <a:t>program、test.o、甚至是</a:t>
            </a:r>
            <a:r>
              <a:rPr lang="en-US" dirty="0"/>
              <a:t> clean </a:t>
            </a:r>
            <a:r>
              <a:rPr lang="en-US" dirty="0" err="1"/>
              <a:t>這種虛擬目標</a:t>
            </a:r>
            <a:r>
              <a:rPr lang="en-US" dirty="0"/>
              <a:t>）。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 err="1"/>
              <a:t>dependencies</a:t>
            </a:r>
            <a:r>
              <a:rPr lang="en-US" dirty="0" err="1"/>
              <a:t>：這個</a:t>
            </a:r>
            <a:r>
              <a:rPr lang="en-US" dirty="0"/>
              <a:t> target </a:t>
            </a:r>
            <a:r>
              <a:rPr lang="en-US" dirty="0" err="1"/>
              <a:t>依賴哪些檔案</a:t>
            </a:r>
            <a:r>
              <a:rPr lang="en-US" dirty="0"/>
              <a:t>。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b="1" dirty="0" err="1"/>
              <a:t>command</a:t>
            </a:r>
            <a:r>
              <a:rPr lang="en-US" dirty="0" err="1"/>
              <a:t>：要執行的動作（通常是編譯</a:t>
            </a:r>
            <a:r>
              <a:rPr lang="en-US" dirty="0"/>
              <a:t>）。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5" name="Google Shape;18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zh-TW" dirty="0"/>
              <a:t>Kernel module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pr_info</a:t>
            </a:r>
            <a:r>
              <a:rPr lang="en-US" altLang="zh-TW" dirty="0"/>
              <a:t> </a:t>
            </a:r>
            <a:r>
              <a:rPr lang="zh-TW" altLang="en-US" dirty="0"/>
              <a:t>是一個簡化過的巨集（</a:t>
            </a:r>
            <a:r>
              <a:rPr lang="en-US" altLang="zh-TW" dirty="0"/>
              <a:t>macro</a:t>
            </a:r>
            <a:r>
              <a:rPr lang="zh-TW" altLang="en-US" dirty="0"/>
              <a:t>），內部就是呼叫 </a:t>
            </a:r>
            <a:r>
              <a:rPr lang="en-US" altLang="zh-TW" dirty="0" err="1"/>
              <a:t>printk</a:t>
            </a:r>
            <a:r>
              <a:rPr lang="zh-TW" altLang="en-US" dirty="0"/>
              <a:t>，並自動帶上 </a:t>
            </a:r>
            <a:r>
              <a:rPr lang="en-US" altLang="zh-TW" dirty="0"/>
              <a:t>KERN_INFO </a:t>
            </a:r>
            <a:r>
              <a:rPr lang="zh-TW" altLang="en-US" dirty="0"/>
              <a:t>日誌等級。</a:t>
            </a:r>
            <a:br>
              <a:rPr lang="en-US" altLang="zh-TW" dirty="0"/>
            </a:br>
            <a:r>
              <a:rPr lang="en-US" altLang="zh-TW" dirty="0" err="1"/>
              <a:t>printk</a:t>
            </a:r>
            <a:r>
              <a:rPr lang="en-US" altLang="zh-TW" dirty="0"/>
              <a:t> </a:t>
            </a:r>
            <a:r>
              <a:rPr lang="zh-TW" altLang="en-US" dirty="0"/>
              <a:t>是 </a:t>
            </a:r>
            <a:r>
              <a:rPr lang="en-US" altLang="zh-TW" dirty="0"/>
              <a:t>Linux </a:t>
            </a:r>
            <a:r>
              <a:rPr lang="zh-TW" altLang="en-US" dirty="0"/>
              <a:t>核心中最基礎的日誌輸出函式，相當於 </a:t>
            </a:r>
            <a:r>
              <a:rPr lang="en-US" altLang="zh-TW" dirty="0"/>
              <a:t>C </a:t>
            </a:r>
            <a:r>
              <a:rPr lang="zh-TW" altLang="en-US" dirty="0"/>
              <a:t>語言中的 </a:t>
            </a:r>
            <a:r>
              <a:rPr lang="en-US" altLang="zh-TW" dirty="0" err="1"/>
              <a:t>printf</a:t>
            </a:r>
            <a:r>
              <a:rPr lang="zh-TW" altLang="en-US" dirty="0"/>
              <a:t>，但它專門用來把訊息輸出到核心日誌（</a:t>
            </a:r>
            <a:r>
              <a:rPr lang="en-US" altLang="zh-TW" dirty="0"/>
              <a:t>kernel log</a:t>
            </a:r>
            <a:r>
              <a:rPr lang="zh-TW" altLang="en-US" dirty="0"/>
              <a:t>）。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altLang="zh-TW" dirty="0" err="1"/>
              <a:t>printk</a:t>
            </a:r>
            <a:r>
              <a:rPr lang="en-US" altLang="zh-TW" dirty="0"/>
              <a:t>(KERN_INFO "Hello Kernel!\n");</a:t>
            </a:r>
          </a:p>
        </p:txBody>
      </p:sp>
      <p:sp>
        <p:nvSpPr>
          <p:cNvPr id="210" name="Google Shape;21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sz="1800" kern="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細明體" panose="02020509000000000000" pitchFamily="49" charset="-120"/>
              </a:rPr>
              <a:t>obj-y</a:t>
            </a:r>
            <a:r>
              <a:rPr lang="en-US" altLang="zh-TW" sz="1800" kern="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是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Linux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核心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en-US" altLang="zh-TW" sz="1800" kern="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Makefile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中使用的關鍵字，表示將指定的原始碼或模組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直接編譯並靜態連接進</a:t>
            </a:r>
            <a:r>
              <a:rPr lang="en-US" altLang="zh-TW" sz="1800" b="1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Linux </a:t>
            </a:r>
            <a:r>
              <a:rPr lang="zh-TW" altLang="zh-TW" sz="1800" b="1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核心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（</a:t>
            </a:r>
            <a:r>
              <a:rPr lang="en-US" altLang="zh-TW" sz="1800" kern="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zImage</a:t>
            </a:r>
            <a:r>
              <a:rPr lang="en-US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 / </a:t>
            </a:r>
            <a:r>
              <a:rPr lang="en-US" altLang="zh-TW" sz="1800" kern="0" dirty="0" err="1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bzImage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）中。系統啟動時，標記為 </a:t>
            </a:r>
            <a:r>
              <a:rPr lang="en-US" altLang="zh-TW" sz="1800" kern="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Courier New" panose="02070309020205020404" pitchFamily="49" charset="0"/>
              </a:rPr>
              <a:t>obj-y</a:t>
            </a:r>
            <a:r>
              <a:rPr lang="en-US" altLang="zh-TW" sz="1800" kern="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Arial" panose="020B0604020202020204" pitchFamily="34" charset="0"/>
              </a:rPr>
              <a:t> </a:t>
            </a:r>
            <a:r>
              <a:rPr lang="zh-TW" altLang="zh-TW" sz="1800" kern="0" dirty="0">
                <a:effectLst/>
                <a:latin typeface="Calibri" panose="020F0502020204030204" pitchFamily="34" charset="0"/>
                <a:ea typeface="新細明體" panose="02020500000000000000" pitchFamily="18" charset="-120"/>
                <a:cs typeface="Arial" panose="020B0604020202020204" pitchFamily="34" charset="0"/>
              </a:rPr>
              <a:t>的功能會自動載入並常駐記憶體。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800" kern="0" dirty="0">
                <a:effectLst/>
                <a:latin typeface="新細明體" panose="02020500000000000000" pitchFamily="18" charset="-120"/>
                <a:ea typeface="新細明體" panose="02020500000000000000" pitchFamily="18" charset="-120"/>
                <a:cs typeface="Arial" panose="020B0604020202020204" pitchFamily="34" charset="0"/>
              </a:rPr>
              <a:t>所以</a:t>
            </a:r>
            <a:r>
              <a:rPr lang="en-US" altLang="zh-TW" sz="18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r>
              <a:rPr lang="en-US" altLang="zh-TW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中的 </a:t>
            </a:r>
            <a:r>
              <a:rPr lang="en-US" altLang="zh-TW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obj-y += </a:t>
            </a:r>
            <a:r>
              <a:rPr lang="en-US" altLang="zh-TW" sz="18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hello.o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代表把目的檔綁進</a:t>
            </a:r>
            <a:r>
              <a:rPr lang="en-US" altLang="zh-TW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kernel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內</a:t>
            </a:r>
            <a:r>
              <a:rPr lang="en-US" altLang="zh-TW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且</a:t>
            </a:r>
            <a:r>
              <a:rPr lang="en-US" altLang="zh-TW" sz="18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Kbuild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會在</a:t>
            </a:r>
            <a:r>
              <a:rPr lang="en-US" altLang="zh-TW" sz="18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檔案的同個資料夾看有沒有</a:t>
            </a:r>
            <a:r>
              <a:rPr lang="en-US" altLang="zh-TW" sz="18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hello.c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有的話會自動編譯整合進</a:t>
            </a:r>
            <a:r>
              <a:rPr lang="en-US" altLang="zh-TW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kernel</a:t>
            </a:r>
            <a:r>
              <a:rPr lang="zh-TW" altLang="en-US" sz="1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內。</a:t>
            </a:r>
            <a:endParaRPr lang="en-US" altLang="zh-TW" sz="18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21" name="Google Shape;2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Syscalls.h</a:t>
            </a:r>
            <a:r>
              <a:rPr lang="zh-TW" altLang="en-US" dirty="0"/>
              <a:t>集中管理「系統呼叫（</a:t>
            </a:r>
            <a:r>
              <a:rPr lang="en-US" altLang="zh-TW" dirty="0"/>
              <a:t>system calls</a:t>
            </a:r>
            <a:r>
              <a:rPr lang="zh-TW" altLang="en-US" dirty="0"/>
              <a:t>）」的宣告與定義，讓</a:t>
            </a:r>
            <a:r>
              <a:rPr lang="en-US" altLang="zh-TW" dirty="0"/>
              <a:t>kernel</a:t>
            </a:r>
            <a:r>
              <a:rPr lang="zh-TW" altLang="en-US" dirty="0"/>
              <a:t>內部與使用者空間（</a:t>
            </a:r>
            <a:r>
              <a:rPr lang="en-US" altLang="zh-TW" dirty="0"/>
              <a:t>user space</a:t>
            </a:r>
            <a:r>
              <a:rPr lang="zh-TW" altLang="en-US" dirty="0"/>
              <a:t>）能正確對應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Asmlinkage</a:t>
            </a:r>
            <a:r>
              <a:rPr lang="zh-TW" altLang="en-US" dirty="0"/>
              <a:t>在 </a:t>
            </a:r>
            <a:r>
              <a:rPr lang="en-US" altLang="zh-TW" dirty="0"/>
              <a:t>Linux kernel </a:t>
            </a:r>
            <a:r>
              <a:rPr lang="zh-TW" altLang="en-US" dirty="0"/>
              <a:t>中，用來告訴編譯器：</a:t>
            </a:r>
            <a:br>
              <a:rPr lang="zh-TW" altLang="en-US" dirty="0"/>
            </a:br>
            <a:r>
              <a:rPr lang="zh-TW" altLang="en-US" b="1" dirty="0"/>
              <a:t>這個函式的參數必須從「堆疊（</a:t>
            </a:r>
            <a:r>
              <a:rPr lang="en-US" altLang="zh-TW" b="1" dirty="0"/>
              <a:t>stack</a:t>
            </a:r>
            <a:r>
              <a:rPr lang="zh-TW" altLang="en-US" b="1" dirty="0"/>
              <a:t>）」取得，而不是透過暫存器（</a:t>
            </a:r>
            <a:r>
              <a:rPr lang="en-US" altLang="zh-TW" b="1" dirty="0"/>
              <a:t>register</a:t>
            </a:r>
            <a:r>
              <a:rPr lang="zh-TW" altLang="en-US" b="1" dirty="0"/>
              <a:t>）傳遞。</a:t>
            </a:r>
            <a:endParaRPr dirty="0"/>
          </a:p>
        </p:txBody>
      </p:sp>
      <p:sp>
        <p:nvSpPr>
          <p:cNvPr id="231" name="Google Shape;23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2" name="Google Shape;242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b="1" dirty="0" err="1"/>
              <a:t>Kbuild</a:t>
            </a:r>
            <a:r>
              <a:rPr lang="en-US" altLang="zh-TW" dirty="0"/>
              <a:t> = </a:t>
            </a:r>
            <a:r>
              <a:rPr lang="en-US" altLang="zh-TW" b="1" dirty="0"/>
              <a:t>Kernel Build System</a:t>
            </a:r>
            <a:r>
              <a:rPr lang="zh-TW" altLang="en-US" dirty="0"/>
              <a:t>（核心建置系統）</a:t>
            </a:r>
          </a:p>
          <a:p>
            <a:r>
              <a:rPr lang="zh-TW" altLang="en-US" dirty="0"/>
              <a:t>它是一套 </a:t>
            </a:r>
            <a:r>
              <a:rPr lang="zh-TW" altLang="en-US" b="1" dirty="0"/>
              <a:t>基於 </a:t>
            </a:r>
            <a:r>
              <a:rPr lang="en-US" altLang="zh-TW" b="1" dirty="0" err="1"/>
              <a:t>Makefile</a:t>
            </a:r>
            <a:r>
              <a:rPr lang="en-US" altLang="zh-TW" b="1" dirty="0"/>
              <a:t> </a:t>
            </a:r>
            <a:r>
              <a:rPr lang="zh-TW" altLang="en-US" b="1" dirty="0"/>
              <a:t>的建置框架</a:t>
            </a:r>
            <a:r>
              <a:rPr lang="zh-TW" altLang="en-US" dirty="0"/>
              <a:t>，專門用來編譯 </a:t>
            </a:r>
            <a:r>
              <a:rPr lang="en-US" altLang="zh-TW" dirty="0"/>
              <a:t>Linux Kernel </a:t>
            </a:r>
            <a:r>
              <a:rPr lang="zh-TW" altLang="en-US" dirty="0"/>
              <a:t>以及 </a:t>
            </a:r>
            <a:r>
              <a:rPr lang="en-US" altLang="zh-TW" dirty="0"/>
              <a:t>Kernel Modules</a:t>
            </a:r>
            <a:r>
              <a:rPr lang="zh-TW" altLang="en-US" dirty="0"/>
              <a:t>。</a:t>
            </a:r>
          </a:p>
          <a:p>
            <a:r>
              <a:rPr lang="zh-TW" altLang="en-US" dirty="0"/>
              <a:t>每個子目錄（例如 </a:t>
            </a:r>
            <a:r>
              <a:rPr lang="en-US" altLang="zh-TW" dirty="0"/>
              <a:t>drivers/, fs/, net/</a:t>
            </a:r>
            <a:r>
              <a:rPr lang="zh-TW" altLang="en-US" dirty="0"/>
              <a:t>）裡面都有自己的 </a:t>
            </a:r>
            <a:r>
              <a:rPr lang="en-US" altLang="zh-TW" dirty="0" err="1"/>
              <a:t>Kbuild</a:t>
            </a:r>
            <a:r>
              <a:rPr lang="en-US" altLang="zh-TW" dirty="0"/>
              <a:t> </a:t>
            </a:r>
            <a:r>
              <a:rPr lang="zh-TW" altLang="en-US" dirty="0"/>
              <a:t>或 </a:t>
            </a:r>
            <a:r>
              <a:rPr lang="en-US" altLang="zh-TW" dirty="0" err="1"/>
              <a:t>Makefile</a:t>
            </a:r>
            <a:r>
              <a:rPr lang="zh-TW" altLang="en-US" dirty="0"/>
              <a:t>，整合起來由最上層的 </a:t>
            </a:r>
            <a:r>
              <a:rPr lang="en-US" altLang="zh-TW" dirty="0" err="1"/>
              <a:t>Makefile</a:t>
            </a:r>
            <a:r>
              <a:rPr lang="en-US" altLang="zh-TW" dirty="0"/>
              <a:t> </a:t>
            </a:r>
            <a:r>
              <a:rPr lang="zh-TW" altLang="en-US" dirty="0"/>
              <a:t>控制。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43" name="Google Shape;243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在 Linux kernel 裡，每一個 </a:t>
            </a:r>
            <a:r>
              <a:rPr lang="en-US" b="1"/>
              <a:t>system call</a:t>
            </a:r>
            <a:r>
              <a:rPr lang="en-US"/>
              <a:t> 都必須登記在「該 CPU 架構的 system call table」裡，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不然使用者空間呼叫 syscall(number, ...) 時，kernel 會找不到對應函式。</a:t>
            </a:r>
            <a:endParaRPr/>
          </a:p>
        </p:txBody>
      </p:sp>
      <p:sp>
        <p:nvSpPr>
          <p:cNvPr id="256" name="Google Shape;256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462</a:t>
            </a:r>
            <a:r>
              <a:rPr lang="zh-TW" altLang="en-US" dirty="0"/>
              <a:t>為</a:t>
            </a:r>
            <a:r>
              <a:rPr lang="en-US" altLang="zh-TW" dirty="0" err="1"/>
              <a:t>syscall</a:t>
            </a:r>
            <a:r>
              <a:rPr lang="zh-TW" altLang="en-US" dirty="0"/>
              <a:t>編號 </a:t>
            </a:r>
            <a:r>
              <a:rPr lang="en-US" altLang="zh-TW" b="1" dirty="0"/>
              <a:t>common</a:t>
            </a:r>
            <a:r>
              <a:rPr lang="en-US" altLang="zh-TW" dirty="0"/>
              <a:t> → </a:t>
            </a:r>
            <a:r>
              <a:rPr lang="zh-TW" altLang="en-US" dirty="0"/>
              <a:t>表示這個 </a:t>
            </a:r>
            <a:r>
              <a:rPr lang="en-US" altLang="zh-TW" dirty="0" err="1"/>
              <a:t>syscall</a:t>
            </a:r>
            <a:r>
              <a:rPr lang="en-US" altLang="zh-TW" dirty="0"/>
              <a:t> </a:t>
            </a:r>
            <a:r>
              <a:rPr lang="zh-TW" altLang="en-US" dirty="0"/>
              <a:t>適用於「所有共同支援的架構」 </a:t>
            </a:r>
            <a:r>
              <a:rPr lang="en-US" altLang="zh-TW" b="0" i="0" dirty="0" err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syscall</a:t>
            </a:r>
            <a:r>
              <a:rPr lang="en-US" altLang="zh-TW" b="0" i="0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 is named hello and its entry function(</a:t>
            </a:r>
            <a:r>
              <a:rPr lang="zh-TW" altLang="en-US" b="0" i="0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函數名稱</a:t>
            </a:r>
            <a:r>
              <a:rPr lang="en-US" altLang="zh-TW" b="0" i="0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) is </a:t>
            </a:r>
            <a:r>
              <a:rPr lang="en-US" altLang="zh-TW" b="0" i="0" dirty="0" err="1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sys_hello</a:t>
            </a:r>
            <a:r>
              <a:rPr lang="en-US" altLang="zh-TW" b="0" i="0" dirty="0">
                <a:solidFill>
                  <a:srgbClr val="24242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zh-TW" b="0" i="0" dirty="0">
              <a:solidFill>
                <a:srgbClr val="242424"/>
              </a:solidFill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267" name="Google Shape;26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dirty="0"/>
              <a:t>將虛擬機核心數設置與邏輯處理器核心數差不多大，編譯</a:t>
            </a:r>
            <a:r>
              <a:rPr lang="en-US" altLang="zh-TW" dirty="0"/>
              <a:t>kernel</a:t>
            </a:r>
            <a:r>
              <a:rPr lang="zh-TW" altLang="en-US" dirty="0"/>
              <a:t>較快</a:t>
            </a:r>
            <a:endParaRPr dirty="0"/>
          </a:p>
        </p:txBody>
      </p:sp>
      <p:sp>
        <p:nvSpPr>
          <p:cNvPr id="289" name="Google Shape;28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003130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zh-TW" altLang="en-US" dirty="0"/>
              <a:t>第一個指令是把目前正在執行的 </a:t>
            </a:r>
            <a:r>
              <a:rPr lang="en-US" altLang="zh-TW" dirty="0"/>
              <a:t>kernel </a:t>
            </a:r>
            <a:r>
              <a:rPr lang="zh-TW" altLang="en-US" dirty="0"/>
              <a:t>設定檔，複製到「目前所在資料夾」，並命名成 </a:t>
            </a:r>
            <a:r>
              <a:rPr lang="en-US" altLang="zh-TW" dirty="0"/>
              <a:t>.config</a:t>
            </a:r>
            <a:r>
              <a:rPr lang="zh-TW" altLang="en-US" dirty="0"/>
              <a:t>。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dirty="0"/>
              <a:t>第二個指令它的作用是：讀取你目前的 </a:t>
            </a:r>
            <a:r>
              <a:rPr lang="en-US" altLang="zh-TW" dirty="0"/>
              <a:t>.config</a:t>
            </a:r>
            <a:r>
              <a:rPr lang="zh-TW" altLang="en-US" dirty="0"/>
              <a:t>，保留原本已有的設定，對「新版 </a:t>
            </a:r>
            <a:r>
              <a:rPr lang="en-US" altLang="zh-TW" dirty="0"/>
              <a:t>kernel </a:t>
            </a:r>
            <a:r>
              <a:rPr lang="zh-TW" altLang="en-US" dirty="0"/>
              <a:t>新增加、但舊 </a:t>
            </a:r>
            <a:r>
              <a:rPr lang="en-US" altLang="zh-TW" dirty="0"/>
              <a:t>.config </a:t>
            </a:r>
            <a:r>
              <a:rPr lang="zh-TW" altLang="en-US" dirty="0"/>
              <a:t>裡沒有的選項」自動套用預設值。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dirty="0"/>
              <a:t>第三個指令，它會根據目前系統已載入的 </a:t>
            </a:r>
            <a:r>
              <a:rPr lang="en-US" altLang="zh-TW" dirty="0"/>
              <a:t>modules </a:t>
            </a:r>
            <a:r>
              <a:rPr lang="zh-TW" altLang="en-US" dirty="0"/>
              <a:t>去精簡 </a:t>
            </a:r>
            <a:r>
              <a:rPr lang="en-US" altLang="zh-TW" dirty="0"/>
              <a:t>.config</a:t>
            </a:r>
            <a:r>
              <a:rPr lang="zh-TW" altLang="en-US" dirty="0"/>
              <a:t>。在這個過程中，如果目前要編譯的 </a:t>
            </a:r>
            <a:r>
              <a:rPr lang="en-US" altLang="zh-TW" dirty="0"/>
              <a:t>kernel </a:t>
            </a:r>
            <a:r>
              <a:rPr lang="zh-TW" altLang="en-US" dirty="0"/>
              <a:t>有一些原本 </a:t>
            </a:r>
            <a:r>
              <a:rPr lang="en-US" altLang="zh-TW" dirty="0"/>
              <a:t>.config </a:t>
            </a:r>
            <a:r>
              <a:rPr lang="zh-TW" altLang="en-US" dirty="0"/>
              <a:t>沒有的新設定，它就會停下來問我們。</a:t>
            </a:r>
            <a:r>
              <a:rPr lang="en-US" altLang="zh-TW" dirty="0"/>
              <a:t>y </a:t>
            </a:r>
            <a:r>
              <a:rPr lang="zh-TW" altLang="en-US" dirty="0"/>
              <a:t>代表編進 </a:t>
            </a:r>
            <a:r>
              <a:rPr lang="en-US" altLang="zh-TW" dirty="0"/>
              <a:t>kernel</a:t>
            </a:r>
            <a:r>
              <a:rPr lang="zh-TW" altLang="en-US" dirty="0"/>
              <a:t>、</a:t>
            </a:r>
            <a:r>
              <a:rPr lang="en-US" altLang="zh-TW" dirty="0"/>
              <a:t>m </a:t>
            </a:r>
            <a:r>
              <a:rPr lang="zh-TW" altLang="en-US" dirty="0"/>
              <a:t>代表編譯成 </a:t>
            </a:r>
            <a:r>
              <a:rPr lang="en-US" altLang="zh-TW" dirty="0"/>
              <a:t>module</a:t>
            </a:r>
            <a:r>
              <a:rPr lang="zh-TW" altLang="en-US" dirty="0"/>
              <a:t>、</a:t>
            </a:r>
            <a:r>
              <a:rPr lang="en-US" altLang="zh-TW" dirty="0"/>
              <a:t>n </a:t>
            </a:r>
            <a:r>
              <a:rPr lang="zh-TW" altLang="en-US" dirty="0"/>
              <a:t>代表不編譯。大寫的選項是預設值，所以這裡直接按 </a:t>
            </a:r>
            <a:r>
              <a:rPr lang="en-US" altLang="zh-TW" dirty="0"/>
              <a:t>Enter </a:t>
            </a:r>
            <a:r>
              <a:rPr lang="zh-TW" altLang="en-US" dirty="0"/>
              <a:t>就會使用 </a:t>
            </a:r>
            <a:r>
              <a:rPr lang="en-US" altLang="zh-TW" dirty="0"/>
              <a:t>N</a:t>
            </a:r>
            <a:r>
              <a:rPr lang="zh-TW" altLang="en-US" dirty="0"/>
              <a:t>。」</a:t>
            </a:r>
            <a:endParaRPr dirty="0"/>
          </a:p>
        </p:txBody>
      </p:sp>
      <p:sp>
        <p:nvSpPr>
          <p:cNvPr id="289" name="Google Shape;289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3. </a:t>
            </a:r>
            <a:r>
              <a:rPr lang="en-US" dirty="0" err="1"/>
              <a:t>開始編譯</a:t>
            </a:r>
            <a:r>
              <a:rPr lang="en-US" dirty="0"/>
              <a:t> kernel </a:t>
            </a:r>
            <a:r>
              <a:rPr lang="en-US" dirty="0" err="1"/>
              <a:t>本體</a:t>
            </a:r>
            <a:r>
              <a:rPr lang="en-US" dirty="0"/>
              <a:t>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Nproc</a:t>
            </a:r>
            <a:r>
              <a:rPr lang="en-US" dirty="0"/>
              <a:t> : </a:t>
            </a:r>
            <a:r>
              <a:rPr lang="en-US" dirty="0" err="1"/>
              <a:t>cpu</a:t>
            </a:r>
            <a:r>
              <a:rPr lang="en-US" dirty="0"/>
              <a:t> core </a:t>
            </a:r>
            <a:r>
              <a:rPr lang="zh-TW" altLang="en-US" dirty="0"/>
              <a:t>數量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-j  = jobs,</a:t>
            </a:r>
            <a:r>
              <a:rPr lang="zh-TW" altLang="en-US" dirty="0"/>
              <a:t>代表同時編譯的工作數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dirty="0"/>
              <a:t>出現錯誤，如 </a:t>
            </a:r>
            <a:r>
              <a:rPr lang="en-US" altLang="zh-TW" dirty="0"/>
              <a:t>make[1]: *** [/home/link/</a:t>
            </a:r>
            <a:r>
              <a:rPr lang="en-US" altLang="zh-TW" dirty="0" err="1"/>
              <a:t>linux</a:t>
            </a:r>
            <a:r>
              <a:rPr lang="en-US" altLang="zh-TW" dirty="0"/>
              <a:t>/Makefile:2159</a:t>
            </a:r>
            <a:r>
              <a:rPr lang="zh-TW" altLang="en-US" dirty="0"/>
              <a:t>：</a:t>
            </a:r>
            <a:r>
              <a:rPr lang="en-US" altLang="zh-TW" dirty="0"/>
              <a:t>.] </a:t>
            </a:r>
            <a:r>
              <a:rPr lang="zh-TW" altLang="en-US" dirty="0"/>
              <a:t>錯誤 </a:t>
            </a:r>
            <a:r>
              <a:rPr lang="en-US" altLang="zh-TW" dirty="0"/>
              <a:t>2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dirty="0"/>
              <a:t>可使用 </a:t>
            </a:r>
            <a:r>
              <a:rPr lang="en-US" altLang="zh-TW" dirty="0"/>
              <a:t>cd /home/link/</a:t>
            </a:r>
            <a:r>
              <a:rPr lang="en-US" altLang="zh-TW" dirty="0" err="1"/>
              <a:t>linux</a:t>
            </a:r>
            <a:r>
              <a:rPr lang="en-US" altLang="zh-TW" dirty="0"/>
              <a:t> </a:t>
            </a:r>
            <a:r>
              <a:rPr lang="zh-TW" altLang="en-US" dirty="0"/>
              <a:t>後 執行 </a:t>
            </a:r>
            <a:r>
              <a:rPr lang="en-US" altLang="zh-TW" dirty="0"/>
              <a:t>make -j1 </a:t>
            </a:r>
            <a:r>
              <a:rPr lang="zh-TW" altLang="en-US" dirty="0"/>
              <a:t>用一個 </a:t>
            </a:r>
            <a:r>
              <a:rPr lang="en-US" altLang="zh-TW" dirty="0"/>
              <a:t>core</a:t>
            </a:r>
            <a:r>
              <a:rPr lang="zh-TW" altLang="en-US" dirty="0"/>
              <a:t> 編譯看錯誤資訊</a:t>
            </a:r>
            <a:endParaRPr lang="en-US" dirty="0"/>
          </a:p>
        </p:txBody>
      </p:sp>
      <p:sp>
        <p:nvSpPr>
          <p:cNvPr id="301" name="Google Shape;30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3. </a:t>
            </a:r>
            <a:r>
              <a:rPr lang="en-US" dirty="0" err="1"/>
              <a:t>開始編譯</a:t>
            </a:r>
            <a:r>
              <a:rPr lang="en-US" dirty="0"/>
              <a:t> kernel </a:t>
            </a:r>
            <a:r>
              <a:rPr lang="en-US" dirty="0" err="1"/>
              <a:t>本體</a:t>
            </a:r>
            <a:r>
              <a:rPr lang="en-US" dirty="0"/>
              <a:t>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Nproc : </a:t>
            </a:r>
            <a:r>
              <a:rPr lang="en-US" dirty="0" err="1"/>
              <a:t>cpu</a:t>
            </a:r>
            <a:r>
              <a:rPr lang="en-US" dirty="0"/>
              <a:t> core </a:t>
            </a:r>
            <a:r>
              <a:rPr lang="zh-TW" altLang="en-US" dirty="0"/>
              <a:t>數量</a:t>
            </a:r>
            <a:endParaRPr lang="en-US" altLang="zh-TW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-j  = jobs,</a:t>
            </a:r>
            <a:r>
              <a:rPr lang="zh-TW" altLang="en-US" dirty="0"/>
              <a:t>代表同時編譯的工作數</a:t>
            </a:r>
            <a:endParaRPr lang="en-US" dirty="0"/>
          </a:p>
        </p:txBody>
      </p:sp>
      <p:sp>
        <p:nvSpPr>
          <p:cNvPr id="301" name="Google Shape;30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167916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455e9bbeb7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3455e9bbeb7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開始編譯 kernel 本體。</a:t>
            </a:r>
            <a:endParaRPr/>
          </a:p>
        </p:txBody>
      </p:sp>
      <p:sp>
        <p:nvSpPr>
          <p:cNvPr id="312" name="Google Shape;312;g3455e9bbeb7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55e9bbeb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g3455e9bbeb7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開始編譯 kernel 本體。</a:t>
            </a:r>
            <a:endParaRPr/>
          </a:p>
        </p:txBody>
      </p:sp>
      <p:sp>
        <p:nvSpPr>
          <p:cNvPr id="324" name="Google Shape;324;g3455e9bbeb7_0_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455e9bbeb7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5" name="Google Shape;335;g3455e9bbeb7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開始編譯 kernel 本體。</a:t>
            </a:r>
            <a:endParaRPr/>
          </a:p>
        </p:txBody>
      </p:sp>
      <p:sp>
        <p:nvSpPr>
          <p:cNvPr id="336" name="Google Shape;336;g3455e9bbeb7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455e9bbeb7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3455e9bbeb7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開始編譯 kernel 本體。</a:t>
            </a:r>
            <a:endParaRPr/>
          </a:p>
        </p:txBody>
      </p:sp>
      <p:sp>
        <p:nvSpPr>
          <p:cNvPr id="348" name="Google Shape;348;g3455e9bbeb7_0_5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455e9bbeb7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9" name="Google Shape;359;g3455e9bbeb7_0_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開始編譯 kernel 本體。</a:t>
            </a:r>
            <a:endParaRPr/>
          </a:p>
        </p:txBody>
      </p:sp>
      <p:sp>
        <p:nvSpPr>
          <p:cNvPr id="360" name="Google Shape;360;g3455e9bbeb7_0_6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455e9bbeb7_0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1" name="Google Shape;371;g3455e9bbeb7_0_8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開始編譯 kernel 本體。</a:t>
            </a:r>
            <a:endParaRPr/>
          </a:p>
        </p:txBody>
      </p:sp>
      <p:sp>
        <p:nvSpPr>
          <p:cNvPr id="372" name="Google Shape;372;g3455e9bbeb7_0_8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7b3dab680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3" name="Google Shape;383;g37b3dab680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3. 開始編譯 kernel 本體。</a:t>
            </a:r>
            <a:endParaRPr/>
          </a:p>
        </p:txBody>
      </p:sp>
      <p:sp>
        <p:nvSpPr>
          <p:cNvPr id="384" name="Google Shape;384;g37b3dab680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5" name="Google Shape;395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4. </a:t>
            </a:r>
            <a:r>
              <a:rPr lang="en-US" dirty="0" err="1"/>
              <a:t>安裝</a:t>
            </a:r>
            <a:r>
              <a:rPr lang="en-US" dirty="0"/>
              <a:t> kernel </a:t>
            </a:r>
            <a:r>
              <a:rPr lang="en-US" dirty="0" err="1"/>
              <a:t>模組</a:t>
            </a:r>
            <a:r>
              <a:rPr lang="en-US" dirty="0"/>
              <a:t>（.ko </a:t>
            </a:r>
            <a:r>
              <a:rPr lang="en-US" dirty="0" err="1"/>
              <a:t>檔）到</a:t>
            </a:r>
            <a:r>
              <a:rPr lang="en-US" dirty="0"/>
              <a:t> /lib/modules/&lt;</a:t>
            </a:r>
            <a:r>
              <a:rPr lang="en-US" dirty="0" err="1"/>
              <a:t>kernel版本</a:t>
            </a:r>
            <a:r>
              <a:rPr lang="en-US" dirty="0"/>
              <a:t>&gt;/</a:t>
            </a:r>
            <a:endParaRPr dirty="0"/>
          </a:p>
        </p:txBody>
      </p:sp>
      <p:sp>
        <p:nvSpPr>
          <p:cNvPr id="396" name="Google Shape;396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5. </a:t>
            </a:r>
            <a:r>
              <a:rPr lang="en-US" dirty="0" err="1"/>
              <a:t>安裝</a:t>
            </a:r>
            <a:r>
              <a:rPr lang="en-US" dirty="0"/>
              <a:t> kernel 到 /</a:t>
            </a:r>
            <a:r>
              <a:rPr lang="en-US" dirty="0" err="1"/>
              <a:t>boot，並更新開機管理程式（像</a:t>
            </a:r>
            <a:r>
              <a:rPr lang="en-US" dirty="0"/>
              <a:t> </a:t>
            </a:r>
            <a:r>
              <a:rPr lang="en-US" dirty="0" err="1"/>
              <a:t>GRUB）的設定</a:t>
            </a:r>
            <a:r>
              <a:rPr lang="en-US" dirty="0"/>
              <a:t>。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08" name="Google Shape;408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" name="Google Shape;4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9" name="Google Shape;429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altLang="zh-TW" b="1" dirty="0"/>
              <a:t>GRUB</a:t>
            </a:r>
            <a:r>
              <a:rPr lang="zh-TW" altLang="en-US" dirty="0"/>
              <a:t> </a:t>
            </a:r>
            <a:r>
              <a:rPr lang="en-US" altLang="zh-TW" dirty="0"/>
              <a:t>= </a:t>
            </a:r>
            <a:r>
              <a:rPr lang="en-US" altLang="zh-TW" b="1" dirty="0" err="1"/>
              <a:t>GRand</a:t>
            </a:r>
            <a:r>
              <a:rPr lang="en-US" altLang="zh-TW" b="1" dirty="0"/>
              <a:t> Unified Bootloader</a:t>
            </a:r>
            <a:endParaRPr lang="zh-TW" altLang="en-US" dirty="0"/>
          </a:p>
          <a:p>
            <a:r>
              <a:rPr lang="zh-TW" altLang="en-US" dirty="0"/>
              <a:t>它是一個 </a:t>
            </a:r>
            <a:r>
              <a:rPr lang="zh-TW" altLang="en-US" b="1" dirty="0"/>
              <a:t>開機載入程式（</a:t>
            </a:r>
            <a:r>
              <a:rPr lang="en-US" altLang="zh-TW" b="1" dirty="0"/>
              <a:t>bootloader</a:t>
            </a:r>
            <a:r>
              <a:rPr lang="zh-TW" altLang="en-US" b="1" dirty="0"/>
              <a:t>）</a:t>
            </a:r>
            <a:r>
              <a:rPr lang="zh-TW" altLang="en-US" dirty="0"/>
              <a:t>，負責在電腦開機時把作業系統載入記憶體並啟動。</a:t>
            </a:r>
          </a:p>
          <a:p>
            <a:r>
              <a:rPr lang="zh-TW" altLang="en-US" dirty="0"/>
              <a:t>在 </a:t>
            </a:r>
            <a:r>
              <a:rPr lang="en-US" altLang="zh-TW" dirty="0"/>
              <a:t>Linux </a:t>
            </a:r>
            <a:r>
              <a:rPr lang="zh-TW" altLang="en-US" dirty="0"/>
              <a:t>系統裡，</a:t>
            </a:r>
            <a:r>
              <a:rPr lang="en-US" altLang="zh-TW" dirty="0"/>
              <a:t>GRUB </a:t>
            </a:r>
            <a:r>
              <a:rPr lang="zh-TW" altLang="en-US" dirty="0"/>
              <a:t>幾乎是最常見的開機管理工具。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30" name="Google Shape;430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0" name="Google Shape;440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1" name="Google Shape;441;p2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2" name="Google Shape;452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53" name="Google Shape;453;p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64" name="Google Shape;46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 err="1"/>
              <a:t>Syscall</a:t>
            </a:r>
            <a:r>
              <a:rPr lang="en-US" altLang="zh-TW" dirty="0"/>
              <a:t>()</a:t>
            </a:r>
            <a:r>
              <a:rPr lang="zh-TW" altLang="en-US" dirty="0"/>
              <a:t> 成功回傳 </a:t>
            </a:r>
            <a:r>
              <a:rPr lang="en-US" altLang="zh-TW" dirty="0"/>
              <a:t>0 </a:t>
            </a:r>
            <a:r>
              <a:rPr lang="zh-TW" altLang="en-US" dirty="0"/>
              <a:t>或正數 失敗回傳 </a:t>
            </a:r>
            <a:r>
              <a:rPr lang="en-US" altLang="zh-TW" dirty="0"/>
              <a:t>-1</a:t>
            </a:r>
            <a:endParaRPr lang="zh-TW" alt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75" name="Google Shape;47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486" name="Google Shape;4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8" name="Google Shape;49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8" name="Google Shape;5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398687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8" name="Google Shape;5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642349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TW" altLang="en-US" dirty="0"/>
              <a:t>重新編譯、重新</a:t>
            </a:r>
            <a:r>
              <a:rPr lang="en-US" altLang="zh-TW" dirty="0"/>
              <a:t>install</a:t>
            </a:r>
            <a:r>
              <a:rPr lang="zh-TW" altLang="en-US" dirty="0"/>
              <a:t>、重開機後加入的 </a:t>
            </a:r>
            <a:r>
              <a:rPr lang="en-US" altLang="zh-TW" dirty="0" err="1"/>
              <a:t>syscall</a:t>
            </a:r>
            <a:r>
              <a:rPr lang="en-US" altLang="zh-TW" dirty="0"/>
              <a:t> </a:t>
            </a:r>
            <a:r>
              <a:rPr lang="zh-TW" altLang="en-US" dirty="0"/>
              <a:t>才會生效</a:t>
            </a:r>
            <a:endParaRPr dirty="0"/>
          </a:p>
        </p:txBody>
      </p:sp>
      <p:sp>
        <p:nvSpPr>
          <p:cNvPr id="508" name="Google Shape;5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745992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9" name="Google Shape;519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29" name="Google Shape;52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3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3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3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</p:sldLayoutIdLst>
  <p:transition>
    <p:fade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31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aryan20/create-custom-system-call-on-linux-6-8-126edef6caaf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title" idx="4294967295"/>
          </p:nvPr>
        </p:nvSpPr>
        <p:spPr>
          <a:xfrm>
            <a:off x="1618389" y="1392495"/>
            <a:ext cx="7101901" cy="23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nsolas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Lab 2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onsolas"/>
              <a:buNone/>
            </a:pPr>
            <a:r>
              <a:rPr lang="en-US" sz="4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Adding a </a:t>
            </a:r>
            <a:r>
              <a:rPr lang="en-US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</a:t>
            </a:r>
            <a:r>
              <a:rPr lang="en-US" sz="4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ew System Call </a:t>
            </a:r>
            <a:endParaRPr sz="4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0"/>
              <a:buFont typeface="Arial"/>
              <a:buNone/>
            </a:pPr>
            <a:r>
              <a:rPr lang="en-US" sz="14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469224" y="4390799"/>
            <a:ext cx="4684500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TA: </a:t>
            </a:r>
            <a:r>
              <a:rPr lang="en-US" altLang="zh-TW" sz="2800" b="1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Ruei</a:t>
            </a:r>
            <a:r>
              <a:rPr lang="en-US" sz="28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-Lin Gao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Prof.: </a:t>
            </a:r>
            <a:r>
              <a:rPr lang="en-US" sz="28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Hsung</a:t>
            </a:r>
            <a:r>
              <a:rPr lang="en-US" sz="28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-Pin Chang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zh-TW" alt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貼心</a:t>
            </a:r>
            <a:r>
              <a:rPr lang="zh-TW" alt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提醒</a:t>
            </a:r>
            <a:endParaRPr dirty="0"/>
          </a:p>
        </p:txBody>
      </p:sp>
      <p:sp>
        <p:nvSpPr>
          <p:cNvPr id="103" name="Google Shape;103;p2"/>
          <p:cNvSpPr txBox="1"/>
          <p:nvPr/>
        </p:nvSpPr>
        <p:spPr>
          <a:xfrm>
            <a:off x="1025128" y="1359868"/>
            <a:ext cx="10141744" cy="17727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r>
              <a:rPr lang="zh-TW" altLang="en-US" sz="2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本次</a:t>
            </a:r>
            <a:r>
              <a:rPr lang="en-US" altLang="zh-TW" sz="2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lab</a:t>
            </a:r>
            <a:r>
              <a:rPr lang="zh-TW" altLang="en-US" sz="2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可能會讓同學身心俱疲</a:t>
            </a:r>
            <a:r>
              <a:rPr lang="el-GR" altLang="zh-TW" sz="2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(´;ω;`)</a:t>
            </a:r>
            <a:endParaRPr lang="en-US" altLang="zh-TW" sz="2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r>
              <a:rPr lang="zh-TW" altLang="en-US" sz="2800" b="0" i="0" u="none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實作內容些許複雜，請各位同學</a:t>
            </a:r>
            <a:r>
              <a:rPr lang="zh-TW" altLang="en-US" sz="2800" b="0" i="0" u="sng" strike="noStrike" cap="none" dirty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耐心跟著步驟</a:t>
            </a:r>
            <a:endParaRPr lang="en-US" altLang="zh-TW" sz="2800" b="0" i="0" u="sng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r>
              <a:rPr lang="zh-TW" altLang="en-US" sz="2800" dirty="0">
                <a:solidFill>
                  <a:schemeClr val="bg1"/>
                </a:solidFill>
              </a:rPr>
              <a:t>過程中如果累了建議去外面呼吸新鮮空氣再回來</a:t>
            </a:r>
            <a:r>
              <a:rPr lang="en-US" altLang="zh-TW" sz="2800" dirty="0">
                <a:solidFill>
                  <a:schemeClr val="bg1"/>
                </a:solidFill>
              </a:rPr>
              <a:t>…</a:t>
            </a:r>
            <a:endParaRPr sz="2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54185BF-0A51-48CC-8E3A-CD71EC1DE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059" y="4106347"/>
            <a:ext cx="2324100" cy="196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3682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Get Linux Kernel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New Syscall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Testing the new syscall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Reference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" name="Google Shape;111;p3"/>
          <p:cNvSpPr txBox="1"/>
          <p:nvPr/>
        </p:nvSpPr>
        <p:spPr>
          <a:xfrm>
            <a:off x="1025127" y="1359868"/>
            <a:ext cx="10141800" cy="3453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191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What is System call?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001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system call (syscall)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is the mechanism by which a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user-space program requests a service from the operating system’s kernel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191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ex: Process management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: fork(), exec(), exit(), wait()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00100" marR="0" lvl="0" indent="-3429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File operations</a:t>
            </a:r>
            <a:r>
              <a:rPr lang="en-US" sz="24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: open(), read(), write(), close()</a:t>
            </a:r>
            <a:endParaRPr sz="24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p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Introduction (1/2) 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nsolas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4" name="Google Shape;114;p3" descr="Linux Logo and symbol, meaning, history, PNG, bran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8268" y="4187711"/>
            <a:ext cx="1928603" cy="21302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025127" y="1359868"/>
            <a:ext cx="1014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B0F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" name="Google Shape;123;p4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Introduction (2/2) 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50084" y="1590718"/>
            <a:ext cx="6150210" cy="4644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" name="Google Shape;134;p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135" name="Google Shape;135;p5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Get Linux Kernel</a:t>
            </a:r>
            <a:endParaRPr sz="2400" b="1" i="0" u="none" strike="noStrike" cap="none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New Syscall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Testing the new syscall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Reference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7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" name="Google Shape;142;p6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" name="Google Shape;143;p6"/>
          <p:cNvSpPr txBox="1"/>
          <p:nvPr/>
        </p:nvSpPr>
        <p:spPr>
          <a:xfrm>
            <a:off x="1025127" y="1359868"/>
            <a:ext cx="10141744" cy="53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在 Ubuntu/Debian 系統上安裝編譯 Linux kernel &amp; 開發程式常用的工具</a:t>
            </a:r>
            <a:endParaRPr sz="2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Linux Kernel(1/3)</a:t>
            </a:r>
            <a:endParaRPr dirty="0"/>
          </a:p>
        </p:txBody>
      </p:sp>
      <p:sp>
        <p:nvSpPr>
          <p:cNvPr id="145" name="Google Shape;145;p6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6" name="Google Shape;14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1302" y="3221915"/>
            <a:ext cx="5491785" cy="3328308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 txBox="1"/>
          <p:nvPr/>
        </p:nvSpPr>
        <p:spPr>
          <a:xfrm>
            <a:off x="1510256" y="1933751"/>
            <a:ext cx="1014174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r>
              <a:rPr lang="zh-TW" altLang="en-US" sz="2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首先在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terminal</a:t>
            </a:r>
            <a:r>
              <a:rPr lang="zh-TW" altLang="en-US" sz="2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輸入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”sudo apt update”</a:t>
            </a:r>
          </a:p>
          <a:p>
            <a:pPr marL="342900" indent="-342900"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r>
              <a:rPr lang="zh-TW" altLang="en-US" sz="24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接著輸入</a:t>
            </a:r>
            <a:r>
              <a:rPr lang="zh-TW" altLang="en-US" sz="2400" b="1" i="0" u="none" strike="noStrike" cap="none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sudo apt-get install build-essential vim git </a:t>
            </a:r>
            <a:r>
              <a:rPr lang="en-US" altLang="zh-TW" sz="2400" b="1" i="0" u="none" strike="noStrike" cap="none" dirty="0" err="1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cscope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altLang="zh-TW" sz="2400" b="1" i="0" u="none" strike="noStrike" cap="none" dirty="0" err="1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libncurses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-dev </a:t>
            </a:r>
            <a:r>
              <a:rPr lang="en-US" altLang="zh-TW" sz="2400" b="1" i="0" u="none" strike="noStrike" cap="none" dirty="0" err="1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libssl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rbel"/>
                <a:ea typeface="Corbel"/>
                <a:cs typeface="Corbel"/>
                <a:sym typeface="Corbel"/>
              </a:rPr>
              <a:t>-dev bison flex”</a:t>
            </a:r>
            <a:endParaRPr lang="en-US" altLang="zh-TW" sz="14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endParaRPr lang="en-US" sz="2400" b="1" i="0" u="none" strike="noStrike" cap="none" dirty="0">
              <a:solidFill>
                <a:schemeClr val="accent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" name="Google Shape;154;p7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5" name="Google Shape;155;p7"/>
          <p:cNvSpPr txBox="1"/>
          <p:nvPr/>
        </p:nvSpPr>
        <p:spPr>
          <a:xfrm>
            <a:off x="994647" y="1359868"/>
            <a:ext cx="10141744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1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下載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Linux kernel(v7.1.3)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原始碼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6" name="Google Shape;156;p7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Linux Kernel(2/3)</a:t>
            </a:r>
            <a:endParaRPr dirty="0"/>
          </a:p>
        </p:txBody>
      </p:sp>
      <p:sp>
        <p:nvSpPr>
          <p:cNvPr id="157" name="Google Shape;157;p7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" name="Google Shape;159;p7"/>
          <p:cNvSpPr txBox="1"/>
          <p:nvPr/>
        </p:nvSpPr>
        <p:spPr>
          <a:xfrm>
            <a:off x="2022710" y="2045375"/>
            <a:ext cx="9908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zh-TW" altLang="en-US" sz="24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輸入”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git clone --depth=1 -b v7.1.3 https://git.kernel.org/pub/</a:t>
            </a:r>
            <a:r>
              <a:rPr lang="en-US" altLang="zh-TW" sz="24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scm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/</a:t>
            </a:r>
            <a:r>
              <a:rPr lang="en-US" altLang="zh-TW" sz="24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linux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/kernel/git/stable/</a:t>
            </a:r>
            <a:r>
              <a:rPr lang="en-US" altLang="zh-TW" sz="24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linux.git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lang="en-US" altLang="zh-TW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59CE6A6-C48C-4C3B-B40D-9A997F516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4789" y="2999858"/>
            <a:ext cx="7105427" cy="3477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91764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455e9bbeb7_0_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455e9bbeb7_0_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6" name="Google Shape;166;g3455e9bbeb7_0_8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7" name="Google Shape;167;g3455e9bbeb7_0_8"/>
          <p:cNvSpPr txBox="1"/>
          <p:nvPr/>
        </p:nvSpPr>
        <p:spPr>
          <a:xfrm>
            <a:off x="1025127" y="1359868"/>
            <a:ext cx="10141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1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請記住自己下載後linux資料夾路徑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8" name="Google Shape;168;g3455e9bbeb7_0_8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Linux Kernel(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169" name="Google Shape;169;g3455e9bbeb7_0_8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" name="Google Shape;170;g3455e9bbeb7_0_8"/>
          <p:cNvSpPr txBox="1"/>
          <p:nvPr/>
        </p:nvSpPr>
        <p:spPr>
          <a:xfrm>
            <a:off x="2022710" y="2045375"/>
            <a:ext cx="9908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 err="1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後續動作都要在linux資料夾下執行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g3455e9bbeb7_0_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08499" y="2565668"/>
            <a:ext cx="7401261" cy="3867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" name="Google Shape;179;p8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0" name="Google Shape;180;p8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181" name="Google Shape;181;p8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Get Linux Kernel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Create a New Syscall</a:t>
            </a:r>
            <a:endParaRPr sz="2400" b="1" i="0" u="none" strike="noStrike" cap="none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Testing the new syscall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Reference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1025127" y="1359868"/>
            <a:ext cx="10141744" cy="3436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 : 自動化編譯工具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Makefile :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編譯流程的腳本 ，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</a:t>
            </a: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根據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裡寫的規則，決定要執行哪些指令（通常是編譯指令）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格式 : 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target: dependencies           ex: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&lt;TAB&gt;command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US" sz="4000" b="1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(1/8)</a:t>
            </a:r>
            <a:endParaRPr dirty="0"/>
          </a:p>
        </p:txBody>
      </p:sp>
      <p:sp>
        <p:nvSpPr>
          <p:cNvPr id="192" name="Google Shape;192;p9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92218" y="3700113"/>
            <a:ext cx="3390204" cy="264409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9"/>
          <p:cNvSpPr/>
          <p:nvPr/>
        </p:nvSpPr>
        <p:spPr>
          <a:xfrm>
            <a:off x="1444083" y="4140679"/>
            <a:ext cx="1143842" cy="809786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 rot="5400000">
            <a:off x="1852538" y="5030395"/>
            <a:ext cx="1267152" cy="1079998"/>
          </a:xfrm>
          <a:prstGeom prst="bentUpArrow">
            <a:avLst>
              <a:gd name="adj1" fmla="val 14914"/>
              <a:gd name="adj2" fmla="val 20739"/>
              <a:gd name="adj3" fmla="val 31392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 txBox="1"/>
          <p:nvPr/>
        </p:nvSpPr>
        <p:spPr>
          <a:xfrm>
            <a:off x="3072121" y="5788045"/>
            <a:ext cx="215660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一定要是</a:t>
            </a:r>
            <a:r>
              <a:rPr lang="en-US" sz="1800" b="0" i="0" u="none" strike="noStrike" cap="none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TAB</a:t>
            </a:r>
            <a:endParaRPr sz="1800" b="0" i="0" u="none" strike="noStrike" cap="none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1025127" y="1359868"/>
            <a:ext cx="10141800" cy="411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輸入以下指令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mrproper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mkdir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hello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hello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hello.c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" name="Google Shape;205;p10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US" sz="4000" b="1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(2/8)</a:t>
            </a:r>
            <a:endParaRPr dirty="0"/>
          </a:p>
        </p:txBody>
      </p:sp>
      <p:sp>
        <p:nvSpPr>
          <p:cNvPr id="206" name="Google Shape;206;p1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5796951" y="2287939"/>
            <a:ext cx="5961847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cd</a:t>
            </a:r>
            <a:r>
              <a:rPr lang="en-US" sz="18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: 切換目錄</a:t>
            </a:r>
            <a:endParaRPr sz="1800" b="1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make mrproper </a:t>
            </a:r>
            <a:r>
              <a:rPr lang="en-US" sz="18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: 用於清理，刪掉所有編譯出來的檔案</a:t>
            </a:r>
            <a:endParaRPr sz="1800" b="1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mkdir</a:t>
            </a:r>
            <a:r>
              <a:rPr lang="en-US" sz="18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: 創建目錄</a:t>
            </a:r>
            <a:endParaRPr sz="1800" b="1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touch</a:t>
            </a:r>
            <a:r>
              <a:rPr lang="en-US" sz="1800" b="1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: 創建檔案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4" name="Google Shape;214;p1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1025127" y="1359868"/>
            <a:ext cx="10141744" cy="113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輸入 open hello.c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hello.c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16" name="Google Shape;216;p11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US" sz="4000" b="1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(3/8)</a:t>
            </a:r>
            <a:endParaRPr dirty="0"/>
          </a:p>
        </p:txBody>
      </p:sp>
      <p:sp>
        <p:nvSpPr>
          <p:cNvPr id="217" name="Google Shape;217;p11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1636" y="2653747"/>
            <a:ext cx="5151223" cy="275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1025127" y="1359868"/>
            <a:ext cx="10141744" cy="2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打開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Makefile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輸入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obj-y +=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hello.o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在 Terminal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輸入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..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cd include/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US" sz="4000" b="1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(4/8)</a:t>
            </a:r>
            <a:endParaRPr dirty="0"/>
          </a:p>
        </p:txBody>
      </p:sp>
      <p:sp>
        <p:nvSpPr>
          <p:cNvPr id="228" name="Google Shape;228;p1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5" name="Google Shape;235;p13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36" name="Google Shape;236;p13"/>
          <p:cNvSpPr txBox="1"/>
          <p:nvPr/>
        </p:nvSpPr>
        <p:spPr>
          <a:xfrm>
            <a:off x="1025127" y="1359868"/>
            <a:ext cx="10141744" cy="113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開啟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syscalls.h</a:t>
            </a:r>
            <a:endParaRPr sz="2400" b="1" i="0" u="none" strike="noStrike" cap="none" dirty="0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把 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asmlinkage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 long 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sys_hello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(void); 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加到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syscalls.h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中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US" sz="4000" b="1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(5/8)</a:t>
            </a:r>
            <a:endParaRPr dirty="0"/>
          </a:p>
        </p:txBody>
      </p:sp>
      <p:sp>
        <p:nvSpPr>
          <p:cNvPr id="238" name="Google Shape;238;p13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39" name="Google Shape;239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11960" y="2499860"/>
            <a:ext cx="5696947" cy="3844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4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16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14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8" name="Google Shape;248;p14"/>
          <p:cNvSpPr txBox="1"/>
          <p:nvPr/>
        </p:nvSpPr>
        <p:spPr>
          <a:xfrm>
            <a:off x="1025127" y="1359868"/>
            <a:ext cx="10141744" cy="113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cd ~/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endParaRPr sz="2400" b="1" i="0" u="none" strike="noStrike" cap="none" dirty="0">
              <a:solidFill>
                <a:srgbClr val="F2F2F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2F2F2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開啟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Kbuild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加入</a:t>
            </a:r>
            <a:r>
              <a:rPr lang="en-US" sz="2400" b="1" i="0" u="none" strike="noStrike" cap="none" dirty="0">
                <a:solidFill>
                  <a:srgbClr val="F2F2F2"/>
                </a:solidFill>
                <a:latin typeface="Consolas"/>
                <a:ea typeface="Consolas"/>
                <a:cs typeface="Consolas"/>
                <a:sym typeface="Consolas"/>
              </a:rPr>
              <a:t> obj-y += hello/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4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</a:t>
            </a:r>
            <a:r>
              <a:rPr lang="en-US" sz="4000" b="1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(6/8)</a:t>
            </a:r>
            <a:endParaRPr dirty="0"/>
          </a:p>
        </p:txBody>
      </p:sp>
      <p:sp>
        <p:nvSpPr>
          <p:cNvPr id="250" name="Google Shape;250;p14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51" name="Google Shape;25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3518" y="2807637"/>
            <a:ext cx="6541990" cy="265490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4"/>
          <p:cNvSpPr txBox="1"/>
          <p:nvPr/>
        </p:nvSpPr>
        <p:spPr>
          <a:xfrm>
            <a:off x="1498954" y="5363780"/>
            <a:ext cx="9667917" cy="101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This tells the kernel build system to also compile our newly included folder.</a:t>
            </a:r>
            <a:endParaRPr sz="2400" b="1" i="0" u="none" strike="noStrike" cap="none" dirty="0">
              <a:solidFill>
                <a:srgbClr val="BFBF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17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1025126" y="1359868"/>
            <a:ext cx="10427734" cy="361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entry  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800100" marR="0" lvl="1" indent="-3429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bg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dd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entry to the architecture-specific table.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lvl="1">
              <a:lnSpc>
                <a:spcPct val="130000"/>
              </a:lnSpc>
              <a:spcBef>
                <a:spcPts val="1000"/>
              </a:spcBef>
              <a:buSzPts val="2400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Each CPU architecture could have specific </a:t>
            </a:r>
            <a:r>
              <a:rPr lang="en-US" sz="2400" b="1" i="0" u="none" strike="noStrike" cap="none" dirty="0" err="1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syscalls</a:t>
            </a: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and 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we need to let them know for which architecture ours is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made.</a:t>
            </a:r>
          </a:p>
          <a:p>
            <a:pPr lvl="1">
              <a:lnSpc>
                <a:spcPct val="130000"/>
              </a:lnSpc>
              <a:spcBef>
                <a:spcPts val="1000"/>
              </a:spcBef>
              <a:buSzPts val="2400"/>
            </a:pPr>
            <a:r>
              <a:rPr lang="en-US" sz="2400" b="1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使 user space call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時，可以被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kernel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接收到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62" name="Google Shape;262;p1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Syscall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(7/8)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18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2" name="Google Shape;272;p16"/>
          <p:cNvSpPr txBox="1"/>
          <p:nvPr/>
        </p:nvSpPr>
        <p:spPr>
          <a:xfrm>
            <a:off x="1025128" y="1359868"/>
            <a:ext cx="10141744" cy="2397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entry </a:t>
            </a:r>
            <a:r>
              <a:rPr lang="en-US" sz="2400" b="1" i="0" u="none" strike="noStrike" cap="none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(Cont.)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cd ~/</a:t>
            </a:r>
            <a:r>
              <a:rPr lang="en-US" altLang="zh-TW" sz="2400" b="1" i="0" u="none" strike="noStrike" cap="none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/arch/x86/entry/</a:t>
            </a:r>
            <a:r>
              <a:rPr lang="en-US" altLang="zh-TW" sz="2400" b="1" i="0" u="none" strike="noStrike" cap="none" dirty="0" err="1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syscalls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open 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syscall_64.tbl</a:t>
            </a:r>
            <a:endParaRPr lang="en-US" sz="2400" b="1" i="0" u="none" strike="noStrike" cap="none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加入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462 common hello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sys_hello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6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</a:t>
            </a:r>
            <a:r>
              <a:rPr lang="en-US" sz="4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New Syscall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(8/8)</a:t>
            </a:r>
            <a:endParaRPr/>
          </a:p>
        </p:txBody>
      </p:sp>
      <p:sp>
        <p:nvSpPr>
          <p:cNvPr id="274" name="Google Shape;274;p16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75" name="Google Shape;27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635" y="4472739"/>
            <a:ext cx="9057163" cy="1789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19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3" name="Google Shape;283;p17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4" name="Google Shape;284;p17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Get Linux Kernel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New Syscall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Testing the new syscall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Reference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" name="Google Shape;294;p18"/>
          <p:cNvSpPr txBox="1"/>
          <p:nvPr/>
        </p:nvSpPr>
        <p:spPr>
          <a:xfrm>
            <a:off x="814242" y="1052091"/>
            <a:ext cx="10141800" cy="3748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設定虛擬機核心數量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在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Windows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系統中開啟工作管理員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按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ctrl+alt+del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查看邏輯處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理數量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在虛擬機管理頁面選擇設定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(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以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Vmware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為例</a:t>
            </a: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  <a:p>
            <a:pPr lvl="1">
              <a:lnSpc>
                <a:spcPct val="150000"/>
              </a:lnSpc>
              <a:buClr>
                <a:srgbClr val="FFFFFF"/>
              </a:buClr>
              <a:buSzPts val="2400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  <a:r>
              <a:rPr lang="zh-TW" altLang="en-US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將虛擬機的核心數設置大一點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lvl="1">
              <a:lnSpc>
                <a:spcPct val="130000"/>
              </a:lnSpc>
              <a:buClr>
                <a:srgbClr val="FFFFFF"/>
              </a:buClr>
              <a:buSzPts val="2400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	</a:t>
            </a:r>
          </a:p>
          <a:p>
            <a:pPr marL="457200" lvl="1" indent="-457200">
              <a:lnSpc>
                <a:spcPct val="130000"/>
              </a:lnSpc>
              <a:buClr>
                <a:srgbClr val="FFFFFF"/>
              </a:buClr>
              <a:buSzPts val="2400"/>
              <a:buFont typeface="Arial"/>
              <a:buChar char="•"/>
            </a:pPr>
            <a:endParaRPr sz="2400" b="1" i="0" u="none" strike="noStrike" cap="none" dirty="0">
              <a:solidFill>
                <a:schemeClr val="bg1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295" name="Google Shape;295;p18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(1/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296" name="Google Shape;296;p18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0F2A9221-DCCF-4EA9-9B58-E6619DAAD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43" y="3816773"/>
            <a:ext cx="2085446" cy="2592814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E52E860-DCB9-47A4-801A-C86FAFB08448}"/>
              </a:ext>
            </a:extLst>
          </p:cNvPr>
          <p:cNvSpPr/>
          <p:nvPr/>
        </p:nvSpPr>
        <p:spPr>
          <a:xfrm>
            <a:off x="814242" y="5947601"/>
            <a:ext cx="1296221" cy="42223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160BED1-0E0A-4343-94B4-682CCF5419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1853" y="3810906"/>
            <a:ext cx="3266963" cy="263676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255D3B-F20B-40F5-9EAA-A33766882417}"/>
              </a:ext>
            </a:extLst>
          </p:cNvPr>
          <p:cNvSpPr/>
          <p:nvPr/>
        </p:nvSpPr>
        <p:spPr>
          <a:xfrm>
            <a:off x="2857560" y="6240728"/>
            <a:ext cx="1258645" cy="2582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AD3A5F5-01CF-4930-B19D-5A3D09BD5E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1" y="3814926"/>
            <a:ext cx="4303863" cy="2632742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09AB13AB-2E25-464D-9638-108B771ABC00}"/>
              </a:ext>
            </a:extLst>
          </p:cNvPr>
          <p:cNvSpPr/>
          <p:nvPr/>
        </p:nvSpPr>
        <p:spPr>
          <a:xfrm>
            <a:off x="6361958" y="5013064"/>
            <a:ext cx="3956840" cy="60242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6501366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21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3" name="Google Shape;293;p18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4" name="Google Shape;294;p18"/>
          <p:cNvSpPr txBox="1"/>
          <p:nvPr/>
        </p:nvSpPr>
        <p:spPr>
          <a:xfrm>
            <a:off x="854907" y="1359868"/>
            <a:ext cx="10141800" cy="3614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the new kernel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cd ~/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linux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並輸入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cp /boot/config-$(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uname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-r) .config</a:t>
            </a:r>
          </a:p>
          <a:p>
            <a:pPr marL="9144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make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olddefconfig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9144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en-US" altLang="zh-TW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make </a:t>
            </a:r>
            <a:r>
              <a:rPr lang="en-US" altLang="zh-TW" sz="2400" b="1" dirty="0" err="1">
                <a:solidFill>
                  <a:schemeClr val="bg1"/>
                </a:solidFill>
                <a:latin typeface="Consolas" panose="020B0609020204030204" pitchFamily="49" charset="0"/>
              </a:rPr>
              <a:t>localmodconfig</a:t>
            </a:r>
            <a:endParaRPr lang="en-US" altLang="zh-TW" sz="2400" b="1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9144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zh-TW" altLang="en-US" sz="24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sym typeface="Arial"/>
              </a:rPr>
              <a:t>按 </a:t>
            </a:r>
            <a:r>
              <a:rPr lang="en-US" altLang="zh-TW" sz="24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sym typeface="Arial"/>
              </a:rPr>
              <a:t>Enter </a:t>
            </a:r>
            <a:r>
              <a:rPr lang="zh-TW" altLang="en-US" sz="24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sym typeface="Arial"/>
              </a:rPr>
              <a:t>填上系統預設值即可</a:t>
            </a:r>
            <a:endParaRPr sz="2400" b="1" i="0" u="none" strike="noStrike" cap="none" dirty="0">
              <a:solidFill>
                <a:schemeClr val="bg1"/>
              </a:solidFill>
              <a:latin typeface="Consolas" panose="020B0609020204030204" pitchFamily="49" charset="0"/>
              <a:sym typeface="Arial"/>
            </a:endParaRPr>
          </a:p>
        </p:txBody>
      </p:sp>
      <p:sp>
        <p:nvSpPr>
          <p:cNvPr id="295" name="Google Shape;295;p18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(2/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296" name="Google Shape;296;p18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1D590080-C5C9-4E59-AF6D-43A960D7F85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4689835" cy="468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CA02360-4A59-4A3A-862B-09BC44EF8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6942" y="3276599"/>
            <a:ext cx="5188809" cy="1656973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1025127" y="1359868"/>
            <a:ext cx="10141744" cy="5652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the new kernel </a:t>
            </a:r>
            <a:r>
              <a:rPr lang="en-US" sz="2400" b="1" i="0" u="none" strike="noStrike" cap="none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(Cont.)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 -j $(nproc)      </a:t>
            </a: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(通常要跑10+分鐘，請耐心等待…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if 跑完後出現有關 gelf.h</a:t>
            </a:r>
            <a:r>
              <a:rPr lang="zh-TW" alt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 或 </a:t>
            </a:r>
            <a:r>
              <a:rPr lang="en-US" altLang="zh-TW" sz="2400" b="1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dwarf</a:t>
            </a:r>
            <a:r>
              <a:rPr lang="en-US" altLang="zh-TW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.h</a:t>
            </a: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 的報錯，執行</a:t>
            </a:r>
            <a:endParaRPr sz="2400" b="1" i="0" u="none" strike="noStrike" cap="none" dirty="0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104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sudo apt update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04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sudo apt install </a:t>
            </a:r>
            <a:r>
              <a:rPr lang="en-US" sz="2400" b="1" i="0" u="none" strike="noStrike" cap="none" dirty="0" err="1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libelf</a:t>
            </a: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-dev</a:t>
            </a:r>
            <a:r>
              <a:rPr lang="zh-TW" alt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altLang="zh-TW" sz="2400" b="1" i="0" u="none" strike="noStrike" cap="none" dirty="0" err="1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libdw</a:t>
            </a:r>
            <a:r>
              <a:rPr lang="en-US" altLang="zh-TW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-dev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04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再重新執行 make -j $(nproc) </a:t>
            </a:r>
            <a:endParaRPr lang="en-US" sz="2400" b="1" dirty="0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tabLst/>
              <a:defRPr/>
            </a:pP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如有其他報錯可利用 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Chatgpt </a:t>
            </a: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、 </a:t>
            </a:r>
            <a:r>
              <a:rPr kumimoji="0" lang="en-US" altLang="zh-TW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Gemini </a:t>
            </a: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查詢解決方法</a:t>
            </a:r>
          </a:p>
          <a:p>
            <a: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  <a:tabLst/>
              <a:defRPr/>
            </a:pPr>
            <a:r>
              <a:rPr kumimoji="0" lang="zh-TW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/>
                <a:ea typeface="Consolas"/>
                <a:cs typeface="Consolas"/>
                <a:sym typeface="Consolas"/>
              </a:rPr>
              <a:t>	亦可找助教討論</a:t>
            </a:r>
          </a:p>
          <a:p>
            <a:pPr marL="1104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 panose="020B0604020202020204" pitchFamily="34" charset="0"/>
              <a:buChar char="•"/>
            </a:pPr>
            <a:endParaRPr lang="en-US" dirty="0">
              <a:ea typeface="Consolas"/>
            </a:endParaRPr>
          </a:p>
        </p:txBody>
      </p:sp>
      <p:sp>
        <p:nvSpPr>
          <p:cNvPr id="307" name="Google Shape;307;p1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</a:t>
            </a:r>
            <a:r>
              <a:rPr lang="en-US" altLang="zh-TW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altLang="zh-TW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08" name="Google Shape;308;p19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19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6" name="Google Shape;306;p19"/>
          <p:cNvSpPr txBox="1"/>
          <p:nvPr/>
        </p:nvSpPr>
        <p:spPr>
          <a:xfrm>
            <a:off x="1025127" y="1359868"/>
            <a:ext cx="10141744" cy="3874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the new kernel </a:t>
            </a:r>
            <a:r>
              <a:rPr lang="en-US" sz="2400" b="1" i="0" u="none" strike="noStrike" cap="none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(Cont.)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 -j $(nproc)      </a:t>
            </a: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(通常要跑10+分鐘，請耐心等待…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BFBFB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if 跑完後出現有關 gawk not found的報錯，執行</a:t>
            </a:r>
            <a:endParaRPr sz="2400" b="1" i="0" u="none" strike="noStrike" cap="none" dirty="0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1104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sudo apt install gawk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04900" marR="0" lvl="2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再重新執行 make -j $(nproc)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A5A5A5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A5A5A5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Consolas"/>
                <a:ea typeface="Consolas"/>
                <a:cs typeface="Consolas"/>
                <a:sym typeface="Consolas"/>
              </a:rPr>
              <a:t>如有其他報錯可找助教討論</a:t>
            </a:r>
            <a:endParaRPr sz="2400" b="1" i="0" u="none" strike="noStrike" cap="none" dirty="0">
              <a:solidFill>
                <a:schemeClr val="bg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7" name="Google Shape;307;p1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</a:t>
            </a:r>
            <a:r>
              <a:rPr lang="en-US" altLang="zh-TW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(4/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altLang="zh-TW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08" name="Google Shape;308;p19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38119B64-09B8-4018-A83B-8C009732E20B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696897" y="3297301"/>
            <a:ext cx="5274310" cy="182372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2DF7595-819A-47C6-8EE3-54D5DCA26C9E}"/>
              </a:ext>
            </a:extLst>
          </p:cNvPr>
          <p:cNvSpPr/>
          <p:nvPr/>
        </p:nvSpPr>
        <p:spPr>
          <a:xfrm>
            <a:off x="7492218" y="4017980"/>
            <a:ext cx="1143649" cy="1828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35182946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455e9bbeb7_0_2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455e9bbeb7_0_2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g3455e9bbeb7_0_21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g3455e9bbeb7_0_21"/>
          <p:cNvSpPr txBox="1"/>
          <p:nvPr/>
        </p:nvSpPr>
        <p:spPr>
          <a:xfrm>
            <a:off x="1025100" y="1436068"/>
            <a:ext cx="10141800" cy="105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若有出現以下</a:t>
            </a:r>
            <a:r>
              <a:rPr lang="zh-TW" alt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certifacate</a:t>
            </a:r>
            <a:r>
              <a:rPr lang="zh-TW" alt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相關問題(沒有可跳過到第</a:t>
            </a:r>
            <a:r>
              <a:rPr lang="en-US" sz="24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  <a:hlinkClick r:id="rId3" action="ppaction://hlinksldjump"/>
              </a:rPr>
              <a:t>12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  <a:hlinkClick r:id="rId3" action="ppaction://hlinksldjump"/>
              </a:rPr>
              <a:t>頁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zh-TW" alt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當出現錯誤但訊息太多時可用 </a:t>
            </a:r>
            <a:r>
              <a:rPr lang="en-US" altLang="zh-TW" sz="24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 –j1</a:t>
            </a:r>
            <a:r>
              <a:rPr lang="zh-TW" altLang="en-US" sz="24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查看錯誤訊息</a:t>
            </a:r>
            <a:endParaRPr lang="en-US"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8" name="Google Shape;318;g3455e9bbeb7_0_21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(5/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19" name="Google Shape;319;g3455e9bbeb7_0_21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20" name="Google Shape;320;g3455e9bbeb7_0_21" title="config error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7225" y="2886268"/>
            <a:ext cx="11277600" cy="218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455e9bbeb7_0_3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g3455e9bbeb7_0_3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8" name="Google Shape;328;g3455e9bbeb7_0_32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9" name="Google Shape;329;g3455e9bbeb7_0_32"/>
          <p:cNvSpPr txBox="1"/>
          <p:nvPr/>
        </p:nvSpPr>
        <p:spPr>
          <a:xfrm>
            <a:off x="1025126" y="1359868"/>
            <a:ext cx="10252473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輸入指令 make menuconfig 進到以下畫面找到 Cryptographic AP</a:t>
            </a:r>
            <a:r>
              <a:rPr lang="en-US" altLang="zh-TW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endParaRPr sz="2400" b="1" i="0" u="none" strike="noStrike" cap="none" dirty="0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0" name="Google Shape;330;g3455e9bbeb7_0_3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(6/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31" name="Google Shape;331;g3455e9bbeb7_0_32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32" name="Google Shape;332;g3455e9bbeb7_0_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2050" y="1907350"/>
            <a:ext cx="6288925" cy="455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455e9bbeb7_0_4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455e9bbeb7_0_4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26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0" name="Google Shape;340;g3455e9bbeb7_0_43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1" name="Google Shape;341;g3455e9bbeb7_0_43"/>
          <p:cNvSpPr txBox="1"/>
          <p:nvPr/>
        </p:nvSpPr>
        <p:spPr>
          <a:xfrm>
            <a:off x="1025127" y="1359868"/>
            <a:ext cx="10141800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再往下找到 Certificates for signature checking</a:t>
            </a:r>
            <a:endParaRPr sz="2400" b="1" i="0" u="none" strike="noStrike" cap="none">
              <a:solidFill>
                <a:srgbClr val="A5A5A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2" name="Google Shape;342;g3455e9bbeb7_0_4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(7/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43" name="Google Shape;343;g3455e9bbeb7_0_43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44" name="Google Shape;344;g3455e9bbeb7_0_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3750" y="1900568"/>
            <a:ext cx="6550552" cy="4423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55e9bbeb7_0_5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g3455e9bbeb7_0_5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27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2" name="Google Shape;352;g3455e9bbeb7_0_55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3" name="Google Shape;353;g3455e9bbeb7_0_55"/>
          <p:cNvSpPr txBox="1"/>
          <p:nvPr/>
        </p:nvSpPr>
        <p:spPr>
          <a:xfrm>
            <a:off x="1025127" y="1359868"/>
            <a:ext cx="10141800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選 additional X.509 keys for default system keyring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g3455e9bbeb7_0_5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(8/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55" name="Google Shape;355;g3455e9bbeb7_0_55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56" name="Google Shape;356;g3455e9bbeb7_0_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1075" y="1926443"/>
            <a:ext cx="6865482" cy="4423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455e9bbeb7_0_6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455e9bbeb7_0_6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28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4" name="Google Shape;364;g3455e9bbeb7_0_69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g3455e9bbeb7_0_69"/>
          <p:cNvSpPr txBox="1"/>
          <p:nvPr/>
        </p:nvSpPr>
        <p:spPr>
          <a:xfrm>
            <a:off x="1025127" y="1359868"/>
            <a:ext cx="10141800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清空路徑儲存後返回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g3455e9bbeb7_0_6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(9/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67" name="Google Shape;367;g3455e9bbeb7_0_69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68" name="Google Shape;368;g3455e9bbeb7_0_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38863" y="1973968"/>
            <a:ext cx="6314325" cy="44238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455e9bbeb7_0_8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3455e9bbeb7_0_8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29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6" name="Google Shape;376;g3455e9bbeb7_0_81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7" name="Google Shape;377;g3455e9bbeb7_0_81"/>
          <p:cNvSpPr txBox="1"/>
          <p:nvPr/>
        </p:nvSpPr>
        <p:spPr>
          <a:xfrm>
            <a:off x="888802" y="1380843"/>
            <a:ext cx="10141800" cy="10525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把 provide system-wide ring of revocation certificates 前面星號刪除(選取後按空白鍵)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8" name="Google Shape;378;g3455e9bbeb7_0_81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(10/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79" name="Google Shape;379;g3455e9bbeb7_0_81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0" name="Google Shape;380;g3455e9bbeb7_0_8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28975" y="2322850"/>
            <a:ext cx="5916874" cy="422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b3dab680a_1_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g37b3dab680a_1_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g37b3dab680a_1_0"/>
          <p:cNvSpPr txBox="1"/>
          <p:nvPr/>
        </p:nvSpPr>
        <p:spPr>
          <a:xfrm>
            <a:off x="4699782" y="6550223"/>
            <a:ext cx="2792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g37b3dab680a_1_0"/>
          <p:cNvSpPr txBox="1"/>
          <p:nvPr/>
        </p:nvSpPr>
        <p:spPr>
          <a:xfrm>
            <a:off x="888802" y="1380843"/>
            <a:ext cx="10141800" cy="1532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輸入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grep SYSTEM_TRUSTED_KEYS .</a:t>
            </a:r>
            <a:r>
              <a:rPr lang="en-US" sz="2400" b="1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config應該會看到</a:t>
            </a:r>
            <a:r>
              <a:rPr 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""</a:t>
            </a:r>
            <a:r>
              <a:rPr lang="en-US" sz="2400" b="1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裡面路徑是空的</a:t>
            </a:r>
            <a:endParaRPr lang="en-US" sz="2400" b="1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zh-TW" alt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輸入 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 -j $(</a:t>
            </a:r>
            <a:r>
              <a:rPr lang="en-US" altLang="zh-TW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nproc</a:t>
            </a:r>
            <a:r>
              <a:rPr lang="en-US" altLang="zh-TW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zh-TW" alt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繼續編譯 </a:t>
            </a:r>
            <a:r>
              <a:rPr lang="en-US" altLang="zh-TW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Kernel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g37b3dab680a_1_0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(11/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391" name="Google Shape;391;g37b3dab680a_1_0"/>
          <p:cNvSpPr txBox="1"/>
          <p:nvPr/>
        </p:nvSpPr>
        <p:spPr>
          <a:xfrm>
            <a:off x="265732" y="190318"/>
            <a:ext cx="1178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92" name="Google Shape;392;g37b3dab680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1688" y="3050643"/>
            <a:ext cx="7724775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0" name="Google Shape;400;p2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1025127" y="1359868"/>
            <a:ext cx="10141744" cy="113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Installing the new kernel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make -j $(nproc) modules_install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0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altLang="zh-TW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403" name="Google Shape;403;p2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F533A20-FDD4-4393-A864-FD20BD25FB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2262" y="2623245"/>
            <a:ext cx="6500674" cy="23368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B997729-EEB8-44B6-9AE8-3C22BD3B50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2262" y="2807637"/>
            <a:ext cx="6500674" cy="363962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2" name="Google Shape;412;p2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13" name="Google Shape;413;p21"/>
          <p:cNvSpPr txBox="1"/>
          <p:nvPr/>
        </p:nvSpPr>
        <p:spPr>
          <a:xfrm>
            <a:off x="1025127" y="1359868"/>
            <a:ext cx="10141744" cy="118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Installing the new kernel </a:t>
            </a:r>
            <a:r>
              <a:rPr lang="en-US" sz="2400" b="1" i="0" u="none" strike="noStrike" cap="none" dirty="0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(Cont.)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indent="-457200">
              <a:lnSpc>
                <a:spcPct val="130000"/>
              </a:lnSpc>
              <a:spcBef>
                <a:spcPts val="1000"/>
              </a:spcBef>
              <a:buClr>
                <a:schemeClr val="lt1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make install 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1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 (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13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/>
          </a:p>
        </p:txBody>
      </p:sp>
      <p:sp>
        <p:nvSpPr>
          <p:cNvPr id="415" name="Google Shape;415;p21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2233C48-D4E7-40BD-88E7-B4515B00E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7242" y="2504798"/>
            <a:ext cx="6994867" cy="39944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3" name="Google Shape;423;p22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5" name="Google Shape;425;p22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426" name="Google Shape;426;p22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Get Linux Kernel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New Syscall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Testing the new syscall</a:t>
            </a:r>
            <a:endParaRPr sz="2400" b="1" i="0" u="none" strike="noStrike" cap="none">
              <a:solidFill>
                <a:srgbClr val="FFFF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Reference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3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23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23"/>
          <p:cNvSpPr txBox="1"/>
          <p:nvPr/>
        </p:nvSpPr>
        <p:spPr>
          <a:xfrm>
            <a:off x="1025127" y="1359868"/>
            <a:ext cx="10141744" cy="2877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Reboot the system, select the new custom kernel from grub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進入grub方法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: </a:t>
            </a: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重開機，在看到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Virtualbox畫面時，點擊畫面並按住shift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048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p23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esting the new </a:t>
            </a:r>
            <a:r>
              <a:rPr lang="en-US" sz="40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40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(1/6)</a:t>
            </a:r>
            <a:endParaRPr dirty="0"/>
          </a:p>
        </p:txBody>
      </p:sp>
      <p:sp>
        <p:nvSpPr>
          <p:cNvPr id="437" name="Google Shape;437;p23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4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4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35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1025127" y="1359868"/>
            <a:ext cx="10141744" cy="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選 Advanced options for Ubuntu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24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esting the new syscall(2/6)</a:t>
            </a:r>
            <a:endParaRPr/>
          </a:p>
        </p:txBody>
      </p:sp>
      <p:sp>
        <p:nvSpPr>
          <p:cNvPr id="448" name="Google Shape;448;p24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49" name="Google Shape;449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3843" y="1992731"/>
            <a:ext cx="5941665" cy="4456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5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5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36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7" name="Google Shape;457;p25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8" name="Google Shape;458;p25"/>
          <p:cNvSpPr txBox="1"/>
          <p:nvPr/>
        </p:nvSpPr>
        <p:spPr>
          <a:xfrm>
            <a:off x="1025127" y="1359868"/>
            <a:ext cx="10141744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選 Linux 7.1.3-dirty，即是我們加入 new </a:t>
            </a: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的 kernel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25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esting the new syscall(3/6)</a:t>
            </a:r>
            <a:endParaRPr/>
          </a:p>
        </p:txBody>
      </p:sp>
      <p:sp>
        <p:nvSpPr>
          <p:cNvPr id="460" name="Google Shape;460;p25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2B91F5F-98E3-48B7-B96A-8B20B37F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760" y="1932292"/>
            <a:ext cx="9827111" cy="39782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6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6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37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8" name="Google Shape;468;p26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9" name="Google Shape;469;p26"/>
          <p:cNvSpPr txBox="1"/>
          <p:nvPr/>
        </p:nvSpPr>
        <p:spPr>
          <a:xfrm>
            <a:off x="1025127" y="1359868"/>
            <a:ext cx="10141744" cy="1139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touch test.c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test.c</a:t>
            </a:r>
            <a:endParaRPr sz="2400" b="1" i="0" u="none" strike="noStrike" cap="non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0" name="Google Shape;470;p26"/>
          <p:cNvSpPr txBox="1">
            <a:spLocks noGrp="1"/>
          </p:cNvSpPr>
          <p:nvPr>
            <p:ph type="title" idx="4294967295"/>
          </p:nvPr>
        </p:nvSpPr>
        <p:spPr>
          <a:xfrm>
            <a:off x="1444083" y="344204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esting the new syscall(4/6)</a:t>
            </a:r>
            <a:endParaRPr/>
          </a:p>
        </p:txBody>
      </p:sp>
      <p:sp>
        <p:nvSpPr>
          <p:cNvPr id="471" name="Google Shape;471;p26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72" name="Google Shape;472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7764" y="2811726"/>
            <a:ext cx="5654718" cy="26864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7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27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38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79" name="Google Shape;479;p27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0" name="Google Shape;480;p27"/>
          <p:cNvSpPr txBox="1"/>
          <p:nvPr/>
        </p:nvSpPr>
        <p:spPr>
          <a:xfrm>
            <a:off x="1025127" y="1359868"/>
            <a:ext cx="10141744" cy="2356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Compile the program &amp; run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make test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 err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chmod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+x test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oto Sans Symbols"/>
              <a:buChar char="✔"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./test</a:t>
            </a:r>
            <a:endParaRPr sz="2400" b="1" i="0" u="none" strike="noStrike" cap="none" dirty="0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1" name="Google Shape;481;p27"/>
          <p:cNvSpPr txBox="1">
            <a:spLocks noGrp="1"/>
          </p:cNvSpPr>
          <p:nvPr>
            <p:ph type="title" idx="4294967295"/>
          </p:nvPr>
        </p:nvSpPr>
        <p:spPr>
          <a:xfrm>
            <a:off x="1444083" y="344204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esting the new syscall(5/6)</a:t>
            </a:r>
            <a:endParaRPr/>
          </a:p>
        </p:txBody>
      </p:sp>
      <p:sp>
        <p:nvSpPr>
          <p:cNvPr id="482" name="Google Shape;482;p27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83" name="Google Shape;48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00988" y="3889533"/>
            <a:ext cx="7675541" cy="22985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8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8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39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28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1" name="Google Shape;491;p28"/>
          <p:cNvSpPr txBox="1"/>
          <p:nvPr/>
        </p:nvSpPr>
        <p:spPr>
          <a:xfrm>
            <a:off x="1025127" y="1359868"/>
            <a:ext cx="10141744" cy="531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dmesg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| tail  ，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查看kernel訊息</a:t>
            </a:r>
            <a:endParaRPr sz="2400" b="0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28"/>
          <p:cNvSpPr txBox="1">
            <a:spLocks noGrp="1"/>
          </p:cNvSpPr>
          <p:nvPr>
            <p:ph type="title" idx="4294967295"/>
          </p:nvPr>
        </p:nvSpPr>
        <p:spPr>
          <a:xfrm>
            <a:off x="1444083" y="344204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esting the new syscall(6/6)</a:t>
            </a:r>
            <a:endParaRPr/>
          </a:p>
        </p:txBody>
      </p:sp>
      <p:sp>
        <p:nvSpPr>
          <p:cNvPr id="493" name="Google Shape;493;p28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94" name="Google Shape;49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6889" y="2385580"/>
            <a:ext cx="6665220" cy="36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28"/>
          <p:cNvSpPr/>
          <p:nvPr/>
        </p:nvSpPr>
        <p:spPr>
          <a:xfrm>
            <a:off x="3640347" y="5343243"/>
            <a:ext cx="1708030" cy="712887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9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9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2" name="Google Shape;502;p29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3" name="Google Shape;503;p29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29"/>
          <p:cNvSpPr txBox="1">
            <a:spLocks noGrp="1"/>
          </p:cNvSpPr>
          <p:nvPr>
            <p:ph type="title" idx="4294967295"/>
          </p:nvPr>
        </p:nvSpPr>
        <p:spPr>
          <a:xfrm>
            <a:off x="1444083" y="344205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Outline </a:t>
            </a:r>
            <a:endParaRPr/>
          </a:p>
        </p:txBody>
      </p:sp>
      <p:sp>
        <p:nvSpPr>
          <p:cNvPr id="505" name="Google Shape;505;p29"/>
          <p:cNvSpPr txBox="1"/>
          <p:nvPr/>
        </p:nvSpPr>
        <p:spPr>
          <a:xfrm>
            <a:off x="1025128" y="1359868"/>
            <a:ext cx="10141744" cy="418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Get Linux Kernel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Create a New Syscall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Compiling and installing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Testing the new syscall</a:t>
            </a:r>
            <a:endParaRPr sz="24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rgbClr val="FFFF00"/>
                </a:solidFill>
                <a:latin typeface="Consolas"/>
                <a:ea typeface="Consolas"/>
                <a:cs typeface="Consolas"/>
                <a:sym typeface="Consolas"/>
              </a:rPr>
              <a:t>Exercise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Reference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41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3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30"/>
          <p:cNvSpPr txBox="1"/>
          <p:nvPr/>
        </p:nvSpPr>
        <p:spPr>
          <a:xfrm>
            <a:off x="1025127" y="1359868"/>
            <a:ext cx="10141744" cy="572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zh-TW" altLang="en-US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完成上述範例步驟，找助教</a:t>
            </a:r>
            <a:r>
              <a:rPr lang="en-US" altLang="zh-TW" sz="2400" b="1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demo</a:t>
            </a:r>
          </a:p>
        </p:txBody>
      </p:sp>
      <p:sp>
        <p:nvSpPr>
          <p:cNvPr id="514" name="Google Shape;514;p30"/>
          <p:cNvSpPr txBox="1">
            <a:spLocks noGrp="1"/>
          </p:cNvSpPr>
          <p:nvPr>
            <p:ph type="title" idx="4294967295"/>
          </p:nvPr>
        </p:nvSpPr>
        <p:spPr>
          <a:xfrm>
            <a:off x="1444083" y="344204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Exercise-1</a:t>
            </a:r>
            <a:endParaRPr sz="40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5" name="Google Shape;515;p3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nsolas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16FB713-21F1-4862-9326-4F02978081E8}"/>
              </a:ext>
            </a:extLst>
          </p:cNvPr>
          <p:cNvSpPr txBox="1"/>
          <p:nvPr/>
        </p:nvSpPr>
        <p:spPr>
          <a:xfrm>
            <a:off x="5060155" y="405759"/>
            <a:ext cx="2071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FFFF"/>
                </a:solidFill>
                <a:cs typeface="Calibri"/>
              </a:rPr>
              <a:t>(</a:t>
            </a:r>
            <a:r>
              <a:rPr lang="en-US" altLang="zh-TW" sz="3600" b="1" dirty="0">
                <a:solidFill>
                  <a:srgbClr val="FF0000"/>
                </a:solidFill>
                <a:cs typeface="Calibri"/>
              </a:rPr>
              <a:t>60</a:t>
            </a:r>
            <a:r>
              <a:rPr lang="en-US" altLang="zh-TW" sz="3600" b="1" dirty="0">
                <a:solidFill>
                  <a:srgbClr val="FFFFFF"/>
                </a:solidFill>
                <a:cs typeface="Calibri"/>
              </a:rPr>
              <a:t> pts.) </a:t>
            </a:r>
            <a:endParaRPr lang="zh-TW" altLang="en-US" sz="3600" dirty="0"/>
          </a:p>
        </p:txBody>
      </p:sp>
      <p:pic>
        <p:nvPicPr>
          <p:cNvPr id="15" name="Google Shape;494;p28">
            <a:extLst>
              <a:ext uri="{FF2B5EF4-FFF2-40B4-BE49-F238E27FC236}">
                <a16:creationId xmlns:a16="http://schemas.microsoft.com/office/drawing/2014/main" id="{FA94F37E-14DE-4605-B39D-63EADF629C1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36889" y="2385580"/>
            <a:ext cx="6665220" cy="367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495;p28">
            <a:extLst>
              <a:ext uri="{FF2B5EF4-FFF2-40B4-BE49-F238E27FC236}">
                <a16:creationId xmlns:a16="http://schemas.microsoft.com/office/drawing/2014/main" id="{DE01A5B0-B5B1-4B5F-8DDD-1A8849D75D34}"/>
              </a:ext>
            </a:extLst>
          </p:cNvPr>
          <p:cNvSpPr/>
          <p:nvPr/>
        </p:nvSpPr>
        <p:spPr>
          <a:xfrm>
            <a:off x="3640347" y="5343243"/>
            <a:ext cx="1708030" cy="712887"/>
          </a:xfrm>
          <a:prstGeom prst="frame">
            <a:avLst>
              <a:gd name="adj1" fmla="val 1250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5290292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3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30"/>
          <p:cNvSpPr txBox="1"/>
          <p:nvPr/>
        </p:nvSpPr>
        <p:spPr>
          <a:xfrm>
            <a:off x="1025127" y="1359868"/>
            <a:ext cx="10141744" cy="1618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改寫範例的hello.c，並使用SYSCALL_DEFINE1()，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使syscall可接受一個參數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傳入的參數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輸出hello的次數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。</a:t>
            </a:r>
            <a:endParaRPr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ex: </a:t>
            </a:r>
            <a:r>
              <a:rPr lang="en-US" sz="24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syscall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(462, 3)即為輸出3次hello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0"/>
          <p:cNvSpPr txBox="1">
            <a:spLocks noGrp="1"/>
          </p:cNvSpPr>
          <p:nvPr>
            <p:ph type="title" idx="4294967295"/>
          </p:nvPr>
        </p:nvSpPr>
        <p:spPr>
          <a:xfrm>
            <a:off x="1444083" y="344204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Exercise-2 (1/2)</a:t>
            </a:r>
            <a:endParaRPr sz="40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5" name="Google Shape;515;p3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nsolas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16" name="Google Shape;51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1822" y="3065581"/>
            <a:ext cx="5313873" cy="348464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0A9220A1-2836-4B20-96B1-816DE6343B1F}"/>
              </a:ext>
            </a:extLst>
          </p:cNvPr>
          <p:cNvSpPr txBox="1"/>
          <p:nvPr/>
        </p:nvSpPr>
        <p:spPr>
          <a:xfrm>
            <a:off x="7021303" y="374981"/>
            <a:ext cx="2071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FFFF"/>
                </a:solidFill>
                <a:cs typeface="Calibri"/>
              </a:rPr>
              <a:t>(</a:t>
            </a:r>
            <a:r>
              <a:rPr lang="en-US" altLang="zh-TW" sz="3600" b="1" dirty="0">
                <a:solidFill>
                  <a:srgbClr val="FF0000"/>
                </a:solidFill>
                <a:cs typeface="Calibri"/>
              </a:rPr>
              <a:t>40</a:t>
            </a:r>
            <a:r>
              <a:rPr lang="en-US" altLang="zh-TW" sz="3600" b="1" dirty="0">
                <a:solidFill>
                  <a:srgbClr val="FFFFFF"/>
                </a:solidFill>
                <a:cs typeface="Calibri"/>
              </a:rPr>
              <a:t> pts.)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8736239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43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2" name="Google Shape;512;p30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30"/>
          <p:cNvSpPr txBox="1"/>
          <p:nvPr/>
        </p:nvSpPr>
        <p:spPr>
          <a:xfrm>
            <a:off x="1025127" y="1359868"/>
            <a:ext cx="10141744" cy="4333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zh-TW" altLang="en-US" sz="28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改好後需執行以下指令</a:t>
            </a:r>
            <a:endParaRPr lang="en-US" altLang="zh-TW" sz="28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2" indent="-457200">
              <a:lnSpc>
                <a:spcPct val="130000"/>
              </a:lnSpc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altLang="zh-TW" sz="28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make -j $(</a:t>
            </a:r>
            <a:r>
              <a:rPr lang="en-US" altLang="zh-TW" sz="28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nproc</a:t>
            </a:r>
            <a:r>
              <a:rPr lang="en-US" altLang="zh-TW" sz="28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</a:p>
          <a:p>
            <a:pPr marL="457200" lvl="2" indent="-457200">
              <a:lnSpc>
                <a:spcPct val="130000"/>
              </a:lnSpc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altLang="zh-TW" sz="28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sudo</a:t>
            </a:r>
            <a:r>
              <a:rPr lang="en-US" altLang="zh-TW" sz="28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make -j $(</a:t>
            </a:r>
            <a:r>
              <a:rPr lang="en-US" altLang="zh-TW" sz="28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nproc</a:t>
            </a:r>
            <a:r>
              <a:rPr lang="en-US" altLang="zh-TW" sz="28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r>
              <a:rPr lang="en-US" altLang="zh-TW" sz="2800" b="1" i="0" u="none" strike="noStrike" cap="none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modules_install</a:t>
            </a:r>
            <a:r>
              <a:rPr lang="en-US" altLang="zh-TW" sz="28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</a:p>
          <a:p>
            <a:pPr marL="457200" lvl="2" indent="-457200">
              <a:lnSpc>
                <a:spcPct val="130000"/>
              </a:lnSpc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altLang="zh-TW" sz="2800" b="1" i="0" u="none" strike="noStrike" cap="none" dirty="0" err="1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sudo</a:t>
            </a:r>
            <a:r>
              <a:rPr lang="en-US" altLang="zh-TW" sz="2800" b="1" i="0" u="none" strike="noStrike" cap="none" dirty="0">
                <a:solidFill>
                  <a:schemeClr val="lt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 make install </a:t>
            </a:r>
          </a:p>
          <a:p>
            <a:pPr marL="457200" lvl="2" indent="-457200">
              <a:lnSpc>
                <a:spcPct val="130000"/>
              </a:lnSpc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altLang="zh-TW" sz="2800" b="1" i="0" u="none" strike="noStrike" cap="none" dirty="0">
                <a:solidFill>
                  <a:schemeClr val="bg1"/>
                </a:solidFill>
                <a:latin typeface="Consolas" panose="020B0609020204030204" pitchFamily="49" charset="0"/>
                <a:sym typeface="Arial"/>
              </a:rPr>
              <a:t>reboot</a:t>
            </a:r>
          </a:p>
          <a:p>
            <a:pPr lvl="2">
              <a:lnSpc>
                <a:spcPct val="130000"/>
              </a:lnSpc>
              <a:buClr>
                <a:schemeClr val="lt1"/>
              </a:buClr>
              <a:buSzPts val="2400"/>
            </a:pPr>
            <a:endParaRPr lang="en-US" altLang="zh-TW"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2" indent="-457200">
              <a:lnSpc>
                <a:spcPct val="130000"/>
              </a:lnSpc>
              <a:buClr>
                <a:schemeClr val="lt1"/>
              </a:buClr>
              <a:buSzPts val="2400"/>
              <a:buFont typeface="Arial"/>
              <a:buChar char="•"/>
            </a:pPr>
            <a:endParaRPr lang="en-US" altLang="zh-TW" sz="2400" b="1" i="0" u="none" strike="noStrike" cap="none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2" indent="-457200">
              <a:lnSpc>
                <a:spcPct val="130000"/>
              </a:lnSpc>
              <a:buClr>
                <a:schemeClr val="lt1"/>
              </a:buClr>
              <a:buSzPts val="2400"/>
              <a:buFont typeface="Arial"/>
              <a:buChar char="•"/>
            </a:pP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0"/>
          <p:cNvSpPr txBox="1">
            <a:spLocks noGrp="1"/>
          </p:cNvSpPr>
          <p:nvPr>
            <p:ph type="title" idx="4294967295"/>
          </p:nvPr>
        </p:nvSpPr>
        <p:spPr>
          <a:xfrm>
            <a:off x="1444083" y="344204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Exercise-2 (2/2)</a:t>
            </a:r>
            <a:endParaRPr sz="4000" b="1" i="0" u="none" strike="noStrike" cap="none" dirty="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5" name="Google Shape;515;p30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nsolas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A9220A1-2836-4B20-96B1-816DE6343B1F}"/>
              </a:ext>
            </a:extLst>
          </p:cNvPr>
          <p:cNvSpPr txBox="1"/>
          <p:nvPr/>
        </p:nvSpPr>
        <p:spPr>
          <a:xfrm>
            <a:off x="7021303" y="374981"/>
            <a:ext cx="20716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600" b="1" dirty="0">
                <a:solidFill>
                  <a:srgbClr val="FFFFFF"/>
                </a:solidFill>
                <a:cs typeface="Calibri"/>
              </a:rPr>
              <a:t>(</a:t>
            </a:r>
            <a:r>
              <a:rPr lang="en-US" altLang="zh-TW" sz="3600" b="1" dirty="0">
                <a:solidFill>
                  <a:srgbClr val="FF0000"/>
                </a:solidFill>
                <a:cs typeface="Calibri"/>
              </a:rPr>
              <a:t>40</a:t>
            </a:r>
            <a:r>
              <a:rPr lang="en-US" altLang="zh-TW" sz="3600" b="1" dirty="0">
                <a:solidFill>
                  <a:srgbClr val="FFFFFF"/>
                </a:solidFill>
                <a:cs typeface="Calibri"/>
              </a:rPr>
              <a:t> pts.) 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13884738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1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1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44</a:t>
            </a:fld>
            <a:endParaRPr sz="18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3" name="Google Shape;523;p31"/>
          <p:cNvSpPr txBox="1"/>
          <p:nvPr/>
        </p:nvSpPr>
        <p:spPr>
          <a:xfrm>
            <a:off x="4699782" y="6550223"/>
            <a:ext cx="2792436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NCHU System &amp; Network Lab</a:t>
            </a:r>
            <a:endParaRPr sz="1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4" name="Google Shape;524;p31"/>
          <p:cNvSpPr txBox="1"/>
          <p:nvPr/>
        </p:nvSpPr>
        <p:spPr>
          <a:xfrm>
            <a:off x="1025127" y="1359868"/>
            <a:ext cx="10141800" cy="19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 b="1" i="0" u="sng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https://medium.com/@aryan20/create-custom-system-call-on-linux-6-8-126edef6caaf</a:t>
            </a:r>
            <a:endParaRPr sz="2400" b="1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marR="0" lvl="0" indent="-45720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nsolas"/>
              <a:buChar char="•"/>
            </a:pPr>
            <a:r>
              <a:rPr lang="en-US" sz="2400" b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https://www.linuxbnb.net/home/adding-a-system-call-to-linux-arm-architecture/</a:t>
            </a:r>
            <a:endParaRPr sz="2400" b="1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5" name="Google Shape;525;p31"/>
          <p:cNvSpPr txBox="1">
            <a:spLocks noGrp="1"/>
          </p:cNvSpPr>
          <p:nvPr>
            <p:ph type="title" idx="4294967295"/>
          </p:nvPr>
        </p:nvSpPr>
        <p:spPr>
          <a:xfrm>
            <a:off x="1444083" y="344204"/>
            <a:ext cx="9189352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onsolas"/>
              <a:buNone/>
            </a:pPr>
            <a:r>
              <a:rPr lang="en-US" sz="4000" b="1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Reference</a:t>
            </a:r>
            <a:endParaRPr sz="4000" b="1" i="0" u="none" strike="noStrike" cap="none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6" name="Google Shape;526;p31"/>
          <p:cNvSpPr txBox="1"/>
          <p:nvPr/>
        </p:nvSpPr>
        <p:spPr>
          <a:xfrm>
            <a:off x="265732" y="190318"/>
            <a:ext cx="1178351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nsolas"/>
              <a:buNone/>
            </a:pPr>
            <a:r>
              <a:rPr lang="en-US" sz="6000" b="1" i="1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$</a:t>
            </a:r>
            <a:endParaRPr sz="6000" b="0" i="1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2"/>
          <p:cNvSpPr/>
          <p:nvPr/>
        </p:nvSpPr>
        <p:spPr>
          <a:xfrm>
            <a:off x="10318798" y="5252711"/>
            <a:ext cx="1440000" cy="1440000"/>
          </a:xfrm>
          <a:prstGeom prst="ellipse">
            <a:avLst/>
          </a:prstGeom>
          <a:gradFill>
            <a:gsLst>
              <a:gs pos="0">
                <a:srgbClr val="8E2DE2">
                  <a:alpha val="60000"/>
                </a:srgbClr>
              </a:gs>
              <a:gs pos="30000">
                <a:srgbClr val="5D26C1">
                  <a:alpha val="29411"/>
                </a:srgbClr>
              </a:gs>
              <a:gs pos="60000">
                <a:srgbClr val="5D26C1">
                  <a:alpha val="0"/>
                </a:srgbClr>
              </a:gs>
              <a:gs pos="100000">
                <a:srgbClr val="5D26C1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32"/>
          <p:cNvSpPr/>
          <p:nvPr/>
        </p:nvSpPr>
        <p:spPr>
          <a:xfrm>
            <a:off x="11112000" y="5778000"/>
            <a:ext cx="1080000" cy="1080000"/>
          </a:xfrm>
          <a:prstGeom prst="ellipse">
            <a:avLst/>
          </a:prstGeom>
          <a:gradFill>
            <a:gsLst>
              <a:gs pos="0">
                <a:srgbClr val="F80759">
                  <a:alpha val="60000"/>
                </a:srgbClr>
              </a:gs>
              <a:gs pos="60000">
                <a:srgbClr val="FF0078">
                  <a:alpha val="0"/>
                </a:srgbClr>
              </a:gs>
              <a:gs pos="100000">
                <a:srgbClr val="FF0078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2"/>
          <p:cNvSpPr txBox="1"/>
          <p:nvPr/>
        </p:nvSpPr>
        <p:spPr>
          <a:xfrm>
            <a:off x="1618389" y="1407914"/>
            <a:ext cx="7101901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Thanks for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your listening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32"/>
          <p:cNvSpPr txBox="1">
            <a:spLocks noGrp="1"/>
          </p:cNvSpPr>
          <p:nvPr>
            <p:ph type="title" idx="4294967295"/>
          </p:nvPr>
        </p:nvSpPr>
        <p:spPr>
          <a:xfrm>
            <a:off x="4600598" y="6550223"/>
            <a:ext cx="299080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Made by PurpleRed in 2023/08</a:t>
            </a:r>
            <a:endParaRPr/>
          </a:p>
        </p:txBody>
      </p:sp>
      <p:sp>
        <p:nvSpPr>
          <p:cNvPr id="535" name="Google Shape;535;p32"/>
          <p:cNvSpPr txBox="1"/>
          <p:nvPr/>
        </p:nvSpPr>
        <p:spPr>
          <a:xfrm>
            <a:off x="0" y="648653"/>
            <a:ext cx="1618389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0"/>
              <a:buFont typeface="Arial"/>
              <a:buNone/>
            </a:pPr>
            <a:r>
              <a:rPr lang="en-US" sz="14400" b="1" i="0" u="none" strike="noStrike" cap="non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400" b="0" i="0" u="none" strike="noStrike" cap="non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6093</TotalTime>
  <Words>2346</Words>
  <Application>Microsoft Office PowerPoint</Application>
  <PresentationFormat>寬螢幕</PresentationFormat>
  <Paragraphs>413</Paragraphs>
  <Slides>45</Slides>
  <Notes>45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45</vt:i4>
      </vt:variant>
    </vt:vector>
  </HeadingPairs>
  <TitlesOfParts>
    <vt:vector size="53" baseType="lpstr">
      <vt:lpstr>Microsoft JhengHei</vt:lpstr>
      <vt:lpstr>Consolas</vt:lpstr>
      <vt:lpstr>Arial</vt:lpstr>
      <vt:lpstr>Corbel</vt:lpstr>
      <vt:lpstr>Noto Sans Symbols</vt:lpstr>
      <vt:lpstr>Calibri</vt:lpstr>
      <vt:lpstr>新細明體</vt:lpstr>
      <vt:lpstr>Office 佈景主題</vt:lpstr>
      <vt:lpstr>Lab 2 Adding a New System Call </vt:lpstr>
      <vt:lpstr>貼心提醒</vt:lpstr>
      <vt:lpstr>Outline </vt:lpstr>
      <vt:lpstr>Introduction (1/2) </vt:lpstr>
      <vt:lpstr>Introduction (2/2) </vt:lpstr>
      <vt:lpstr>Outline </vt:lpstr>
      <vt:lpstr>Get Linux Kernel(1/3)</vt:lpstr>
      <vt:lpstr>Get Linux Kernel(2/3)</vt:lpstr>
      <vt:lpstr>Get Linux Kernel(3/3)</vt:lpstr>
      <vt:lpstr>Outline </vt:lpstr>
      <vt:lpstr>Create a New Syscall (1/8)</vt:lpstr>
      <vt:lpstr>Create a New Syscall (2/8)</vt:lpstr>
      <vt:lpstr>Create a New Syscall (3/8)</vt:lpstr>
      <vt:lpstr>Create a New Syscall (4/8)</vt:lpstr>
      <vt:lpstr>Create a New Syscall (5/8)</vt:lpstr>
      <vt:lpstr>Create a New Syscall (6/8)</vt:lpstr>
      <vt:lpstr>Create a New Syscall (7/8)</vt:lpstr>
      <vt:lpstr>Create a New Syscall (8/8)</vt:lpstr>
      <vt:lpstr>Outline </vt:lpstr>
      <vt:lpstr>Compiling and installing (1/13)</vt:lpstr>
      <vt:lpstr>Compiling and installing (2/13)</vt:lpstr>
      <vt:lpstr>Compiling and installing (3/13)</vt:lpstr>
      <vt:lpstr>Compiling and installing (4/13)</vt:lpstr>
      <vt:lpstr>Compiling and installing (5/13)</vt:lpstr>
      <vt:lpstr>Compiling and installing (6/13)</vt:lpstr>
      <vt:lpstr>Compiling and installing (7/13)</vt:lpstr>
      <vt:lpstr>Compiling and installing (8/13)</vt:lpstr>
      <vt:lpstr>Compiling and installing (9/13)</vt:lpstr>
      <vt:lpstr>Compiling and installing (10/13)</vt:lpstr>
      <vt:lpstr>Compiling and installing (11/13)</vt:lpstr>
      <vt:lpstr>Compiling and installing (12/13)</vt:lpstr>
      <vt:lpstr>Compiling and installing (13/13)</vt:lpstr>
      <vt:lpstr>Outline </vt:lpstr>
      <vt:lpstr>Testing the new syscall(1/6)</vt:lpstr>
      <vt:lpstr>Testing the new syscall(2/6)</vt:lpstr>
      <vt:lpstr>Testing the new syscall(3/6)</vt:lpstr>
      <vt:lpstr>Testing the new syscall(4/6)</vt:lpstr>
      <vt:lpstr>Testing the new syscall(5/6)</vt:lpstr>
      <vt:lpstr>Testing the new syscall(6/6)</vt:lpstr>
      <vt:lpstr>Outline </vt:lpstr>
      <vt:lpstr>Exercise-1</vt:lpstr>
      <vt:lpstr>Exercise-2 (1/2)</vt:lpstr>
      <vt:lpstr>Exercise-2 (2/2)</vt:lpstr>
      <vt:lpstr>Reference</vt:lpstr>
      <vt:lpstr>Made by PurpleRed in 2023/08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2 Adding a New System Call</dc:title>
  <dc:creator>PurpleRed</dc:creator>
  <cp:lastModifiedBy>link1218 link1218</cp:lastModifiedBy>
  <cp:revision>75</cp:revision>
  <dcterms:created xsi:type="dcterms:W3CDTF">2023-07-21T03:35:58Z</dcterms:created>
  <dcterms:modified xsi:type="dcterms:W3CDTF">2026-09-15T10:39:02Z</dcterms:modified>
</cp:coreProperties>
</file>