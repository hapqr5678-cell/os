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1"/>
  </p:notesMasterIdLst>
  <p:sldIdLst>
    <p:sldId id="256" r:id="rId2"/>
    <p:sldId id="319" r:id="rId3"/>
    <p:sldId id="333" r:id="rId4"/>
    <p:sldId id="417" r:id="rId5"/>
    <p:sldId id="416" r:id="rId6"/>
    <p:sldId id="351" r:id="rId7"/>
    <p:sldId id="389" r:id="rId8"/>
    <p:sldId id="390" r:id="rId9"/>
    <p:sldId id="336" r:id="rId10"/>
    <p:sldId id="391" r:id="rId11"/>
    <p:sldId id="392" r:id="rId12"/>
    <p:sldId id="393" r:id="rId13"/>
    <p:sldId id="394" r:id="rId14"/>
    <p:sldId id="398" r:id="rId15"/>
    <p:sldId id="396" r:id="rId16"/>
    <p:sldId id="399" r:id="rId17"/>
    <p:sldId id="401" r:id="rId18"/>
    <p:sldId id="402" r:id="rId19"/>
    <p:sldId id="403" r:id="rId20"/>
    <p:sldId id="404" r:id="rId21"/>
    <p:sldId id="407" r:id="rId22"/>
    <p:sldId id="406" r:id="rId23"/>
    <p:sldId id="408" r:id="rId24"/>
    <p:sldId id="409" r:id="rId25"/>
    <p:sldId id="410" r:id="rId26"/>
    <p:sldId id="413" r:id="rId27"/>
    <p:sldId id="411" r:id="rId28"/>
    <p:sldId id="412" r:id="rId29"/>
    <p:sldId id="258" r:id="rId30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Helvetica Neue" panose="02020500000000000000" charset="0"/>
      <p:regular r:id="rId40"/>
      <p:bold r:id="rId41"/>
      <p:italic r:id="rId42"/>
      <p:boldItalic r:id="rId43"/>
    </p:embeddedFont>
    <p:embeddedFont>
      <p:font typeface="Ubuntu Mono" panose="020B0509030602030204"/>
      <p:regular r:id="rId44"/>
      <p:bold r:id="rId45"/>
      <p:italic r:id="rId46"/>
      <p:boldItalic r:id="rId4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141"/>
    <a:srgbClr val="FF0066"/>
    <a:srgbClr val="1E1E1E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 autoAdjust="0"/>
    <p:restoredTop sz="71230" autoAdjust="0"/>
  </p:normalViewPr>
  <p:slideViewPr>
    <p:cSldViewPr snapToGrid="0">
      <p:cViewPr varScale="1">
        <p:scale>
          <a:sx n="71" d="100"/>
          <a:sy n="71" d="100"/>
        </p:scale>
        <p:origin x="1421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55647-60F5-43AF-B282-FC63D8F12541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AA41D-60E8-4728-AC21-7AB730FDAA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6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 </a:t>
            </a:r>
            <a:r>
              <a:rPr lang="en-US" altLang="zh-TW" dirty="0"/>
              <a:t>Lab </a:t>
            </a:r>
            <a:r>
              <a:rPr lang="zh-TW" altLang="en-US" dirty="0"/>
              <a:t>的目標是讓大家透過程式實作，更清楚理解「</a:t>
            </a:r>
            <a:r>
              <a:rPr lang="en-US" altLang="zh-TW" dirty="0"/>
              <a:t>Process</a:t>
            </a:r>
            <a:r>
              <a:rPr lang="zh-TW" altLang="en-US" dirty="0"/>
              <a:t>」的概念，以及在 </a:t>
            </a:r>
            <a:r>
              <a:rPr lang="en-US" altLang="zh-TW" dirty="0"/>
              <a:t>UNIX </a:t>
            </a:r>
            <a:r>
              <a:rPr lang="zh-TW" altLang="en-US" dirty="0"/>
              <a:t>系統裡，如何使用一些系統呼叫來控制 </a:t>
            </a:r>
            <a:r>
              <a:rPr lang="en-US" altLang="zh-TW" dirty="0"/>
              <a:t>process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5795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今天的課程分成三個部分：</a:t>
            </a:r>
          </a:p>
          <a:p>
            <a:r>
              <a:rPr lang="en-US" altLang="zh-TW" b="1" dirty="0"/>
              <a:t>Introduction</a:t>
            </a:r>
            <a:r>
              <a:rPr lang="en-US" altLang="zh-TW" dirty="0"/>
              <a:t> – </a:t>
            </a:r>
            <a:r>
              <a:rPr lang="zh-TW" altLang="en-US" dirty="0"/>
              <a:t>介紹什麼是 </a:t>
            </a:r>
            <a:r>
              <a:rPr lang="en-US" altLang="zh-TW" dirty="0"/>
              <a:t>process</a:t>
            </a:r>
            <a:r>
              <a:rPr lang="zh-TW" altLang="en-US" dirty="0"/>
              <a:t>。</a:t>
            </a:r>
          </a:p>
          <a:p>
            <a:r>
              <a:rPr lang="en-US" altLang="zh-TW" b="1" dirty="0"/>
              <a:t>Function</a:t>
            </a:r>
            <a:r>
              <a:rPr lang="en-US" altLang="zh-TW" dirty="0"/>
              <a:t> – </a:t>
            </a:r>
            <a:r>
              <a:rPr lang="zh-TW" altLang="en-US" dirty="0"/>
              <a:t>說明 </a:t>
            </a:r>
            <a:r>
              <a:rPr lang="en-US" altLang="zh-TW" dirty="0"/>
              <a:t>fork</a:t>
            </a:r>
            <a:r>
              <a:rPr lang="zh-TW" altLang="en-US" dirty="0"/>
              <a:t>、</a:t>
            </a:r>
            <a:r>
              <a:rPr lang="en-US" altLang="zh-TW" dirty="0"/>
              <a:t>wait</a:t>
            </a:r>
            <a:r>
              <a:rPr lang="zh-TW" altLang="en-US" dirty="0"/>
              <a:t>、</a:t>
            </a:r>
            <a:r>
              <a:rPr lang="en-US" altLang="zh-TW" dirty="0"/>
              <a:t>exec </a:t>
            </a:r>
            <a:r>
              <a:rPr lang="zh-TW" altLang="en-US" dirty="0"/>
              <a:t>等系統呼叫。</a:t>
            </a:r>
          </a:p>
          <a:p>
            <a:r>
              <a:rPr lang="en-US" altLang="zh-TW" b="1" dirty="0"/>
              <a:t>Exercise</a:t>
            </a:r>
            <a:r>
              <a:rPr lang="en-US" altLang="zh-TW" dirty="0"/>
              <a:t> – </a:t>
            </a:r>
            <a:r>
              <a:rPr lang="zh-TW" altLang="en-US" dirty="0"/>
              <a:t>最後會帶大家做兩個練習題，強化對 </a:t>
            </a:r>
            <a:r>
              <a:rPr lang="en-US" altLang="zh-TW" dirty="0"/>
              <a:t>process control </a:t>
            </a:r>
            <a:r>
              <a:rPr lang="zh-TW" altLang="en-US" dirty="0"/>
              <a:t>的理解。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78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首先，</a:t>
            </a:r>
            <a:r>
              <a:rPr lang="zh-TW" altLang="en-US" b="1" dirty="0"/>
              <a:t>什麼是 </a:t>
            </a:r>
            <a:r>
              <a:rPr lang="en-US" altLang="zh-TW" b="1" dirty="0"/>
              <a:t>process</a:t>
            </a:r>
            <a:r>
              <a:rPr lang="zh-TW" altLang="en-US" b="1" dirty="0"/>
              <a:t>？</a:t>
            </a:r>
            <a:br>
              <a:rPr lang="en-US" altLang="zh-TW" dirty="0"/>
            </a:br>
            <a:r>
              <a:rPr lang="zh-TW" altLang="en-US" dirty="0"/>
              <a:t>一個 </a:t>
            </a:r>
            <a:r>
              <a:rPr lang="en-US" altLang="zh-TW" dirty="0"/>
              <a:t>process </a:t>
            </a:r>
            <a:r>
              <a:rPr lang="zh-TW" altLang="en-US" dirty="0"/>
              <a:t>就是「正在執行中的程式」。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 dirty="0"/>
              <a:t>一個</a:t>
            </a:r>
            <a:r>
              <a:rPr lang="en-US" altLang="zh-TW" b="1" dirty="0"/>
              <a:t>process</a:t>
            </a:r>
            <a:r>
              <a:rPr lang="zh-TW" altLang="en-US" b="1" dirty="0"/>
              <a:t>包含了</a:t>
            </a:r>
            <a:endParaRPr lang="en-US" altLang="zh-TW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data section</a:t>
            </a:r>
            <a:r>
              <a:rPr lang="zh-TW" altLang="en-US" dirty="0"/>
              <a:t>：全域變數</a:t>
            </a:r>
            <a:endParaRPr lang="en-US" altLang="zh-TW" dirty="0"/>
          </a:p>
          <a:p>
            <a:r>
              <a:rPr lang="en-US" altLang="zh-TW" b="1" dirty="0"/>
              <a:t>text section</a:t>
            </a:r>
            <a:r>
              <a:rPr lang="zh-TW" altLang="en-US" dirty="0"/>
              <a:t>：程式碼</a:t>
            </a:r>
          </a:p>
          <a:p>
            <a:r>
              <a:rPr lang="en-US" altLang="zh-TW" b="1" dirty="0"/>
              <a:t>stack section</a:t>
            </a:r>
            <a:r>
              <a:rPr lang="zh-TW" altLang="en-US" dirty="0"/>
              <a:t>：暫存資料，例如函式的區域變數、參數</a:t>
            </a:r>
          </a:p>
          <a:p>
            <a:r>
              <a:rPr lang="en-US" altLang="zh-TW" b="1" dirty="0"/>
              <a:t>heap section</a:t>
            </a:r>
            <a:r>
              <a:rPr lang="zh-TW" altLang="en-US" dirty="0"/>
              <a:t>：動態配置的記憶體</a:t>
            </a:r>
          </a:p>
          <a:p>
            <a:r>
              <a:rPr lang="zh-TW" altLang="en-US" dirty="0"/>
              <a:t>除了程式碼本身，</a:t>
            </a:r>
            <a:r>
              <a:rPr lang="en-US" altLang="zh-TW" dirty="0"/>
              <a:t>process </a:t>
            </a:r>
            <a:r>
              <a:rPr lang="zh-TW" altLang="en-US" dirty="0"/>
              <a:t>還有「目前的執行狀態」，例如程式計數器 </a:t>
            </a:r>
            <a:r>
              <a:rPr lang="en-US" altLang="zh-TW" dirty="0"/>
              <a:t>(program counter) </a:t>
            </a:r>
            <a:r>
              <a:rPr lang="zh-TW" altLang="en-US" dirty="0"/>
              <a:t>和 </a:t>
            </a:r>
            <a:r>
              <a:rPr lang="en-US" altLang="zh-TW" dirty="0"/>
              <a:t>CPU </a:t>
            </a:r>
            <a:r>
              <a:rPr lang="zh-TW" altLang="en-US" dirty="0"/>
              <a:t>暫存器 </a:t>
            </a:r>
            <a:r>
              <a:rPr lang="en-US" altLang="zh-TW" dirty="0"/>
              <a:t>(registers) </a:t>
            </a:r>
            <a:r>
              <a:rPr lang="zh-TW" altLang="en-US" dirty="0"/>
              <a:t>的內容。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142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這裡強調，每個 </a:t>
            </a:r>
            <a:r>
              <a:rPr lang="en-US" altLang="zh-TW" dirty="0"/>
              <a:t>process </a:t>
            </a:r>
            <a:r>
              <a:rPr lang="zh-TW" altLang="en-US" dirty="0"/>
              <a:t>在記憶體裡都有自己的 </a:t>
            </a:r>
            <a:r>
              <a:rPr lang="en-US" altLang="zh-TW" dirty="0"/>
              <a:t>base address</a:t>
            </a:r>
            <a:r>
              <a:rPr lang="zh-TW" altLang="en-US" dirty="0"/>
              <a:t>。這是為什麼即使有多個 </a:t>
            </a:r>
            <a:r>
              <a:rPr lang="en-US" altLang="zh-TW" dirty="0"/>
              <a:t>process </a:t>
            </a:r>
            <a:r>
              <a:rPr lang="zh-TW" altLang="en-US" dirty="0"/>
              <a:t>同時執行，它們之間的記憶體是隔離的，不會互相干擾。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749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463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一個 </a:t>
            </a:r>
            <a:r>
              <a:rPr lang="en-US" altLang="zh-TW" dirty="0"/>
              <a:t>process </a:t>
            </a:r>
            <a:r>
              <a:rPr lang="zh-TW" altLang="en-US" dirty="0"/>
              <a:t>可以建立其他 </a:t>
            </a:r>
            <a:r>
              <a:rPr lang="en-US" altLang="zh-TW" dirty="0"/>
              <a:t>process</a:t>
            </a:r>
            <a:r>
              <a:rPr lang="zh-TW" altLang="en-US" dirty="0"/>
              <a:t>，這就是 </a:t>
            </a:r>
            <a:r>
              <a:rPr lang="en-US" altLang="zh-TW" b="1" dirty="0"/>
              <a:t>parent process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b="1" dirty="0"/>
              <a:t>child process</a:t>
            </a:r>
            <a:r>
              <a:rPr lang="en-US" altLang="zh-TW" dirty="0"/>
              <a:t> </a:t>
            </a:r>
            <a:r>
              <a:rPr lang="zh-TW" altLang="en-US" dirty="0"/>
              <a:t>的關係。</a:t>
            </a:r>
            <a:br>
              <a:rPr lang="zh-TW" altLang="en-US" dirty="0"/>
            </a:br>
            <a:r>
              <a:rPr lang="zh-TW" altLang="en-US" dirty="0"/>
              <a:t>父 </a:t>
            </a:r>
            <a:r>
              <a:rPr lang="en-US" altLang="zh-TW" dirty="0"/>
              <a:t>process </a:t>
            </a:r>
            <a:r>
              <a:rPr lang="zh-TW" altLang="en-US" dirty="0"/>
              <a:t>建立子 </a:t>
            </a:r>
            <a:r>
              <a:rPr lang="en-US" altLang="zh-TW" dirty="0"/>
              <a:t>process</a:t>
            </a:r>
            <a:r>
              <a:rPr lang="zh-TW" altLang="en-US" dirty="0"/>
              <a:t>，子 </a:t>
            </a:r>
            <a:r>
              <a:rPr lang="en-US" altLang="zh-TW" dirty="0"/>
              <a:t>process </a:t>
            </a:r>
            <a:r>
              <a:rPr lang="zh-TW" altLang="en-US" dirty="0"/>
              <a:t>也可以再建立更多子 </a:t>
            </a:r>
            <a:r>
              <a:rPr lang="en-US" altLang="zh-TW" dirty="0"/>
              <a:t>process</a:t>
            </a:r>
            <a:r>
              <a:rPr lang="zh-TW" altLang="en-US" dirty="0"/>
              <a:t>，最後形成一棵 </a:t>
            </a:r>
            <a:r>
              <a:rPr lang="en-US" altLang="zh-TW" b="1" dirty="0"/>
              <a:t>process tree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047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最重要的系統呼叫之一就是 </a:t>
            </a:r>
            <a:r>
              <a:rPr lang="en-US" altLang="zh-TW" b="1" dirty="0"/>
              <a:t>fork()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它會建立一個新的 </a:t>
            </a:r>
            <a:r>
              <a:rPr lang="en-US" altLang="zh-TW" dirty="0"/>
              <a:t>child process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如果成功，會回傳 </a:t>
            </a:r>
            <a:r>
              <a:rPr lang="en-US" altLang="zh-TW" dirty="0"/>
              <a:t>child </a:t>
            </a:r>
            <a:r>
              <a:rPr lang="zh-TW" altLang="en-US" dirty="0"/>
              <a:t>的 </a:t>
            </a:r>
            <a:r>
              <a:rPr lang="en-US" altLang="zh-TW" dirty="0"/>
              <a:t>process ID</a:t>
            </a:r>
            <a:r>
              <a:rPr lang="zh-TW" altLang="en-US" dirty="0"/>
              <a:t>；失敗則回傳 </a:t>
            </a:r>
            <a:r>
              <a:rPr lang="en-US" altLang="zh-TW" dirty="0"/>
              <a:t>-1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fork </a:t>
            </a:r>
            <a:r>
              <a:rPr lang="zh-TW" altLang="en-US" dirty="0"/>
              <a:t>會把 </a:t>
            </a:r>
            <a:r>
              <a:rPr lang="en-US" altLang="zh-TW" dirty="0"/>
              <a:t>parent </a:t>
            </a:r>
            <a:r>
              <a:rPr lang="zh-TW" altLang="en-US" dirty="0"/>
              <a:t>的記憶體「複製」給 </a:t>
            </a:r>
            <a:r>
              <a:rPr lang="en-US" altLang="zh-TW" dirty="0"/>
              <a:t>child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fork </a:t>
            </a:r>
            <a:r>
              <a:rPr lang="zh-TW" altLang="en-US" dirty="0"/>
              <a:t>之後，</a:t>
            </a:r>
            <a:r>
              <a:rPr lang="en-US" altLang="zh-TW" dirty="0"/>
              <a:t>parent </a:t>
            </a:r>
            <a:r>
              <a:rPr lang="zh-TW" altLang="en-US" dirty="0"/>
              <a:t>和 </a:t>
            </a:r>
            <a:r>
              <a:rPr lang="en-US" altLang="zh-TW" dirty="0"/>
              <a:t>child </a:t>
            </a:r>
            <a:r>
              <a:rPr lang="zh-TW" altLang="en-US" dirty="0"/>
              <a:t>會從同一行程式碼繼續往下執行，但各自有獨立的記憶體空間。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763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對於每個</a:t>
            </a:r>
            <a:r>
              <a:rPr lang="en-US" altLang="zh-TW" dirty="0"/>
              <a:t>process </a:t>
            </a:r>
            <a:r>
              <a:rPr lang="zh-TW" altLang="en-US" dirty="0"/>
              <a:t>，</a:t>
            </a:r>
            <a:r>
              <a:rPr lang="en-US" altLang="zh-TW" dirty="0"/>
              <a:t>Unix</a:t>
            </a:r>
            <a:r>
              <a:rPr lang="zh-TW" altLang="en-US" dirty="0"/>
              <a:t>會使用一個</a:t>
            </a:r>
            <a:r>
              <a:rPr lang="en-US" altLang="zh-TW" dirty="0"/>
              <a:t>unique</a:t>
            </a:r>
            <a:r>
              <a:rPr lang="zh-TW" altLang="en-US" dirty="0"/>
              <a:t>的整數去辨別他們 ，這個整數也稱為</a:t>
            </a:r>
            <a:r>
              <a:rPr lang="en-US" altLang="zh-TW" dirty="0"/>
              <a:t>process ID</a:t>
            </a:r>
          </a:p>
          <a:p>
            <a:endParaRPr lang="en-US" altLang="zh-TW" dirty="0"/>
          </a:p>
          <a:p>
            <a:r>
              <a:rPr lang="zh-TW" altLang="en-US" dirty="0"/>
              <a:t>每個</a:t>
            </a:r>
            <a:r>
              <a:rPr lang="en-US" altLang="zh-TW" dirty="0"/>
              <a:t>process </a:t>
            </a:r>
            <a:r>
              <a:rPr lang="zh-TW" altLang="en-US" dirty="0"/>
              <a:t>都有一個</a:t>
            </a:r>
            <a:r>
              <a:rPr lang="en-US" altLang="zh-TW" dirty="0"/>
              <a:t>Parent  ID</a:t>
            </a:r>
            <a:r>
              <a:rPr lang="zh-TW" altLang="en-US" dirty="0"/>
              <a:t>，也就是創造他們的那個</a:t>
            </a:r>
            <a:r>
              <a:rPr lang="en-US" altLang="zh-TW" dirty="0"/>
              <a:t>process</a:t>
            </a:r>
            <a:r>
              <a:rPr lang="zh-TW" altLang="en-US" dirty="0"/>
              <a:t>的</a:t>
            </a:r>
            <a:r>
              <a:rPr lang="en-US" altLang="zh-TW" dirty="0"/>
              <a:t>ID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906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245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Initial process</a:t>
            </a:r>
            <a:r>
              <a:rPr lang="zh-TW" altLang="en-US" dirty="0"/>
              <a:t>呼叫</a:t>
            </a:r>
            <a:r>
              <a:rPr lang="en-US" altLang="zh-TW" dirty="0"/>
              <a:t>fork()</a:t>
            </a:r>
            <a:r>
              <a:rPr lang="zh-TW" altLang="en-US" dirty="0"/>
              <a:t>後會建立子</a:t>
            </a:r>
            <a:r>
              <a:rPr lang="en-US" altLang="zh-TW" dirty="0"/>
              <a:t>process</a:t>
            </a:r>
          </a:p>
          <a:p>
            <a:r>
              <a:rPr lang="zh-TW" altLang="en-US" dirty="0"/>
              <a:t>而</a:t>
            </a:r>
            <a:r>
              <a:rPr lang="en-US" altLang="zh-TW" dirty="0"/>
              <a:t>fork()</a:t>
            </a:r>
            <a:r>
              <a:rPr lang="zh-TW" altLang="en-US" dirty="0"/>
              <a:t> </a:t>
            </a:r>
            <a:r>
              <a:rPr lang="en-US" altLang="zh-TW" dirty="0"/>
              <a:t>function</a:t>
            </a:r>
            <a:r>
              <a:rPr lang="zh-TW" altLang="en-US" dirty="0"/>
              <a:t>會有回傳值</a:t>
            </a:r>
            <a:endParaRPr lang="en-US" altLang="zh-TW" dirty="0"/>
          </a:p>
          <a:p>
            <a:r>
              <a:rPr lang="zh-TW" altLang="en-US" dirty="0"/>
              <a:t>會</a:t>
            </a:r>
            <a:r>
              <a:rPr lang="en-US" altLang="zh-TW" dirty="0"/>
              <a:t>return child</a:t>
            </a:r>
            <a:r>
              <a:rPr lang="zh-TW" altLang="en-US" dirty="0"/>
              <a:t> </a:t>
            </a:r>
            <a:r>
              <a:rPr lang="en-US" altLang="zh-TW" dirty="0"/>
              <a:t>PID</a:t>
            </a:r>
            <a:r>
              <a:rPr lang="zh-TW" altLang="en-US" dirty="0"/>
              <a:t>給</a:t>
            </a:r>
            <a:r>
              <a:rPr lang="en-US" altLang="zh-TW" dirty="0"/>
              <a:t>parent process</a:t>
            </a:r>
          </a:p>
          <a:p>
            <a:r>
              <a:rPr lang="zh-TW" altLang="en-US" dirty="0"/>
              <a:t>會</a:t>
            </a:r>
            <a:r>
              <a:rPr lang="en-US" altLang="zh-TW" dirty="0"/>
              <a:t>return 0</a:t>
            </a:r>
            <a:r>
              <a:rPr lang="zh-TW" altLang="en-US" dirty="0"/>
              <a:t> </a:t>
            </a:r>
            <a:r>
              <a:rPr lang="en-US" altLang="zh-TW" dirty="0"/>
              <a:t> </a:t>
            </a:r>
            <a:r>
              <a:rPr lang="zh-TW" altLang="en-US" dirty="0"/>
              <a:t>給 </a:t>
            </a:r>
            <a:r>
              <a:rPr lang="en-US" altLang="zh-TW" dirty="0"/>
              <a:t>child process</a:t>
            </a:r>
            <a:r>
              <a:rPr lang="zh-TW" altLang="en-US" dirty="0"/>
              <a:t>，</a:t>
            </a:r>
            <a:r>
              <a:rPr lang="en-US" altLang="zh-TW" dirty="0"/>
              <a:t>0 </a:t>
            </a:r>
            <a:r>
              <a:rPr lang="zh-TW" altLang="en-US" dirty="0"/>
              <a:t>在這裡不是一個真實的 </a:t>
            </a:r>
            <a:r>
              <a:rPr lang="en-US" altLang="zh-TW" dirty="0"/>
              <a:t>PID</a:t>
            </a:r>
            <a:r>
              <a:rPr lang="zh-TW" altLang="en-US" dirty="0"/>
              <a:t>，它單純是一個標記，明確告訴這個 </a:t>
            </a:r>
            <a:r>
              <a:rPr lang="en-US" altLang="zh-TW" dirty="0"/>
              <a:t>Process</a:t>
            </a:r>
            <a:r>
              <a:rPr lang="zh-TW" altLang="en-US" dirty="0"/>
              <a:t>：「你是剛剛被複製出來的</a:t>
            </a:r>
            <a:r>
              <a:rPr lang="en-US" altLang="zh-TW" dirty="0"/>
              <a:t>child process</a:t>
            </a:r>
            <a:r>
              <a:rPr lang="zh-TW" altLang="en-US" dirty="0"/>
              <a:t>」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760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735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632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 </a:t>
            </a:r>
            <a:r>
              <a:rPr lang="en-US" altLang="zh-TW" b="1" dirty="0"/>
              <a:t>wait()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當 </a:t>
            </a:r>
            <a:r>
              <a:rPr lang="en-US" altLang="zh-TW" dirty="0"/>
              <a:t>parent </a:t>
            </a:r>
            <a:r>
              <a:rPr lang="zh-TW" altLang="en-US" dirty="0"/>
              <a:t>呼叫 </a:t>
            </a:r>
            <a:r>
              <a:rPr lang="en-US" altLang="zh-TW" dirty="0"/>
              <a:t>wait()</a:t>
            </a:r>
            <a:r>
              <a:rPr lang="zh-TW" altLang="en-US" dirty="0"/>
              <a:t>，它會停下來，直到 </a:t>
            </a:r>
            <a:r>
              <a:rPr lang="en-US" altLang="zh-TW" dirty="0"/>
              <a:t>child </a:t>
            </a:r>
            <a:r>
              <a:rPr lang="zh-TW" altLang="en-US" dirty="0"/>
              <a:t>結束。</a:t>
            </a:r>
          </a:p>
          <a:p>
            <a:r>
              <a:rPr lang="en-US" altLang="zh-TW" dirty="0"/>
              <a:t>wait() </a:t>
            </a:r>
            <a:r>
              <a:rPr lang="zh-TW" altLang="en-US" dirty="0"/>
              <a:t>會回傳 </a:t>
            </a:r>
            <a:r>
              <a:rPr lang="en-US" altLang="zh-TW" dirty="0"/>
              <a:t>child </a:t>
            </a:r>
            <a:r>
              <a:rPr lang="zh-TW" altLang="en-US" dirty="0"/>
              <a:t>的 </a:t>
            </a:r>
            <a:r>
              <a:rPr lang="en-US" altLang="zh-TW" dirty="0"/>
              <a:t>PID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如果失敗則回傳 </a:t>
            </a:r>
            <a:r>
              <a:rPr lang="en-US" altLang="zh-TW" dirty="0"/>
              <a:t>-1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421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多次</a:t>
            </a:r>
            <a:r>
              <a:rPr lang="en-US" altLang="zh-TW" dirty="0"/>
              <a:t>fork()</a:t>
            </a:r>
            <a:r>
              <a:rPr lang="zh-TW" altLang="en-US" dirty="0"/>
              <a:t>搭配</a:t>
            </a:r>
            <a:r>
              <a:rPr lang="en-US" altLang="zh-TW" dirty="0"/>
              <a:t>wait()</a:t>
            </a:r>
            <a:r>
              <a:rPr lang="zh-TW" altLang="en-US" dirty="0"/>
              <a:t>的範例</a:t>
            </a:r>
            <a:endParaRPr lang="en-US" altLang="zh-TW" dirty="0"/>
          </a:p>
          <a:p>
            <a:r>
              <a:rPr lang="zh-TW" altLang="en-US" dirty="0"/>
              <a:t>我們先看到左邊的輸出順序為</a:t>
            </a:r>
            <a:r>
              <a:rPr lang="en-US" altLang="zh-TW" dirty="0"/>
              <a:t>child1,</a:t>
            </a:r>
            <a:r>
              <a:rPr lang="zh-TW" altLang="en-US" dirty="0"/>
              <a:t>接著</a:t>
            </a:r>
            <a:r>
              <a:rPr lang="en-US" altLang="zh-TW" dirty="0"/>
              <a:t>child2,</a:t>
            </a:r>
            <a:r>
              <a:rPr lang="zh-TW" altLang="en-US" dirty="0"/>
              <a:t>最後是</a:t>
            </a:r>
            <a:r>
              <a:rPr lang="en-US" altLang="zh-TW" dirty="0"/>
              <a:t>parent process</a:t>
            </a:r>
          </a:p>
          <a:p>
            <a:endParaRPr lang="en-US" altLang="zh-TW" dirty="0"/>
          </a:p>
          <a:p>
            <a:r>
              <a:rPr lang="zh-TW" altLang="en-US" dirty="0"/>
              <a:t>看程式碼的部分，遇到第一個</a:t>
            </a:r>
            <a:r>
              <a:rPr lang="en-US" altLang="zh-TW" dirty="0"/>
              <a:t>fork()</a:t>
            </a:r>
            <a:r>
              <a:rPr lang="zh-TW" altLang="en-US" dirty="0"/>
              <a:t>之後，生出 </a:t>
            </a:r>
            <a:r>
              <a:rPr lang="en-US" altLang="zh-TW" dirty="0"/>
              <a:t>child1</a:t>
            </a:r>
            <a:r>
              <a:rPr lang="zh-TW" altLang="en-US" dirty="0"/>
              <a:t>且它的回傳值是</a:t>
            </a:r>
            <a:r>
              <a:rPr lang="en-US" altLang="zh-TW" dirty="0"/>
              <a:t>0</a:t>
            </a:r>
            <a:r>
              <a:rPr lang="zh-TW" altLang="en-US" dirty="0"/>
              <a:t> 執行</a:t>
            </a:r>
            <a:r>
              <a:rPr lang="en-US" altLang="zh-TW" dirty="0"/>
              <a:t>if</a:t>
            </a:r>
            <a:r>
              <a:rPr lang="zh-TW" altLang="en-US" dirty="0"/>
              <a:t>中的內容，</a:t>
            </a:r>
            <a:r>
              <a:rPr lang="en-US" altLang="zh-TW" dirty="0"/>
              <a:t>parent</a:t>
            </a:r>
            <a:r>
              <a:rPr lang="zh-TW" altLang="en-US" dirty="0"/>
              <a:t>繼續往下執行</a:t>
            </a:r>
            <a:endParaRPr lang="en-US" altLang="zh-TW" dirty="0"/>
          </a:p>
          <a:p>
            <a:r>
              <a:rPr lang="zh-TW" altLang="en-US" dirty="0"/>
              <a:t>遇到第二個</a:t>
            </a:r>
            <a:r>
              <a:rPr lang="en-US" altLang="zh-TW" dirty="0"/>
              <a:t>fork()</a:t>
            </a:r>
            <a:r>
              <a:rPr lang="zh-TW" altLang="en-US" dirty="0"/>
              <a:t>，生出</a:t>
            </a:r>
            <a:r>
              <a:rPr lang="en-US" altLang="zh-TW" dirty="0"/>
              <a:t>child 2</a:t>
            </a:r>
            <a:r>
              <a:rPr lang="zh-TW" altLang="en-US" dirty="0"/>
              <a:t> 同樣執行</a:t>
            </a:r>
            <a:r>
              <a:rPr lang="en-US" altLang="zh-TW" dirty="0"/>
              <a:t>if</a:t>
            </a:r>
            <a:r>
              <a:rPr lang="zh-TW" altLang="en-US" dirty="0"/>
              <a:t>中的內容，</a:t>
            </a:r>
            <a:r>
              <a:rPr lang="en-US" altLang="zh-TW" dirty="0"/>
              <a:t>parent</a:t>
            </a:r>
            <a:r>
              <a:rPr lang="zh-TW" altLang="en-US" dirty="0"/>
              <a:t>繼續往下執行</a:t>
            </a:r>
            <a:endParaRPr lang="en-US" altLang="zh-TW" dirty="0"/>
          </a:p>
          <a:p>
            <a:r>
              <a:rPr lang="en-US" altLang="zh-TW" dirty="0"/>
              <a:t>parent</a:t>
            </a:r>
            <a:r>
              <a:rPr lang="zh-TW" altLang="en-US" dirty="0"/>
              <a:t>遇到兩個</a:t>
            </a:r>
            <a:r>
              <a:rPr lang="en-US" altLang="zh-TW" dirty="0"/>
              <a:t>wait()</a:t>
            </a:r>
            <a:r>
              <a:rPr lang="zh-TW" altLang="en-US" dirty="0"/>
              <a:t>表示要等待兩個</a:t>
            </a:r>
            <a:r>
              <a:rPr lang="en-US" altLang="zh-TW" dirty="0"/>
              <a:t>child process</a:t>
            </a:r>
            <a:r>
              <a:rPr lang="zh-TW" altLang="en-US" dirty="0"/>
              <a:t>結束後才會繼續往下執行</a:t>
            </a:r>
            <a:endParaRPr lang="en-US" altLang="zh-TW" dirty="0"/>
          </a:p>
          <a:p>
            <a:r>
              <a:rPr lang="zh-TW" altLang="en-US" dirty="0"/>
              <a:t>最後印出</a:t>
            </a:r>
            <a:r>
              <a:rPr lang="en-US" altLang="zh-TW" dirty="0"/>
              <a:t>parent process</a:t>
            </a:r>
          </a:p>
          <a:p>
            <a:endParaRPr lang="en-US" altLang="zh-TW" dirty="0"/>
          </a:p>
          <a:p>
            <a:r>
              <a:rPr lang="zh-TW" altLang="en-US" dirty="0"/>
              <a:t>這邊要說明我們只能保證</a:t>
            </a:r>
            <a:r>
              <a:rPr lang="en-US" altLang="zh-TW" dirty="0"/>
              <a:t>parent process</a:t>
            </a:r>
            <a:r>
              <a:rPr lang="zh-TW" altLang="en-US" dirty="0"/>
              <a:t>是最後輸出的，因為它有兩個</a:t>
            </a:r>
            <a:r>
              <a:rPr lang="en-US" altLang="zh-TW" dirty="0"/>
              <a:t>wait()</a:t>
            </a:r>
            <a:r>
              <a:rPr lang="zh-TW" altLang="en-US" dirty="0"/>
              <a:t>必須等待兩個</a:t>
            </a:r>
            <a:r>
              <a:rPr lang="en-US" altLang="zh-TW" dirty="0"/>
              <a:t>child</a:t>
            </a:r>
            <a:r>
              <a:rPr lang="zh-TW" altLang="en-US" dirty="0"/>
              <a:t>結束後才能繼續往下執行</a:t>
            </a:r>
            <a:endParaRPr lang="en-US" altLang="zh-TW" dirty="0"/>
          </a:p>
          <a:p>
            <a:r>
              <a:rPr lang="en-US" altLang="zh-TW" dirty="0"/>
              <a:t>OS</a:t>
            </a:r>
            <a:r>
              <a:rPr lang="zh-TW" altLang="en-US" dirty="0"/>
              <a:t>會將這三個</a:t>
            </a:r>
            <a:r>
              <a:rPr lang="en-US" altLang="zh-TW" dirty="0"/>
              <a:t>process</a:t>
            </a:r>
            <a:r>
              <a:rPr lang="zh-TW" altLang="en-US" dirty="0"/>
              <a:t>視為獨立個體，誰先執行是看</a:t>
            </a:r>
            <a:r>
              <a:rPr lang="en-US" altLang="zh-TW" dirty="0"/>
              <a:t>OS</a:t>
            </a:r>
            <a:r>
              <a:rPr lang="zh-TW" altLang="en-US" dirty="0"/>
              <a:t>中的</a:t>
            </a:r>
            <a:r>
              <a:rPr lang="en-US" altLang="zh-TW" dirty="0" err="1"/>
              <a:t>cpu</a:t>
            </a:r>
            <a:r>
              <a:rPr lang="en-US" altLang="zh-TW" dirty="0"/>
              <a:t> scheduler</a:t>
            </a:r>
            <a:r>
              <a:rPr lang="zh-TW" altLang="en-US" dirty="0"/>
              <a:t> 決定，這個例子因為程式太短了在</a:t>
            </a:r>
            <a:r>
              <a:rPr lang="en-US" altLang="zh-TW" dirty="0"/>
              <a:t>parent</a:t>
            </a:r>
            <a:r>
              <a:rPr lang="zh-TW" altLang="en-US" dirty="0"/>
              <a:t>生出</a:t>
            </a:r>
            <a:r>
              <a:rPr lang="en-US" altLang="zh-TW" dirty="0"/>
              <a:t>child2</a:t>
            </a:r>
          </a:p>
          <a:p>
            <a:r>
              <a:rPr lang="zh-TW" altLang="en-US" dirty="0"/>
              <a:t>那個瞬間，</a:t>
            </a:r>
            <a:r>
              <a:rPr lang="en-US" altLang="zh-TW" dirty="0"/>
              <a:t>child1</a:t>
            </a:r>
            <a:r>
              <a:rPr lang="zh-TW" altLang="en-US" dirty="0"/>
              <a:t>可能已經拿到</a:t>
            </a:r>
            <a:r>
              <a:rPr lang="en-US" altLang="zh-TW" dirty="0"/>
              <a:t>CPU</a:t>
            </a:r>
            <a:r>
              <a:rPr lang="zh-TW" altLang="en-US" dirty="0"/>
              <a:t>並執行完畢了，當程式比較大且複雜就會有</a:t>
            </a:r>
            <a:r>
              <a:rPr lang="en-US" altLang="zh-TW" dirty="0"/>
              <a:t>Race </a:t>
            </a:r>
            <a:r>
              <a:rPr lang="en-US" altLang="zh-TW" dirty="0" err="1"/>
              <a:t>condiction</a:t>
            </a:r>
            <a:r>
              <a:rPr lang="zh-TW" altLang="en-US" dirty="0"/>
              <a:t>，因此多個 </a:t>
            </a:r>
            <a:r>
              <a:rPr lang="en-US" altLang="zh-TW" dirty="0"/>
              <a:t>child process </a:t>
            </a:r>
            <a:r>
              <a:rPr lang="zh-TW" altLang="en-US" dirty="0"/>
              <a:t>的執行與輸出順序是</a:t>
            </a:r>
            <a:r>
              <a:rPr lang="zh-TW" altLang="en-US" b="1" dirty="0"/>
              <a:t>非決定性的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083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737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再來是 </a:t>
            </a:r>
            <a:r>
              <a:rPr lang="en-US" altLang="zh-TW" b="1" dirty="0"/>
              <a:t>exec()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fork </a:t>
            </a:r>
            <a:r>
              <a:rPr lang="zh-TW" altLang="en-US" dirty="0"/>
              <a:t>只會複製一個新的 </a:t>
            </a:r>
            <a:r>
              <a:rPr lang="en-US" altLang="zh-TW" dirty="0"/>
              <a:t>process</a:t>
            </a:r>
            <a:r>
              <a:rPr lang="zh-TW" altLang="en-US" dirty="0"/>
              <a:t>，但 </a:t>
            </a:r>
            <a:r>
              <a:rPr lang="en-US" altLang="zh-TW" dirty="0"/>
              <a:t>parent </a:t>
            </a:r>
            <a:r>
              <a:rPr lang="zh-TW" altLang="en-US" dirty="0"/>
              <a:t>和 </a:t>
            </a:r>
            <a:r>
              <a:rPr lang="en-US" altLang="zh-TW" dirty="0"/>
              <a:t>child </a:t>
            </a:r>
            <a:r>
              <a:rPr lang="zh-TW" altLang="en-US" dirty="0"/>
              <a:t>內容一樣。</a:t>
            </a:r>
          </a:p>
          <a:p>
            <a:r>
              <a:rPr lang="zh-TW" altLang="en-US" dirty="0"/>
              <a:t>如果我們希望 </a:t>
            </a:r>
            <a:r>
              <a:rPr lang="en-US" altLang="zh-TW" dirty="0"/>
              <a:t>child </a:t>
            </a:r>
            <a:r>
              <a:rPr lang="zh-TW" altLang="en-US" dirty="0"/>
              <a:t>執行不同程式，就要用 </a:t>
            </a:r>
            <a:r>
              <a:rPr lang="en-US" altLang="zh-TW" dirty="0"/>
              <a:t>exec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exec </a:t>
            </a:r>
            <a:r>
              <a:rPr lang="zh-TW" altLang="en-US" dirty="0"/>
              <a:t>系列函式會用新的程式「覆蓋」目前的 </a:t>
            </a:r>
            <a:r>
              <a:rPr lang="en-US" altLang="zh-TW" dirty="0"/>
              <a:t>process image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常見的模式是：</a:t>
            </a:r>
          </a:p>
          <a:p>
            <a:r>
              <a:rPr lang="en-US" altLang="zh-TW" dirty="0"/>
              <a:t>parent </a:t>
            </a:r>
            <a:r>
              <a:rPr lang="zh-TW" altLang="en-US" dirty="0"/>
              <a:t>呼叫 </a:t>
            </a:r>
            <a:r>
              <a:rPr lang="en-US" altLang="zh-TW" dirty="0"/>
              <a:t>fork() </a:t>
            </a:r>
            <a:r>
              <a:rPr lang="zh-TW" altLang="en-US" dirty="0"/>
              <a:t>建立 </a:t>
            </a:r>
            <a:r>
              <a:rPr lang="en-US" altLang="zh-TW" dirty="0"/>
              <a:t>child</a:t>
            </a:r>
          </a:p>
          <a:p>
            <a:r>
              <a:rPr lang="en-US" altLang="zh-TW" dirty="0"/>
              <a:t>child </a:t>
            </a:r>
            <a:r>
              <a:rPr lang="zh-TW" altLang="en-US" dirty="0"/>
              <a:t>呼叫 </a:t>
            </a:r>
            <a:r>
              <a:rPr lang="en-US" altLang="zh-TW" dirty="0"/>
              <a:t>exec() </a:t>
            </a:r>
            <a:r>
              <a:rPr lang="zh-TW" altLang="en-US" dirty="0"/>
              <a:t>執行新程式</a:t>
            </a:r>
          </a:p>
          <a:p>
            <a:r>
              <a:rPr lang="en-US" altLang="zh-TW" dirty="0"/>
              <a:t>parent </a:t>
            </a:r>
            <a:r>
              <a:rPr lang="zh-TW" altLang="en-US" dirty="0"/>
              <a:t>繼續原來的程式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0335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850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這裡展示 </a:t>
            </a:r>
            <a:r>
              <a:rPr lang="en-US" altLang="zh-TW" dirty="0"/>
              <a:t>exec </a:t>
            </a:r>
            <a:r>
              <a:rPr lang="zh-TW" altLang="en-US" dirty="0"/>
              <a:t>的示意圖與程式碼。</a:t>
            </a:r>
          </a:p>
          <a:p>
            <a:r>
              <a:rPr lang="zh-TW" altLang="en-US" dirty="0"/>
              <a:t>例如 </a:t>
            </a:r>
            <a:r>
              <a:rPr lang="en-US" altLang="zh-TW" dirty="0" err="1"/>
              <a:t>execlp</a:t>
            </a:r>
            <a:r>
              <a:rPr lang="en-US" altLang="zh-TW" dirty="0"/>
              <a:t>() </a:t>
            </a:r>
            <a:r>
              <a:rPr lang="zh-TW" altLang="en-US" dirty="0"/>
              <a:t>可以直接執行一個外部程式，並傳入參數。</a:t>
            </a:r>
          </a:p>
          <a:p>
            <a:r>
              <a:rPr lang="zh-TW" altLang="en-US" dirty="0"/>
              <a:t>如果 </a:t>
            </a:r>
            <a:r>
              <a:rPr lang="en-US" altLang="zh-TW" dirty="0"/>
              <a:t>exec </a:t>
            </a:r>
            <a:r>
              <a:rPr lang="zh-TW" altLang="en-US" dirty="0"/>
              <a:t>成功，原本的程式碼就不會再繼續執行。</a:t>
            </a:r>
          </a:p>
          <a:p>
            <a:r>
              <a:rPr lang="zh-TW" altLang="en-US" b="1" dirty="0"/>
              <a:t>第 </a:t>
            </a:r>
            <a:r>
              <a:rPr lang="en-US" altLang="zh-TW" b="1" dirty="0"/>
              <a:t>1 </a:t>
            </a:r>
            <a:r>
              <a:rPr lang="zh-TW" altLang="en-US" b="1" dirty="0"/>
              <a:t>個參數和第 </a:t>
            </a:r>
            <a:r>
              <a:rPr lang="en-US" altLang="zh-TW" b="1" dirty="0"/>
              <a:t>2 </a:t>
            </a:r>
            <a:r>
              <a:rPr lang="zh-TW" altLang="en-US" b="1" dirty="0"/>
              <a:t>個參數通常長得一樣：</a:t>
            </a:r>
            <a:r>
              <a:rPr lang="zh-TW" altLang="en-US" dirty="0"/>
              <a:t> 第一個參數是「你要系統去 </a:t>
            </a:r>
            <a:r>
              <a:rPr lang="en-US" altLang="zh-TW" dirty="0"/>
              <a:t>PATH(</a:t>
            </a:r>
            <a:r>
              <a:rPr lang="zh-TW" altLang="en-US" dirty="0"/>
              <a:t>環境變數</a:t>
            </a:r>
            <a:r>
              <a:rPr lang="en-US" altLang="zh-TW" dirty="0"/>
              <a:t>) </a:t>
            </a:r>
            <a:r>
              <a:rPr lang="zh-TW" altLang="en-US" dirty="0"/>
              <a:t>找什麼檔案」，第二個參數是「傳給這支新程式的 </a:t>
            </a:r>
            <a:r>
              <a:rPr lang="en-US" altLang="zh-TW" dirty="0" err="1"/>
              <a:t>argv</a:t>
            </a:r>
            <a:r>
              <a:rPr lang="en-US" altLang="zh-TW" dirty="0"/>
              <a:t>[0]</a:t>
            </a:r>
            <a:r>
              <a:rPr lang="zh-TW" altLang="en-US" dirty="0"/>
              <a:t>（程式名稱）」。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381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 </a:t>
            </a:r>
            <a:r>
              <a:rPr lang="en-US" altLang="zh-TW" b="1" dirty="0" err="1"/>
              <a:t>execlp</a:t>
            </a:r>
            <a:r>
              <a:rPr lang="en-US" altLang="zh-TW" b="1" dirty="0"/>
              <a:t> </a:t>
            </a:r>
            <a:r>
              <a:rPr lang="zh-TW" altLang="en-US" b="1" dirty="0"/>
              <a:t>的第一個參數是「去哪裡找程式」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b="1" dirty="0"/>
              <a:t>第二個參數開始是「這個程式的命令列參數」</a:t>
            </a:r>
            <a:r>
              <a:rPr lang="zh-TW" altLang="en-US" dirty="0"/>
              <a:t>，依照慣例第一個必須是「程式自己的名字」，再來我們給的參數是</a:t>
            </a:r>
            <a:r>
              <a:rPr lang="en-US" altLang="zh-TW" dirty="0"/>
              <a:t>-l </a:t>
            </a:r>
            <a:r>
              <a:rPr lang="zh-TW" altLang="en-US" dirty="0"/>
              <a:t>以長格式列表顯示詳細資訊</a:t>
            </a:r>
            <a:br>
              <a:rPr lang="zh-TW" altLang="en-US" dirty="0"/>
            </a:br>
            <a:r>
              <a:rPr lang="zh-TW" altLang="en-US" b="1" dirty="0"/>
              <a:t>最後一定要 </a:t>
            </a:r>
            <a:r>
              <a:rPr lang="en-US" altLang="zh-TW" b="1" dirty="0"/>
              <a:t>NULL </a:t>
            </a:r>
            <a:r>
              <a:rPr lang="zh-TW" altLang="en-US" b="1" dirty="0"/>
              <a:t>結尾</a:t>
            </a:r>
            <a:r>
              <a:rPr lang="zh-TW" altLang="en-US" dirty="0"/>
              <a:t>。這是告訴作業系統「我的參數到此為止」的重要標記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b="1" dirty="0"/>
              <a:t>l (list)</a:t>
            </a:r>
            <a:r>
              <a:rPr lang="zh-TW" altLang="en-US" dirty="0"/>
              <a:t>：代表參數是用「列舉 </a:t>
            </a:r>
            <a:r>
              <a:rPr lang="en-US" altLang="zh-TW" dirty="0"/>
              <a:t>(List)</a:t>
            </a:r>
            <a:r>
              <a:rPr lang="zh-TW" altLang="en-US" dirty="0"/>
              <a:t>」的方式一個一個傳進去的。</a:t>
            </a:r>
          </a:p>
          <a:p>
            <a:r>
              <a:rPr lang="en-US" altLang="zh-TW" b="1" dirty="0"/>
              <a:t>p (path)</a:t>
            </a:r>
            <a:r>
              <a:rPr lang="zh-TW" altLang="en-US" dirty="0"/>
              <a:t>：代表作業系統會自動去環境變數 </a:t>
            </a:r>
            <a:r>
              <a:rPr lang="en-US" altLang="zh-TW" dirty="0"/>
              <a:t>PATH</a:t>
            </a:r>
            <a:r>
              <a:rPr lang="zh-TW" altLang="en-US" dirty="0"/>
              <a:t>裡面的各個資料夾，幫你把這支程式找出來，所以你</a:t>
            </a:r>
            <a:r>
              <a:rPr lang="zh-TW" altLang="en-US" b="1" dirty="0"/>
              <a:t>不需要打絕對路徑</a:t>
            </a:r>
            <a:r>
              <a:rPr lang="zh-TW" altLang="en-US" dirty="0"/>
              <a:t>（例如你只要打 </a:t>
            </a:r>
            <a:r>
              <a:rPr lang="en-US" altLang="zh-TW" dirty="0"/>
              <a:t>"ls"</a:t>
            </a:r>
            <a:r>
              <a:rPr lang="zh-TW" altLang="en-US" dirty="0"/>
              <a:t>，不用打 </a:t>
            </a:r>
            <a:r>
              <a:rPr lang="en-US" altLang="zh-TW" dirty="0"/>
              <a:t>"/bin/ls"</a:t>
            </a:r>
            <a:r>
              <a:rPr lang="zh-TW" altLang="en-US" dirty="0"/>
              <a:t>）。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這邊</a:t>
            </a:r>
            <a:r>
              <a:rPr lang="en-US" altLang="zh-TW" dirty="0"/>
              <a:t>child process </a:t>
            </a:r>
            <a:r>
              <a:rPr lang="zh-TW" altLang="en-US" dirty="0"/>
              <a:t>印出目錄下所有檔案的詳細資訊，而 </a:t>
            </a:r>
            <a:r>
              <a:rPr lang="en-US" altLang="zh-TW" dirty="0"/>
              <a:t>parent process </a:t>
            </a:r>
            <a:r>
              <a:rPr lang="zh-TW" altLang="en-US" dirty="0"/>
              <a:t>繼續執行原本程式。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7354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01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6805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572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「這題要大家建立五個 </a:t>
            </a:r>
            <a:r>
              <a:rPr lang="en-US" altLang="zh-TW" dirty="0"/>
              <a:t>process</a:t>
            </a:r>
            <a:r>
              <a:rPr lang="zh-TW" altLang="en-US" dirty="0"/>
              <a:t>，</a:t>
            </a:r>
            <a:r>
              <a:rPr lang="en-US" altLang="zh-TW" dirty="0"/>
              <a:t>parent-child </a:t>
            </a:r>
            <a:r>
              <a:rPr lang="zh-TW" altLang="en-US" dirty="0"/>
              <a:t>關係要符合圖上的 </a:t>
            </a:r>
            <a:r>
              <a:rPr lang="en-US" altLang="zh-TW" dirty="0"/>
              <a:t>tree</a:t>
            </a:r>
            <a:r>
              <a:rPr lang="zh-TW" altLang="en-US" dirty="0"/>
              <a:t>。</a:t>
            </a:r>
            <a:r>
              <a:rPr lang="en-US" altLang="zh-TW" dirty="0"/>
              <a:t>A </a:t>
            </a:r>
            <a:r>
              <a:rPr lang="zh-TW" altLang="en-US" dirty="0"/>
              <a:t>是最開始的 </a:t>
            </a:r>
            <a:r>
              <a:rPr lang="en-US" altLang="zh-TW" dirty="0"/>
              <a:t>process</a:t>
            </a:r>
            <a:r>
              <a:rPr lang="zh-TW" altLang="en-US" dirty="0"/>
              <a:t>，</a:t>
            </a:r>
            <a:r>
              <a:rPr lang="en-US" altLang="zh-TW" dirty="0"/>
              <a:t>A </a:t>
            </a:r>
            <a:r>
              <a:rPr lang="zh-TW" altLang="en-US" dirty="0"/>
              <a:t>會建立 </a:t>
            </a:r>
            <a:r>
              <a:rPr lang="en-US" altLang="zh-TW" dirty="0"/>
              <a:t>B</a:t>
            </a:r>
            <a:r>
              <a:rPr lang="zh-TW" altLang="en-US" dirty="0"/>
              <a:t>、</a:t>
            </a:r>
            <a:r>
              <a:rPr lang="en-US" altLang="zh-TW" dirty="0"/>
              <a:t>D</a:t>
            </a:r>
            <a:r>
              <a:rPr lang="zh-TW" altLang="en-US" dirty="0"/>
              <a:t>、</a:t>
            </a:r>
            <a:r>
              <a:rPr lang="en-US" altLang="zh-TW" dirty="0"/>
              <a:t>E</a:t>
            </a:r>
            <a:r>
              <a:rPr lang="zh-TW" altLang="en-US" dirty="0"/>
              <a:t>，而 </a:t>
            </a:r>
            <a:r>
              <a:rPr lang="en-US" altLang="zh-TW" dirty="0"/>
              <a:t>B </a:t>
            </a:r>
            <a:r>
              <a:rPr lang="zh-TW" altLang="en-US" dirty="0"/>
              <a:t>再建立 </a:t>
            </a:r>
            <a:r>
              <a:rPr lang="en-US" altLang="zh-TW" dirty="0"/>
              <a:t>C</a:t>
            </a:r>
            <a:r>
              <a:rPr lang="zh-TW" altLang="en-US" dirty="0"/>
              <a:t>。要特別注意，不能單純連續 </a:t>
            </a:r>
            <a:r>
              <a:rPr lang="en-US" altLang="zh-TW" dirty="0"/>
              <a:t>fork </a:t>
            </a:r>
            <a:r>
              <a:rPr lang="zh-TW" altLang="en-US" dirty="0"/>
              <a:t>四次，因為 </a:t>
            </a:r>
            <a:r>
              <a:rPr lang="en-US" altLang="zh-TW" dirty="0"/>
              <a:t>fork </a:t>
            </a:r>
            <a:r>
              <a:rPr lang="zh-TW" altLang="en-US" dirty="0"/>
              <a:t>之後 </a:t>
            </a:r>
            <a:r>
              <a:rPr lang="en-US" altLang="zh-TW" dirty="0"/>
              <a:t>child </a:t>
            </a:r>
            <a:r>
              <a:rPr lang="zh-TW" altLang="en-US" dirty="0"/>
              <a:t>也會繼續執行後面的程式碼。這題要利用 </a:t>
            </a:r>
            <a:r>
              <a:rPr lang="en-US" altLang="zh-TW" dirty="0"/>
              <a:t>fork </a:t>
            </a:r>
            <a:r>
              <a:rPr lang="zh-TW" altLang="en-US" dirty="0"/>
              <a:t>的 </a:t>
            </a:r>
            <a:r>
              <a:rPr lang="en-US" altLang="zh-TW" dirty="0"/>
              <a:t>return value </a:t>
            </a:r>
            <a:r>
              <a:rPr lang="zh-TW" altLang="en-US" dirty="0"/>
              <a:t>判斷現在是 </a:t>
            </a:r>
            <a:r>
              <a:rPr lang="en-US" altLang="zh-TW" dirty="0"/>
              <a:t>parent </a:t>
            </a:r>
            <a:r>
              <a:rPr lang="zh-TW" altLang="en-US" dirty="0"/>
              <a:t>還是 </a:t>
            </a:r>
            <a:r>
              <a:rPr lang="en-US" altLang="zh-TW" dirty="0"/>
              <a:t>child</a:t>
            </a:r>
            <a:r>
              <a:rPr lang="zh-TW" altLang="en-US" dirty="0"/>
              <a:t>，控制只有特定 </a:t>
            </a:r>
            <a:r>
              <a:rPr lang="en-US" altLang="zh-TW" dirty="0"/>
              <a:t>process </a:t>
            </a:r>
            <a:r>
              <a:rPr lang="zh-TW" altLang="en-US" dirty="0"/>
              <a:t>可以繼續 </a:t>
            </a:r>
            <a:r>
              <a:rPr lang="en-US" altLang="zh-TW" dirty="0"/>
              <a:t>fork</a:t>
            </a:r>
            <a:r>
              <a:rPr lang="zh-TW" altLang="en-US" dirty="0"/>
              <a:t>。最後每個 </a:t>
            </a:r>
            <a:r>
              <a:rPr lang="en-US" altLang="zh-TW" dirty="0"/>
              <a:t>process </a:t>
            </a:r>
            <a:r>
              <a:rPr lang="zh-TW" altLang="en-US" dirty="0"/>
              <a:t>使用 </a:t>
            </a:r>
            <a:r>
              <a:rPr lang="en-US" altLang="zh-TW" dirty="0" err="1"/>
              <a:t>getpid</a:t>
            </a:r>
            <a:r>
              <a:rPr lang="en-US" altLang="zh-TW" dirty="0"/>
              <a:t>() </a:t>
            </a:r>
            <a:r>
              <a:rPr lang="zh-TW" altLang="en-US" dirty="0"/>
              <a:t>印自己的 </a:t>
            </a:r>
            <a:r>
              <a:rPr lang="en-US" altLang="zh-TW" dirty="0"/>
              <a:t>PID</a:t>
            </a:r>
            <a:r>
              <a:rPr lang="zh-TW" altLang="en-US" dirty="0"/>
              <a:t>，使用 </a:t>
            </a:r>
            <a:r>
              <a:rPr lang="en-US" altLang="zh-TW" dirty="0" err="1"/>
              <a:t>getppid</a:t>
            </a:r>
            <a:r>
              <a:rPr lang="en-US" altLang="zh-TW" dirty="0"/>
              <a:t>() </a:t>
            </a:r>
            <a:r>
              <a:rPr lang="zh-TW" altLang="en-US" dirty="0"/>
              <a:t>印 </a:t>
            </a:r>
            <a:r>
              <a:rPr lang="en-US" altLang="zh-TW" dirty="0"/>
              <a:t>parent PID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4507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對於每個</a:t>
            </a:r>
            <a:r>
              <a:rPr lang="en-US" altLang="zh-TW" dirty="0"/>
              <a:t>process</a:t>
            </a:r>
            <a:r>
              <a:rPr lang="zh-TW" altLang="en-US" dirty="0"/>
              <a:t>，如果它是 </a:t>
            </a:r>
            <a:r>
              <a:rPr lang="en-US" altLang="zh-TW" dirty="0"/>
              <a:t>parent process</a:t>
            </a:r>
            <a:r>
              <a:rPr lang="zh-TW" altLang="en-US" dirty="0"/>
              <a:t> 則它有幾個小孩就要做幾次</a:t>
            </a:r>
            <a:r>
              <a:rPr lang="en-US" altLang="zh-TW" dirty="0"/>
              <a:t>wait()</a:t>
            </a:r>
            <a:r>
              <a:rPr lang="zh-TW" altLang="en-US" dirty="0"/>
              <a:t>，「</a:t>
            </a:r>
            <a:r>
              <a:rPr lang="zh-TW" altLang="en-US" b="1" dirty="0"/>
              <a:t>一次 </a:t>
            </a:r>
            <a:r>
              <a:rPr lang="en-US" altLang="zh-TW" b="1" dirty="0"/>
              <a:t>wait() </a:t>
            </a:r>
            <a:r>
              <a:rPr lang="zh-TW" altLang="en-US" b="1" dirty="0"/>
              <a:t>只處理一個 </a:t>
            </a:r>
            <a:r>
              <a:rPr lang="en-US" altLang="zh-TW" b="1" dirty="0"/>
              <a:t>child</a:t>
            </a:r>
            <a:r>
              <a:rPr lang="zh-TW" altLang="en-US" b="1" dirty="0"/>
              <a:t>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486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2977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AA41D-60E8-4728-AC21-7AB730FDAAF9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435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AF793-0DFA-B25B-901B-A271BBAA5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13973D-D73F-C1BA-3528-57A5ABFE4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EEE10B-59F1-A697-6457-AB6A8430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4FE82E-902E-C5A4-BB00-749383F9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9BCD-93BC-0119-EF28-4C6C997F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8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73A3B0-A681-DBAA-B060-C67DEB9B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C1FCC8-BAB4-1375-B21A-0EEE52E1C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A60009-C09F-34B5-25C6-7D68D4DF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41F496-FB66-CFD1-64A0-558DD0EE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C71E1E-2DDD-4893-2640-59B4152C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202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A35BE-C11E-A6CF-9AEC-88A685F7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31048B-9896-B219-4716-E8043A7DC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379B34-1D82-3909-047A-E46ECAB0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D5B12A-FA7D-30AF-108E-5C438B34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1ADF6B-C7E6-465E-D881-B3B6E7E4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95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873097-3285-6CB1-D487-05B4D061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29F825-7C9C-B98A-D0F5-0E6E1FCD8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9A52E7-5173-1048-7415-9C8D65EDE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FA7F49-EDE0-8DF0-A22E-FFDA8DD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5BC269-0304-CE5C-B95A-9286206F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ECFD91-A7AD-0158-C0E0-EEC9E87E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86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676EE4-C7D5-602A-3E79-C26D1AF3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0BBFAE-E3D7-BD08-C7BA-BA5BB373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1CF740-0B9F-8610-0A0E-FB0890033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C299F3E-A7C0-D32A-354B-D38A08901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3852E28-44C5-CF5E-F0EE-3402B1490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7249836-FE80-87E2-FAF2-88714FA6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5F6A6AF-5AD2-FCEE-25DA-EFF6FA783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B50303-7975-A7AE-AE8B-449AEEEE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42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9720B-64E7-CA8F-A9EB-7DCFC694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7D78D9B-1CD5-E355-D24A-AB1BF7AA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4B3B03-1BE7-DEA7-0FF9-8DD8BD2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E339F9-6B44-6599-0655-1186948B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4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60129D-BCB3-633C-83AF-1F7C7EEB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1CACFD-71F8-880A-2656-596E0BD1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CCC0AA-291C-6B14-E221-76906974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05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A79BB1-3449-C581-FA12-D58C661F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236FFB-17DE-431A-0A26-C1A316C02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F9D4F9-AC5C-DC12-C4F4-9780997DA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24210FD-3DF4-5291-7564-DEBBB185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70CEED-698C-69C4-4596-D4F4DDEA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2FFFBA-69FC-4605-6EFB-E05ADAE2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60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8906BC-5CC8-EE77-4CBB-FCB0D7C5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1881C9A-A04C-432B-D84B-471CF29DB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D505EB-1C90-8C86-AD65-2B1DDCC28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B7C675-C5E5-7758-2EC7-6F0CB44B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C4A8E1-AAC5-EB80-A719-056E27200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8D25F7-377A-75E9-6476-9632B760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11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96185-C246-E4AD-66F0-A0E9A1018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AA7917-1B54-301A-24D2-E7E94FD60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F09B25-B7C8-4947-6E7A-6ED377E3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1FF77B-7125-6CCF-A360-FC6124D4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9C9523-A6FF-02F3-ABCD-81833621F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99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EDFF7B-0644-3951-51F6-E6416D4C9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014CF74-D38C-605E-0F8E-F74EE3A43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4B685E-A048-95F5-A946-D749A648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3CF92D-E095-6C47-94A3-14EA997F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B57361-F730-0EA5-1213-B6478B2A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850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7E1860-D480-22FB-79AB-AF878ED67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FD64B2-BB8C-E9B5-633C-FF87A9090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B25BF8-1517-16FF-AD63-DFE7AF3EF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F3175-9AB2-4B84-9A2D-8E80AD4CA940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EA7326-BCF3-4439-1023-FA1B4BB3C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F8FEBE-97EB-61A2-AC1F-229737EBD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42F8A-E4DF-45DB-A60F-6EE08B6DE57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33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F72BAFF-B6AD-5C31-258D-409C8A6E59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0083AE-BE25-62B1-74A8-68F298A732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&gt;</a:t>
            </a:r>
            <a:endParaRPr lang="zh-TW" sz="14400">
              <a:latin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60421B7-5B55-C95E-62ED-7E6A4A23618A}"/>
              </a:ext>
            </a:extLst>
          </p:cNvPr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NCHU System &amp; Network Lab</a:t>
            </a:r>
            <a:endParaRPr lang="zh-TW" sz="1400">
              <a:latin typeface="Consolas" panose="020B0609020204030204" pitchFamily="49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518382C-AD77-92DF-70FA-C3AAF4C9D574}"/>
              </a:ext>
            </a:extLst>
          </p:cNvPr>
          <p:cNvSpPr txBox="1"/>
          <p:nvPr/>
        </p:nvSpPr>
        <p:spPr>
          <a:xfrm>
            <a:off x="4920144" y="4498426"/>
            <a:ext cx="5233506" cy="13157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TA:</a:t>
            </a:r>
            <a:r>
              <a:rPr lang="zh-TW" altLang="en-US" sz="2800" b="1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altLang="zh-TW" sz="2800" b="1" dirty="0" err="1">
                <a:solidFill>
                  <a:srgbClr val="FFFFFF"/>
                </a:solidFill>
                <a:cs typeface="Calibri"/>
              </a:rPr>
              <a:t>Reui</a:t>
            </a:r>
            <a:r>
              <a:rPr lang="en-US" altLang="zh-TW" sz="2800" b="1">
                <a:solidFill>
                  <a:srgbClr val="FFFFFF"/>
                </a:solidFill>
                <a:cs typeface="Calibri"/>
              </a:rPr>
              <a:t>-Lin Gao</a:t>
            </a:r>
            <a:endParaRPr lang="en-US" altLang="zh-TW" sz="2800" b="1" dirty="0">
              <a:solidFill>
                <a:srgbClr val="FFFFFF"/>
              </a:solidFill>
              <a:cs typeface="Calibri"/>
            </a:endParaRPr>
          </a:p>
          <a:p>
            <a:pPr algn="r">
              <a:lnSpc>
                <a:spcPct val="150000"/>
              </a:lnSpc>
            </a:pP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Prof.:</a:t>
            </a:r>
            <a:r>
              <a:rPr lang="zh-TW" altLang="en-US" sz="2800" b="1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altLang="zh-TW" sz="2800" b="1" dirty="0">
                <a:solidFill>
                  <a:srgbClr val="FFFFFF"/>
                </a:solidFill>
                <a:cs typeface="Calibri"/>
              </a:rPr>
              <a:t>Hsung-Pin Chang</a:t>
            </a:r>
            <a:endParaRPr lang="sv-SE" altLang="zh-TW" sz="2800" b="1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B216F34E-31B7-4114-9350-828442B89B52}"/>
              </a:ext>
            </a:extLst>
          </p:cNvPr>
          <p:cNvSpPr txBox="1">
            <a:spLocks/>
          </p:cNvSpPr>
          <p:nvPr/>
        </p:nvSpPr>
        <p:spPr>
          <a:xfrm>
            <a:off x="1618389" y="1114985"/>
            <a:ext cx="8996192" cy="163121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hangingPunct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TW" sz="6000" b="1" dirty="0">
                <a:solidFill>
                  <a:srgbClr val="FFFFFF"/>
                </a:solidFill>
                <a:cs typeface="Calibri"/>
              </a:rPr>
              <a:t>Lab 6</a:t>
            </a:r>
            <a:br>
              <a:rPr lang="en-US" altLang="zh-TW" sz="4000" b="1" dirty="0">
                <a:solidFill>
                  <a:srgbClr val="FFFFFF"/>
                </a:solidFill>
                <a:cs typeface="Calibri"/>
              </a:rPr>
            </a:b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Process Control</a:t>
            </a:r>
            <a:endParaRPr lang="zh-TW" sz="4000" dirty="0">
              <a:solidFill>
                <a:srgbClr val="00B0F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23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14712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Function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4469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(1/4)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3260" y="1227774"/>
            <a:ext cx="11145479" cy="531998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What is a process?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Informally, a process is a program in execution.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A process includes: 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rgbClr val="00B0F0"/>
                </a:solidFill>
                <a:cs typeface="Calibri"/>
              </a:rPr>
              <a:t>data 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section, which contains global variables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rgbClr val="00B0F0"/>
                </a:solidFill>
                <a:cs typeface="Calibri"/>
              </a:rPr>
              <a:t>text 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section, which contains the program code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rgbClr val="00B0F0"/>
                </a:solidFill>
                <a:cs typeface="Calibri"/>
              </a:rPr>
              <a:t>stack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 section, which contains temporary data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rgbClr val="00B0F0"/>
                </a:solidFill>
                <a:cs typeface="Calibri"/>
              </a:rPr>
              <a:t>heap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 section, which contains dynamically allocated memory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A process  is more than the program code, it also includes the </a:t>
            </a:r>
            <a:r>
              <a:rPr lang="en-US" altLang="zh-TW" sz="2000" b="1" dirty="0">
                <a:solidFill>
                  <a:srgbClr val="00B0F0"/>
                </a:solidFill>
                <a:cs typeface="Calibri"/>
              </a:rPr>
              <a:t>current activity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Represented by the value of the </a:t>
            </a:r>
            <a:r>
              <a:rPr lang="en-US" altLang="zh-TW" sz="2000" b="1" dirty="0">
                <a:solidFill>
                  <a:srgbClr val="FFFF00"/>
                </a:solidFill>
                <a:cs typeface="Calibri"/>
              </a:rPr>
              <a:t>program counter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 and the contents of the processor’s </a:t>
            </a:r>
            <a:r>
              <a:rPr lang="en-US" altLang="zh-TW" sz="2000" b="1" dirty="0">
                <a:solidFill>
                  <a:srgbClr val="FFFF00"/>
                </a:solidFill>
                <a:cs typeface="Calibri"/>
              </a:rPr>
              <a:t>registers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.</a:t>
            </a:r>
          </a:p>
        </p:txBody>
      </p:sp>
      <p:pic>
        <p:nvPicPr>
          <p:cNvPr id="7" name="Google Shape;109;p2">
            <a:extLst>
              <a:ext uri="{FF2B5EF4-FFF2-40B4-BE49-F238E27FC236}">
                <a16:creationId xmlns:a16="http://schemas.microsoft.com/office/drawing/2014/main" id="{B8CBE48D-6423-8AF9-7E4D-C5071EAB59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7091" t="1191" r="27120" b="1191"/>
          <a:stretch/>
        </p:blipFill>
        <p:spPr>
          <a:xfrm>
            <a:off x="8788816" y="628968"/>
            <a:ext cx="2633652" cy="325759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35162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(2/4)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pic>
        <p:nvPicPr>
          <p:cNvPr id="7" name="Google Shape;109;p2">
            <a:extLst>
              <a:ext uri="{FF2B5EF4-FFF2-40B4-BE49-F238E27FC236}">
                <a16:creationId xmlns:a16="http://schemas.microsoft.com/office/drawing/2014/main" id="{B8CBE48D-6423-8AF9-7E4D-C5071EAB59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7091" t="1191" r="27120" b="1191"/>
          <a:stretch/>
        </p:blipFill>
        <p:spPr>
          <a:xfrm>
            <a:off x="2209339" y="1313744"/>
            <a:ext cx="3886661" cy="4469732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FF9F8950-610E-D22F-993C-7B48F6CAE7BB}"/>
              </a:ext>
            </a:extLst>
          </p:cNvPr>
          <p:cNvSpPr txBox="1"/>
          <p:nvPr/>
        </p:nvSpPr>
        <p:spPr>
          <a:xfrm>
            <a:off x="541798" y="6206017"/>
            <a:ext cx="3764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Process base address</a:t>
            </a:r>
            <a:endParaRPr lang="zh-TW" altLang="en-US" sz="2400" dirty="0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F60D0C7B-6037-475B-3076-28E70BAA9656}"/>
              </a:ext>
            </a:extLst>
          </p:cNvPr>
          <p:cNvSpPr/>
          <p:nvPr/>
        </p:nvSpPr>
        <p:spPr>
          <a:xfrm rot="18055422">
            <a:off x="2422195" y="5856322"/>
            <a:ext cx="372390" cy="39890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DB8067E2-DB73-E61D-2326-A6998A9C3AB3}"/>
              </a:ext>
            </a:extLst>
          </p:cNvPr>
          <p:cNvGrpSpPr/>
          <p:nvPr/>
        </p:nvGrpSpPr>
        <p:grpSpPr>
          <a:xfrm>
            <a:off x="6263744" y="1552435"/>
            <a:ext cx="3021059" cy="461665"/>
            <a:chOff x="7119828" y="1514224"/>
            <a:chExt cx="3021059" cy="461665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67848CAA-4CD8-4DD1-7F57-3B6EEA3FCE2F}"/>
                </a:ext>
              </a:extLst>
            </p:cNvPr>
            <p:cNvSpPr txBox="1"/>
            <p:nvPr/>
          </p:nvSpPr>
          <p:spPr>
            <a:xfrm>
              <a:off x="7492218" y="1514224"/>
              <a:ext cx="26486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b="1" dirty="0">
                  <a:solidFill>
                    <a:schemeClr val="bg1"/>
                  </a:solidFill>
                  <a:cs typeface="Calibri"/>
                </a:rPr>
                <a:t>temporary data</a:t>
              </a:r>
              <a:endParaRPr lang="zh-TW" altLang="en-US" sz="2400" dirty="0"/>
            </a:p>
          </p:txBody>
        </p:sp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A2C5E114-8125-ED8A-CC2A-590AB7AE2FC8}"/>
                </a:ext>
              </a:extLst>
            </p:cNvPr>
            <p:cNvSpPr/>
            <p:nvPr/>
          </p:nvSpPr>
          <p:spPr>
            <a:xfrm rot="10800000">
              <a:off x="7119828" y="1545605"/>
              <a:ext cx="372390" cy="3989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9FCB1A5D-D9C4-03A2-5D6C-DBDCA6EE726A}"/>
              </a:ext>
            </a:extLst>
          </p:cNvPr>
          <p:cNvGrpSpPr/>
          <p:nvPr/>
        </p:nvGrpSpPr>
        <p:grpSpPr>
          <a:xfrm>
            <a:off x="6231489" y="3785844"/>
            <a:ext cx="5725183" cy="461665"/>
            <a:chOff x="7109520" y="3037558"/>
            <a:chExt cx="5725183" cy="461665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54215D8D-E3F6-5632-9E3D-2170067D1A8F}"/>
                </a:ext>
              </a:extLst>
            </p:cNvPr>
            <p:cNvSpPr txBox="1"/>
            <p:nvPr/>
          </p:nvSpPr>
          <p:spPr>
            <a:xfrm>
              <a:off x="7490965" y="3037558"/>
              <a:ext cx="53437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b="1" dirty="0">
                  <a:solidFill>
                    <a:schemeClr val="bg1"/>
                  </a:solidFill>
                  <a:cs typeface="Calibri"/>
                </a:rPr>
                <a:t>dynamically allocated memory</a:t>
              </a:r>
              <a:endParaRPr lang="zh-TW" altLang="en-US" sz="2400" dirty="0"/>
            </a:p>
          </p:txBody>
        </p:sp>
        <p:sp>
          <p:nvSpPr>
            <p:cNvPr id="23" name="箭號: 向右 22">
              <a:extLst>
                <a:ext uri="{FF2B5EF4-FFF2-40B4-BE49-F238E27FC236}">
                  <a16:creationId xmlns:a16="http://schemas.microsoft.com/office/drawing/2014/main" id="{50DFA00B-D495-1F84-9C1F-19BD8716F068}"/>
                </a:ext>
              </a:extLst>
            </p:cNvPr>
            <p:cNvSpPr/>
            <p:nvPr/>
          </p:nvSpPr>
          <p:spPr>
            <a:xfrm rot="10800000">
              <a:off x="7109520" y="3068939"/>
              <a:ext cx="372390" cy="3989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D7D71E0B-72E6-3F6E-17F3-A19C454DCFFE}"/>
              </a:ext>
            </a:extLst>
          </p:cNvPr>
          <p:cNvGrpSpPr/>
          <p:nvPr/>
        </p:nvGrpSpPr>
        <p:grpSpPr>
          <a:xfrm>
            <a:off x="6263743" y="5139294"/>
            <a:ext cx="2691112" cy="469383"/>
            <a:chOff x="7928707" y="4874393"/>
            <a:chExt cx="2691112" cy="469383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DB6B040-B0D6-CBC4-769D-EB148C8B8D0F}"/>
                </a:ext>
              </a:extLst>
            </p:cNvPr>
            <p:cNvSpPr txBox="1"/>
            <p:nvPr/>
          </p:nvSpPr>
          <p:spPr>
            <a:xfrm>
              <a:off x="8330379" y="4874393"/>
              <a:ext cx="22894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b="1" dirty="0">
                  <a:solidFill>
                    <a:schemeClr val="bg1"/>
                  </a:solidFill>
                  <a:cs typeface="Calibri"/>
                </a:rPr>
                <a:t>program code</a:t>
              </a:r>
              <a:endParaRPr lang="zh-TW" altLang="en-US" sz="2400" dirty="0"/>
            </a:p>
          </p:txBody>
        </p:sp>
        <p:sp>
          <p:nvSpPr>
            <p:cNvPr id="24" name="箭號: 向右 23">
              <a:extLst>
                <a:ext uri="{FF2B5EF4-FFF2-40B4-BE49-F238E27FC236}">
                  <a16:creationId xmlns:a16="http://schemas.microsoft.com/office/drawing/2014/main" id="{1BD9F532-A3BE-C5E4-36B4-8650AB80A80A}"/>
                </a:ext>
              </a:extLst>
            </p:cNvPr>
            <p:cNvSpPr/>
            <p:nvPr/>
          </p:nvSpPr>
          <p:spPr>
            <a:xfrm rot="10800000">
              <a:off x="7928707" y="4944871"/>
              <a:ext cx="372390" cy="3989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42EFB446-71FF-B1F9-E928-83779A3B6013}"/>
              </a:ext>
            </a:extLst>
          </p:cNvPr>
          <p:cNvGrpSpPr/>
          <p:nvPr/>
        </p:nvGrpSpPr>
        <p:grpSpPr>
          <a:xfrm>
            <a:off x="6263744" y="4485640"/>
            <a:ext cx="3538073" cy="461665"/>
            <a:chOff x="7160615" y="3914301"/>
            <a:chExt cx="3538073" cy="461665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EBFF97A-68F5-FD1E-411E-4AAD1DEFEB89}"/>
                </a:ext>
              </a:extLst>
            </p:cNvPr>
            <p:cNvSpPr txBox="1"/>
            <p:nvPr/>
          </p:nvSpPr>
          <p:spPr>
            <a:xfrm>
              <a:off x="7571048" y="3914301"/>
              <a:ext cx="3127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400" b="1" dirty="0">
                  <a:solidFill>
                    <a:schemeClr val="bg1"/>
                  </a:solidFill>
                  <a:cs typeface="Calibri"/>
                </a:rPr>
                <a:t>global variables</a:t>
              </a:r>
              <a:endParaRPr lang="zh-TW" altLang="en-US" sz="2400" dirty="0"/>
            </a:p>
          </p:txBody>
        </p:sp>
        <p:sp>
          <p:nvSpPr>
            <p:cNvPr id="25" name="箭號: 向右 24">
              <a:extLst>
                <a:ext uri="{FF2B5EF4-FFF2-40B4-BE49-F238E27FC236}">
                  <a16:creationId xmlns:a16="http://schemas.microsoft.com/office/drawing/2014/main" id="{0F9EAAC3-076F-4AA1-8F1E-442BDC2BF30F}"/>
                </a:ext>
              </a:extLst>
            </p:cNvPr>
            <p:cNvSpPr/>
            <p:nvPr/>
          </p:nvSpPr>
          <p:spPr>
            <a:xfrm rot="10800000">
              <a:off x="7160615" y="3977061"/>
              <a:ext cx="372390" cy="398905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872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(3/4)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BA3B9F6-22F2-6ACB-C4C6-D2DB9BD143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08"/>
          <a:stretch/>
        </p:blipFill>
        <p:spPr>
          <a:xfrm>
            <a:off x="561007" y="2111976"/>
            <a:ext cx="5830268" cy="322750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D98FA8F-6D78-261B-5F96-930D54BD35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062"/>
          <a:stretch/>
        </p:blipFill>
        <p:spPr>
          <a:xfrm>
            <a:off x="6488135" y="2119132"/>
            <a:ext cx="5208566" cy="321047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496D80-0A18-2339-BC78-3249B17AE3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3260" y="1227774"/>
            <a:ext cx="11145479" cy="4468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Example</a:t>
            </a:r>
            <a:r>
              <a:rPr lang="zh-TW" altLang="en-US" sz="20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cs typeface="Calibri"/>
              </a:rPr>
              <a:t>in C</a:t>
            </a:r>
          </a:p>
        </p:txBody>
      </p:sp>
    </p:spTree>
    <p:extLst>
      <p:ext uri="{BB962C8B-B14F-4D97-AF65-F5344CB8AC3E}">
        <p14:creationId xmlns:p14="http://schemas.microsoft.com/office/powerpoint/2010/main" val="374510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Introduction (4/4)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pic>
        <p:nvPicPr>
          <p:cNvPr id="20" name="Google Shape;117;p3">
            <a:extLst>
              <a:ext uri="{FF2B5EF4-FFF2-40B4-BE49-F238E27FC236}">
                <a16:creationId xmlns:a16="http://schemas.microsoft.com/office/drawing/2014/main" id="{1D362D36-0BEA-B35D-6C5F-C92DA96C6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939" t="756" r="8128" b="504"/>
          <a:stretch/>
        </p:blipFill>
        <p:spPr>
          <a:xfrm>
            <a:off x="3866962" y="3071859"/>
            <a:ext cx="4565625" cy="3295807"/>
          </a:xfrm>
          <a:prstGeom prst="rect">
            <a:avLst/>
          </a:prstGeom>
          <a:noFill/>
          <a:ln w="38100" cap="flat" cmpd="dbl">
            <a:solidFill>
              <a:srgbClr val="CC66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4C0715D-CF47-36C1-4121-E581FF0B8F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833452" cy="15693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Process Creation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Parent process create children processes, which, in turn create other processes, forming a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tree of processes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882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14712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Function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8932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(1/13)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E55E128-37AC-5657-7E10-E15FC9A484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0077" y="1237821"/>
            <a:ext cx="11547958" cy="346729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fork() Function: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fork()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system call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creates new process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fork()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會回傳新的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process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的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PID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，失敗則回傳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-1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fork()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會複製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parent’s memory image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給新的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child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process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接收</a:t>
            </a:r>
            <a:endParaRPr lang="en-US" altLang="zh-TW" sz="2400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在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fork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之後，兩個</a:t>
            </a:r>
            <a:r>
              <a:rPr lang="en-US" altLang="zh-TW" sz="2400" b="1" dirty="0" err="1">
                <a:solidFill>
                  <a:schemeClr val="bg1"/>
                </a:solidFill>
                <a:cs typeface="Calibri"/>
              </a:rPr>
              <a:t>prcoess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都會繼續在各自的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memory</a:t>
            </a:r>
            <a:r>
              <a:rPr lang="zh-TW" altLang="en-US" sz="2400" b="1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images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執行</a:t>
            </a:r>
            <a:endParaRPr lang="en-US" altLang="zh-TW" sz="2400" dirty="0">
              <a:solidFill>
                <a:schemeClr val="bg1"/>
              </a:solidFill>
              <a:cs typeface="Calibri"/>
            </a:endParaRP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Google Shape;126;p4">
            <a:extLst>
              <a:ext uri="{FF2B5EF4-FFF2-40B4-BE49-F238E27FC236}">
                <a16:creationId xmlns:a16="http://schemas.microsoft.com/office/drawing/2014/main" id="{A104F0E5-4970-4008-0926-3D2675125A0E}"/>
              </a:ext>
            </a:extLst>
          </p:cNvPr>
          <p:cNvSpPr txBox="1"/>
          <p:nvPr/>
        </p:nvSpPr>
        <p:spPr>
          <a:xfrm>
            <a:off x="2972373" y="4600785"/>
            <a:ext cx="6772553" cy="11772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#include &lt;</a:t>
            </a: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unistd.h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&gt;</a:t>
            </a: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endParaRPr lang="en-US" sz="2400" b="1" kern="0" dirty="0">
              <a:solidFill>
                <a:schemeClr val="bg1"/>
              </a:solidFill>
              <a:latin typeface="Ubuntu Mono" panose="020B0509030602030204" pitchFamily="49" charset="0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pid_t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 fork(void);</a:t>
            </a:r>
          </a:p>
        </p:txBody>
      </p:sp>
    </p:spTree>
    <p:extLst>
      <p:ext uri="{BB962C8B-B14F-4D97-AF65-F5344CB8AC3E}">
        <p14:creationId xmlns:p14="http://schemas.microsoft.com/office/powerpoint/2010/main" val="243702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(2/13)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0" name="Google Shape;126;p4">
            <a:extLst>
              <a:ext uri="{FF2B5EF4-FFF2-40B4-BE49-F238E27FC236}">
                <a16:creationId xmlns:a16="http://schemas.microsoft.com/office/drawing/2014/main" id="{4D8B15BC-0F13-E7D7-09B8-CC280071DBCB}"/>
              </a:ext>
            </a:extLst>
          </p:cNvPr>
          <p:cNvSpPr txBox="1"/>
          <p:nvPr/>
        </p:nvSpPr>
        <p:spPr>
          <a:xfrm>
            <a:off x="1576266" y="4344381"/>
            <a:ext cx="8742532" cy="15465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#include &lt;</a:t>
            </a: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unistd.h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&gt;</a:t>
            </a:r>
            <a:endParaRPr sz="2400" kern="0" dirty="0">
              <a:solidFill>
                <a:schemeClr val="bg1"/>
              </a:solidFill>
              <a:latin typeface="Ubuntu Mono" panose="020B0509030602030204" pitchFamily="49" charset="0"/>
              <a:cs typeface="Arial"/>
              <a:sym typeface="Arial"/>
            </a:endParaRPr>
          </a:p>
          <a:p>
            <a:pPr>
              <a:buClr>
                <a:srgbClr val="4A7594"/>
              </a:buClr>
              <a:buSzPts val="2000"/>
              <a:buFont typeface="Helvetica Neue"/>
              <a:buNone/>
            </a:pPr>
            <a:endParaRPr sz="2400" b="1" kern="0" dirty="0">
              <a:solidFill>
                <a:schemeClr val="bg1"/>
              </a:solidFill>
              <a:latin typeface="Ubuntu Mono" panose="020B0509030602030204" pitchFamily="49" charset="0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pid_t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getpid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(void);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Times New Roman"/>
                <a:cs typeface="Times New Roman"/>
                <a:sym typeface="Times New Roman"/>
              </a:rPr>
              <a:t>	//</a:t>
            </a:r>
            <a:r>
              <a:rPr lang="en-US" sz="2400" kern="0" dirty="0">
                <a:solidFill>
                  <a:schemeClr val="bg1"/>
                </a:solidFill>
                <a:latin typeface="Ubuntu Mono" panose="020B0509030602030204" pitchFamily="49" charset="0"/>
                <a:ea typeface="Times New Roman"/>
                <a:cs typeface="Times New Roman"/>
                <a:sym typeface="Times New Roman"/>
              </a:rPr>
              <a:t>return the process ID</a:t>
            </a:r>
            <a:endParaRPr sz="2400" kern="0" dirty="0">
              <a:solidFill>
                <a:schemeClr val="bg1"/>
              </a:solidFill>
              <a:latin typeface="Ubuntu Mono" panose="020B0509030602030204" pitchFamily="49" charset="0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pid_t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getppid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(void);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Times New Roman"/>
                <a:cs typeface="Times New Roman"/>
                <a:sym typeface="Times New Roman"/>
              </a:rPr>
              <a:t>	//</a:t>
            </a:r>
            <a:r>
              <a:rPr lang="en-US" sz="2400" kern="0" dirty="0">
                <a:solidFill>
                  <a:schemeClr val="bg1"/>
                </a:solidFill>
                <a:latin typeface="Ubuntu Mono" panose="020B0509030602030204" pitchFamily="49" charset="0"/>
                <a:ea typeface="Times New Roman"/>
                <a:cs typeface="Times New Roman"/>
                <a:sym typeface="Times New Roman"/>
              </a:rPr>
              <a:t>return the parent process ID</a:t>
            </a:r>
            <a:endParaRPr sz="2400" kern="0" dirty="0">
              <a:solidFill>
                <a:schemeClr val="bg1"/>
              </a:solidFill>
              <a:latin typeface="Ubuntu Mono" panose="020B0509030602030204" pitchFamily="49" charset="0"/>
              <a:cs typeface="Arial"/>
              <a:sym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27469C7-C2DB-BF26-11BE-D78EB361D4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833452" cy="26209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Process Identification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UNIX identifies processes by a unique integral value called 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process ID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.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Each process also has a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parent process ID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, which is initially the process ID of the process that created it.</a:t>
            </a:r>
          </a:p>
        </p:txBody>
      </p:sp>
    </p:spTree>
    <p:extLst>
      <p:ext uri="{BB962C8B-B14F-4D97-AF65-F5344CB8AC3E}">
        <p14:creationId xmlns:p14="http://schemas.microsoft.com/office/powerpoint/2010/main" val="56360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(3/13)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9" name="Google Shape;143;p6">
            <a:extLst>
              <a:ext uri="{FF2B5EF4-FFF2-40B4-BE49-F238E27FC236}">
                <a16:creationId xmlns:a16="http://schemas.microsoft.com/office/drawing/2014/main" id="{F2F82F55-D036-15A2-6344-2E9D195681C4}"/>
              </a:ext>
            </a:extLst>
          </p:cNvPr>
          <p:cNvSpPr txBox="1"/>
          <p:nvPr/>
        </p:nvSpPr>
        <p:spPr>
          <a:xfrm>
            <a:off x="5393531" y="2402683"/>
            <a:ext cx="2054338" cy="337531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25" b="1" i="0" u="none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Google Shape;144;p6">
            <a:extLst>
              <a:ext uri="{FF2B5EF4-FFF2-40B4-BE49-F238E27FC236}">
                <a16:creationId xmlns:a16="http://schemas.microsoft.com/office/drawing/2014/main" id="{2E8FC2AB-7F3C-4E40-3841-4EEB5C578B6C}"/>
              </a:ext>
            </a:extLst>
          </p:cNvPr>
          <p:cNvSpPr txBox="1"/>
          <p:nvPr/>
        </p:nvSpPr>
        <p:spPr>
          <a:xfrm>
            <a:off x="5482734" y="1794071"/>
            <a:ext cx="1964566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 b="1" i="0" u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1" name="Google Shape;145;p6">
            <a:extLst>
              <a:ext uri="{FF2B5EF4-FFF2-40B4-BE49-F238E27FC236}">
                <a16:creationId xmlns:a16="http://schemas.microsoft.com/office/drawing/2014/main" id="{E862605C-CA11-A154-4026-E61B0A00E1B9}"/>
              </a:ext>
            </a:extLst>
          </p:cNvPr>
          <p:cNvSpPr txBox="1"/>
          <p:nvPr/>
        </p:nvSpPr>
        <p:spPr>
          <a:xfrm>
            <a:off x="7545500" y="2972888"/>
            <a:ext cx="1874014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32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endParaRPr sz="1600" dirty="0">
              <a:solidFill>
                <a:schemeClr val="bg1"/>
              </a:solidFill>
            </a:endParaRPr>
          </a:p>
        </p:txBody>
      </p:sp>
      <p:grpSp>
        <p:nvGrpSpPr>
          <p:cNvPr id="12" name="Google Shape;146;p6">
            <a:extLst>
              <a:ext uri="{FF2B5EF4-FFF2-40B4-BE49-F238E27FC236}">
                <a16:creationId xmlns:a16="http://schemas.microsoft.com/office/drawing/2014/main" id="{3E6E6A7A-4F41-7D66-3B35-3E4DA5D73C4F}"/>
              </a:ext>
            </a:extLst>
          </p:cNvPr>
          <p:cNvGrpSpPr/>
          <p:nvPr/>
        </p:nvGrpSpPr>
        <p:grpSpPr>
          <a:xfrm>
            <a:off x="5393530" y="4297872"/>
            <a:ext cx="2053149" cy="1198960"/>
            <a:chOff x="2290" y="1616"/>
            <a:chExt cx="1043" cy="1007"/>
          </a:xfrm>
        </p:grpSpPr>
        <p:sp>
          <p:nvSpPr>
            <p:cNvPr id="13" name="Google Shape;147;p6">
              <a:extLst>
                <a:ext uri="{FF2B5EF4-FFF2-40B4-BE49-F238E27FC236}">
                  <a16:creationId xmlns:a16="http://schemas.microsoft.com/office/drawing/2014/main" id="{C9E21D04-76F0-87E8-0E5F-EDA07FFF87BC}"/>
                </a:ext>
              </a:extLst>
            </p:cNvPr>
            <p:cNvSpPr txBox="1"/>
            <p:nvPr/>
          </p:nvSpPr>
          <p:spPr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25" b="1" i="0" u="none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" name="Google Shape;148;p6">
              <a:extLst>
                <a:ext uri="{FF2B5EF4-FFF2-40B4-BE49-F238E27FC236}">
                  <a16:creationId xmlns:a16="http://schemas.microsoft.com/office/drawing/2014/main" id="{D5C9588E-769A-9709-4E4F-76B445C7BDFB}"/>
                </a:ext>
              </a:extLst>
            </p:cNvPr>
            <p:cNvSpPr txBox="1"/>
            <p:nvPr/>
          </p:nvSpPr>
          <p:spPr>
            <a:xfrm>
              <a:off x="2302" y="1634"/>
              <a:ext cx="998" cy="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b="1" i="0" u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Copy from original image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oogle Shape;149;p6">
            <a:extLst>
              <a:ext uri="{FF2B5EF4-FFF2-40B4-BE49-F238E27FC236}">
                <a16:creationId xmlns:a16="http://schemas.microsoft.com/office/drawing/2014/main" id="{7BD23B05-66BA-C8BA-9ED6-23306F6DD4E2}"/>
              </a:ext>
            </a:extLst>
          </p:cNvPr>
          <p:cNvGrpSpPr/>
          <p:nvPr/>
        </p:nvGrpSpPr>
        <p:grpSpPr>
          <a:xfrm>
            <a:off x="5394721" y="2936222"/>
            <a:ext cx="2053148" cy="824916"/>
            <a:chOff x="2064" y="1616"/>
            <a:chExt cx="1043" cy="640"/>
          </a:xfrm>
        </p:grpSpPr>
        <p:sp>
          <p:nvSpPr>
            <p:cNvPr id="16" name="Google Shape;150;p6">
              <a:extLst>
                <a:ext uri="{FF2B5EF4-FFF2-40B4-BE49-F238E27FC236}">
                  <a16:creationId xmlns:a16="http://schemas.microsoft.com/office/drawing/2014/main" id="{E20467BD-1432-7E5D-3BC8-1E2A7E2EA7C2}"/>
                </a:ext>
              </a:extLst>
            </p:cNvPr>
            <p:cNvSpPr txBox="1"/>
            <p:nvPr/>
          </p:nvSpPr>
          <p:spPr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 i="0" u="none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" name="Google Shape;151;p6">
              <a:extLst>
                <a:ext uri="{FF2B5EF4-FFF2-40B4-BE49-F238E27FC236}">
                  <a16:creationId xmlns:a16="http://schemas.microsoft.com/office/drawing/2014/main" id="{778C837F-8321-573D-9B9E-B06DA78D1D9D}"/>
                </a:ext>
              </a:extLst>
            </p:cNvPr>
            <p:cNvSpPr txBox="1"/>
            <p:nvPr/>
          </p:nvSpPr>
          <p:spPr>
            <a:xfrm>
              <a:off x="2076" y="1725"/>
              <a:ext cx="998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2000" b="1" i="0" u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Original image</a:t>
              </a:r>
              <a:endParaRPr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Google Shape;152;p6">
            <a:extLst>
              <a:ext uri="{FF2B5EF4-FFF2-40B4-BE49-F238E27FC236}">
                <a16:creationId xmlns:a16="http://schemas.microsoft.com/office/drawing/2014/main" id="{3D0A7534-07CC-127A-C905-FBB1639C6DCD}"/>
              </a:ext>
            </a:extLst>
          </p:cNvPr>
          <p:cNvSpPr txBox="1"/>
          <p:nvPr/>
        </p:nvSpPr>
        <p:spPr>
          <a:xfrm>
            <a:off x="2947544" y="2943504"/>
            <a:ext cx="188976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2000"/>
              <a:buFont typeface="Helvetica Neue"/>
              <a:buNone/>
            </a:pPr>
            <a:r>
              <a:rPr lang="en-US" sz="2400" b="1" i="0" u="none" dirty="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</a:t>
            </a:r>
            <a:endParaRPr sz="1600" dirty="0">
              <a:solidFill>
                <a:srgbClr val="FFFF00"/>
              </a:solidFill>
            </a:endParaRPr>
          </a:p>
        </p:txBody>
      </p:sp>
      <p:sp>
        <p:nvSpPr>
          <p:cNvPr id="19" name="Google Shape;153;p6">
            <a:extLst>
              <a:ext uri="{FF2B5EF4-FFF2-40B4-BE49-F238E27FC236}">
                <a16:creationId xmlns:a16="http://schemas.microsoft.com/office/drawing/2014/main" id="{EA1C5F02-A060-8C9B-CDA1-D66E86A66702}"/>
              </a:ext>
            </a:extLst>
          </p:cNvPr>
          <p:cNvSpPr txBox="1"/>
          <p:nvPr/>
        </p:nvSpPr>
        <p:spPr>
          <a:xfrm>
            <a:off x="3108079" y="4312299"/>
            <a:ext cx="188976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2000"/>
              <a:buFont typeface="Helvetica Neue"/>
              <a:buNone/>
            </a:pPr>
            <a:r>
              <a:rPr lang="en-US" sz="2400" b="1" i="0" u="none" dirty="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</a:t>
            </a:r>
            <a:endParaRPr sz="1600" dirty="0">
              <a:solidFill>
                <a:srgbClr val="FFFF00"/>
              </a:solidFill>
            </a:endParaRPr>
          </a:p>
        </p:txBody>
      </p:sp>
      <p:cxnSp>
        <p:nvCxnSpPr>
          <p:cNvPr id="20" name="Google Shape;154;p6">
            <a:extLst>
              <a:ext uri="{FF2B5EF4-FFF2-40B4-BE49-F238E27FC236}">
                <a16:creationId xmlns:a16="http://schemas.microsoft.com/office/drawing/2014/main" id="{04CFD736-CCF9-8EE0-DA86-0DC2B8D7A874}"/>
              </a:ext>
            </a:extLst>
          </p:cNvPr>
          <p:cNvCxnSpPr>
            <a:cxnSpLocks/>
          </p:cNvCxnSpPr>
          <p:nvPr/>
        </p:nvCxnSpPr>
        <p:spPr>
          <a:xfrm>
            <a:off x="4699782" y="3192163"/>
            <a:ext cx="596118" cy="82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" name="Google Shape;155;p6">
            <a:extLst>
              <a:ext uri="{FF2B5EF4-FFF2-40B4-BE49-F238E27FC236}">
                <a16:creationId xmlns:a16="http://schemas.microsoft.com/office/drawing/2014/main" id="{3DF4CE92-CBF4-A965-1A5F-AC2FC8EB1D19}"/>
              </a:ext>
            </a:extLst>
          </p:cNvPr>
          <p:cNvCxnSpPr/>
          <p:nvPr/>
        </p:nvCxnSpPr>
        <p:spPr>
          <a:xfrm>
            <a:off x="4740666" y="4562676"/>
            <a:ext cx="514350" cy="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4EE5486-8C30-B55C-4641-DEFF9A0AA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fork()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Function </a:t>
            </a:r>
          </a:p>
        </p:txBody>
      </p:sp>
    </p:spTree>
    <p:extLst>
      <p:ext uri="{BB962C8B-B14F-4D97-AF65-F5344CB8AC3E}">
        <p14:creationId xmlns:p14="http://schemas.microsoft.com/office/powerpoint/2010/main" val="172953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(4/13)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pic>
        <p:nvPicPr>
          <p:cNvPr id="9" name="Google Shape;162;p7">
            <a:extLst>
              <a:ext uri="{FF2B5EF4-FFF2-40B4-BE49-F238E27FC236}">
                <a16:creationId xmlns:a16="http://schemas.microsoft.com/office/drawing/2014/main" id="{507AF463-D04D-EEAD-50C2-FF68BA0624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1462" y="2007835"/>
            <a:ext cx="4528917" cy="437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340E2AC-9138-8433-D234-3BED1F4CE7C1}"/>
              </a:ext>
            </a:extLst>
          </p:cNvPr>
          <p:cNvSpPr txBox="1"/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fork()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Function </a:t>
            </a:r>
          </a:p>
        </p:txBody>
      </p:sp>
    </p:spTree>
    <p:extLst>
      <p:ext uri="{BB962C8B-B14F-4D97-AF65-F5344CB8AC3E}">
        <p14:creationId xmlns:p14="http://schemas.microsoft.com/office/powerpoint/2010/main" val="286174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(5/13)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AFED1B9-1F5A-3137-D208-7E7DBFC61A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Example (switch)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0826E467-AA77-1267-4E65-0FE031184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568" y="1052092"/>
            <a:ext cx="5910482" cy="499742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91DD0C0-A385-8F2D-DD1D-98F16A2D9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32" y="2775840"/>
            <a:ext cx="5466853" cy="17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7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(6/13)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5B42AF3-463F-CC23-997B-AB6DCA9FA0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4947121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Example (if)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DF53BB99-DC50-44F6-BACF-B1FCD177C73A}"/>
              </a:ext>
            </a:extLst>
          </p:cNvPr>
          <p:cNvGrpSpPr/>
          <p:nvPr/>
        </p:nvGrpSpPr>
        <p:grpSpPr>
          <a:xfrm>
            <a:off x="5874691" y="877614"/>
            <a:ext cx="5642666" cy="5102772"/>
            <a:chOff x="5749234" y="165289"/>
            <a:chExt cx="6289620" cy="5699483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F7113332-6505-FF4E-ECE6-23A8DA12C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9234" y="165289"/>
              <a:ext cx="6289620" cy="569948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FBE9C96-0F86-5518-FC64-71B7301AC251}"/>
                </a:ext>
              </a:extLst>
            </p:cNvPr>
            <p:cNvSpPr/>
            <p:nvPr/>
          </p:nvSpPr>
          <p:spPr>
            <a:xfrm>
              <a:off x="6863257" y="2834467"/>
              <a:ext cx="1345324" cy="2906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ECDA3CA-44AA-B9D0-B685-792DA5C75E6F}"/>
                </a:ext>
              </a:extLst>
            </p:cNvPr>
            <p:cNvSpPr/>
            <p:nvPr/>
          </p:nvSpPr>
          <p:spPr>
            <a:xfrm>
              <a:off x="9086195" y="3048794"/>
              <a:ext cx="1232603" cy="2906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D750D40-50F3-A921-D3EB-334FCDD9BFF9}"/>
                </a:ext>
              </a:extLst>
            </p:cNvPr>
            <p:cNvSpPr/>
            <p:nvPr/>
          </p:nvSpPr>
          <p:spPr>
            <a:xfrm>
              <a:off x="9086195" y="4374494"/>
              <a:ext cx="1345324" cy="2906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FBC7E3F8-3FA1-4A41-405D-57C08E624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1" y="2901901"/>
            <a:ext cx="5401225" cy="163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7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(7/13)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BD84C5F-FC60-807B-C94D-DD66AA2AA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570405" cy="22874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wait()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Function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當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parent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執行到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wait()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，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parent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就會停止，直到他的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child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完成任務</a:t>
            </a:r>
            <a:endParaRPr lang="en-US" altLang="zh-TW" sz="2400" dirty="0">
              <a:solidFill>
                <a:schemeClr val="bg1"/>
              </a:solidFill>
              <a:cs typeface="Calibri"/>
            </a:endParaRP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當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wait()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因為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child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的狀況回傳，會回傳該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child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的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PID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如果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error</a:t>
            </a:r>
            <a:r>
              <a:rPr lang="zh-TW" altLang="en-US" sz="2400" dirty="0">
                <a:solidFill>
                  <a:schemeClr val="bg1"/>
                </a:solidFill>
                <a:cs typeface="Calibri"/>
              </a:rPr>
              <a:t>則會返回</a:t>
            </a:r>
            <a:r>
              <a:rPr lang="en-US" altLang="zh-TW" sz="2400" dirty="0">
                <a:solidFill>
                  <a:schemeClr val="bg1"/>
                </a:solidFill>
                <a:cs typeface="Calibri"/>
              </a:rPr>
              <a:t>-1</a:t>
            </a:r>
          </a:p>
        </p:txBody>
      </p:sp>
      <p:sp>
        <p:nvSpPr>
          <p:cNvPr id="10" name="Google Shape;126;p4">
            <a:extLst>
              <a:ext uri="{FF2B5EF4-FFF2-40B4-BE49-F238E27FC236}">
                <a16:creationId xmlns:a16="http://schemas.microsoft.com/office/drawing/2014/main" id="{827410EC-C67A-1335-16B4-572FF7C2983D}"/>
              </a:ext>
            </a:extLst>
          </p:cNvPr>
          <p:cNvSpPr txBox="1"/>
          <p:nvPr/>
        </p:nvSpPr>
        <p:spPr>
          <a:xfrm>
            <a:off x="2709723" y="4117080"/>
            <a:ext cx="6772553" cy="15465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i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SYNOPSIS</a:t>
            </a: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#include &lt;sys/</a:t>
            </a: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wait.h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&gt;</a:t>
            </a: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endParaRPr lang="en-US" sz="2400" b="1" kern="0" dirty="0">
              <a:solidFill>
                <a:schemeClr val="bg1"/>
              </a:solidFill>
              <a:latin typeface="Ubuntu Mono" panose="020B0509030602030204" pitchFamily="49" charset="0"/>
              <a:ea typeface="Courier New"/>
              <a:cs typeface="Courier New"/>
              <a:sym typeface="Courier New"/>
            </a:endParaRPr>
          </a:p>
          <a:p>
            <a:pPr>
              <a:buClr>
                <a:srgbClr val="000000"/>
              </a:buClr>
              <a:buSzPts val="2000"/>
              <a:buFont typeface="Courier New"/>
              <a:buNone/>
            </a:pP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pid_t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 wait(int *</a:t>
            </a:r>
            <a:r>
              <a:rPr lang="en-US" sz="2400" b="1" kern="0" dirty="0" err="1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stat_loc</a:t>
            </a:r>
            <a:r>
              <a:rPr lang="en-US" sz="2400" b="1" kern="0" dirty="0">
                <a:solidFill>
                  <a:schemeClr val="bg1"/>
                </a:solidFill>
                <a:latin typeface="Ubuntu Mono" panose="020B0509030602030204" pitchFamily="49" charset="0"/>
                <a:ea typeface="Courier New"/>
                <a:cs typeface="Courier New"/>
                <a:sym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503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(8/13)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8337E3-DFA8-CAD1-33CE-C019BFD62A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6775019" cy="110767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Example :</a:t>
            </a:r>
          </a:p>
          <a:p>
            <a:pPr hangingPunct="0">
              <a:lnSpc>
                <a:spcPct val="125000"/>
              </a:lnSpc>
              <a:spcBef>
                <a:spcPts val="1000"/>
              </a:spcBef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   fork() multiple times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132BDEC-070F-4118-B2EF-84543DA96CE6}"/>
              </a:ext>
            </a:extLst>
          </p:cNvPr>
          <p:cNvGrpSpPr/>
          <p:nvPr/>
        </p:nvGrpSpPr>
        <p:grpSpPr>
          <a:xfrm>
            <a:off x="6096000" y="1205980"/>
            <a:ext cx="5427499" cy="4920619"/>
            <a:chOff x="5867933" y="165289"/>
            <a:chExt cx="6211185" cy="5612711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C45F0B36-5D42-8B1D-82B2-E84B9D841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7933" y="165289"/>
              <a:ext cx="6211185" cy="56127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58C2BC4-31E3-CB05-9CD6-CC450A209501}"/>
                </a:ext>
              </a:extLst>
            </p:cNvPr>
            <p:cNvSpPr/>
            <p:nvPr/>
          </p:nvSpPr>
          <p:spPr>
            <a:xfrm>
              <a:off x="6173169" y="4340772"/>
              <a:ext cx="1250731" cy="50449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6BF74D34-41FB-D2A4-35F0-1B77725CD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32" y="3037835"/>
            <a:ext cx="5486388" cy="148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7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(9/13)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12C3F68-25A3-1573-A974-CDD780540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1" y="1313212"/>
            <a:ext cx="2403436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Example </a:t>
            </a:r>
          </a:p>
        </p:txBody>
      </p:sp>
      <p:sp>
        <p:nvSpPr>
          <p:cNvPr id="14" name="Google Shape;224;p15">
            <a:extLst>
              <a:ext uri="{FF2B5EF4-FFF2-40B4-BE49-F238E27FC236}">
                <a16:creationId xmlns:a16="http://schemas.microsoft.com/office/drawing/2014/main" id="{034573A9-D124-BC5D-D9E7-CD4AE9661D3D}"/>
              </a:ext>
            </a:extLst>
          </p:cNvPr>
          <p:cNvSpPr txBox="1"/>
          <p:nvPr/>
        </p:nvSpPr>
        <p:spPr>
          <a:xfrm>
            <a:off x="272479" y="5048513"/>
            <a:ext cx="3655918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lang="en-US" sz="2000" b="1" i="0" u="none" dirty="0">
                <a:solidFill>
                  <a:srgbClr val="FFFF00"/>
                </a:solidFill>
                <a:ea typeface="Times New Roman"/>
                <a:cs typeface="Times New Roman"/>
                <a:sym typeface="Times New Roman"/>
              </a:rPr>
              <a:t>Parent process always waits for child</a:t>
            </a:r>
            <a:br>
              <a:rPr lang="en-US" sz="2000" b="1" i="0" u="none" dirty="0">
                <a:solidFill>
                  <a:srgbClr val="FFFF00"/>
                </a:solidFill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dirty="0">
                <a:solidFill>
                  <a:srgbClr val="FFFF00"/>
                </a:solidFill>
                <a:ea typeface="Times New Roman"/>
                <a:cs typeface="Times New Roman"/>
                <a:sym typeface="Times New Roman"/>
              </a:rPr>
              <a:t>and executes last.</a:t>
            </a:r>
            <a:endParaRPr sz="1400" b="1" dirty="0">
              <a:solidFill>
                <a:srgbClr val="FFFF00"/>
              </a:solidFill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429AF5D3-B350-4CDC-A90F-126262D912A8}"/>
              </a:ext>
            </a:extLst>
          </p:cNvPr>
          <p:cNvGrpSpPr/>
          <p:nvPr/>
        </p:nvGrpSpPr>
        <p:grpSpPr>
          <a:xfrm>
            <a:off x="5787131" y="1309752"/>
            <a:ext cx="5845268" cy="4786313"/>
            <a:chOff x="5764715" y="190318"/>
            <a:chExt cx="6322181" cy="5239750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2938F1D6-B9E4-6E96-C4E6-7F32F07624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079"/>
            <a:stretch/>
          </p:blipFill>
          <p:spPr>
            <a:xfrm>
              <a:off x="5764715" y="190318"/>
              <a:ext cx="6322181" cy="52397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C238310-846E-7B25-6D54-7B362536DB61}"/>
                </a:ext>
              </a:extLst>
            </p:cNvPr>
            <p:cNvSpPr/>
            <p:nvPr/>
          </p:nvSpPr>
          <p:spPr>
            <a:xfrm>
              <a:off x="6840145" y="3884566"/>
              <a:ext cx="1071526" cy="26702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64B3C74D-8FCA-5CD7-930F-7F55820C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82" y="3013551"/>
            <a:ext cx="5394999" cy="16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4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(10/13)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D100C3E-50D3-36F9-050B-7D1A7CEABA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820926" cy="564738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 exec()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Family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fork()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function creates a copy of the calling process, but many applications require the child process to execute code that is different from that of the parent.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exec()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family provides a facility for overlaying the process image of the calling process with a new image.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Use 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fork()–exec()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combination for the child to execute the new program while the parent continues to execute the original code.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80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 dirty="0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(11/13)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7" name="Google Shape;239;p17">
            <a:extLst>
              <a:ext uri="{FF2B5EF4-FFF2-40B4-BE49-F238E27FC236}">
                <a16:creationId xmlns:a16="http://schemas.microsoft.com/office/drawing/2014/main" id="{696EBB48-80B1-62D5-07FB-D0AC14E039CC}"/>
              </a:ext>
            </a:extLst>
          </p:cNvPr>
          <p:cNvSpPr txBox="1"/>
          <p:nvPr/>
        </p:nvSpPr>
        <p:spPr>
          <a:xfrm>
            <a:off x="5393531" y="2402683"/>
            <a:ext cx="2117966" cy="3549649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240;p17">
            <a:extLst>
              <a:ext uri="{FF2B5EF4-FFF2-40B4-BE49-F238E27FC236}">
                <a16:creationId xmlns:a16="http://schemas.microsoft.com/office/drawing/2014/main" id="{CA8EACA3-1FE3-B167-5440-2B98B847E267}"/>
              </a:ext>
            </a:extLst>
          </p:cNvPr>
          <p:cNvSpPr txBox="1"/>
          <p:nvPr/>
        </p:nvSpPr>
        <p:spPr>
          <a:xfrm>
            <a:off x="7474782" y="2958664"/>
            <a:ext cx="193317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32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endParaRPr sz="1600" dirty="0">
              <a:solidFill>
                <a:schemeClr val="bg1"/>
              </a:solidFill>
            </a:endParaRPr>
          </a:p>
        </p:txBody>
      </p:sp>
      <p:grpSp>
        <p:nvGrpSpPr>
          <p:cNvPr id="10" name="Google Shape;241;p17">
            <a:extLst>
              <a:ext uri="{FF2B5EF4-FFF2-40B4-BE49-F238E27FC236}">
                <a16:creationId xmlns:a16="http://schemas.microsoft.com/office/drawing/2014/main" id="{0384C335-4D49-2F29-5979-91BB94240A16}"/>
              </a:ext>
            </a:extLst>
          </p:cNvPr>
          <p:cNvGrpSpPr/>
          <p:nvPr/>
        </p:nvGrpSpPr>
        <p:grpSpPr>
          <a:xfrm>
            <a:off x="5393531" y="2781301"/>
            <a:ext cx="2117966" cy="1554216"/>
            <a:chOff x="2290" y="1616"/>
            <a:chExt cx="1043" cy="1092"/>
          </a:xfrm>
        </p:grpSpPr>
        <p:sp>
          <p:nvSpPr>
            <p:cNvPr id="11" name="Google Shape;242;p17">
              <a:extLst>
                <a:ext uri="{FF2B5EF4-FFF2-40B4-BE49-F238E27FC236}">
                  <a16:creationId xmlns:a16="http://schemas.microsoft.com/office/drawing/2014/main" id="{1FB21840-E116-ADD6-A67B-9CF4A7C90BDF}"/>
                </a:ext>
              </a:extLst>
            </p:cNvPr>
            <p:cNvSpPr txBox="1"/>
            <p:nvPr/>
          </p:nvSpPr>
          <p:spPr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 i="0" u="none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" name="Google Shape;243;p17">
              <a:extLst>
                <a:ext uri="{FF2B5EF4-FFF2-40B4-BE49-F238E27FC236}">
                  <a16:creationId xmlns:a16="http://schemas.microsoft.com/office/drawing/2014/main" id="{FC7181CB-AD88-0182-B51B-EE1B6DA24009}"/>
                </a:ext>
              </a:extLst>
            </p:cNvPr>
            <p:cNvSpPr txBox="1"/>
            <p:nvPr/>
          </p:nvSpPr>
          <p:spPr>
            <a:xfrm>
              <a:off x="2290" y="1616"/>
              <a:ext cx="998" cy="1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2000" b="1" i="0" u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Copy from original image</a:t>
              </a:r>
              <a:endParaRPr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oogle Shape;244;p17">
            <a:extLst>
              <a:ext uri="{FF2B5EF4-FFF2-40B4-BE49-F238E27FC236}">
                <a16:creationId xmlns:a16="http://schemas.microsoft.com/office/drawing/2014/main" id="{56F087B3-1207-A18B-EB76-136FBEDC64BD}"/>
              </a:ext>
            </a:extLst>
          </p:cNvPr>
          <p:cNvGrpSpPr/>
          <p:nvPr/>
        </p:nvGrpSpPr>
        <p:grpSpPr>
          <a:xfrm>
            <a:off x="5394721" y="2780110"/>
            <a:ext cx="2117966" cy="930640"/>
            <a:chOff x="2064" y="1616"/>
            <a:chExt cx="1043" cy="604"/>
          </a:xfrm>
        </p:grpSpPr>
        <p:sp>
          <p:nvSpPr>
            <p:cNvPr id="14" name="Google Shape;245;p17">
              <a:extLst>
                <a:ext uri="{FF2B5EF4-FFF2-40B4-BE49-F238E27FC236}">
                  <a16:creationId xmlns:a16="http://schemas.microsoft.com/office/drawing/2014/main" id="{03F6DC7F-F6DF-F15B-1D8A-F5C9BBD85121}"/>
                </a:ext>
              </a:extLst>
            </p:cNvPr>
            <p:cNvSpPr txBox="1"/>
            <p:nvPr/>
          </p:nvSpPr>
          <p:spPr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 i="0" u="none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" name="Google Shape;246;p17">
              <a:extLst>
                <a:ext uri="{FF2B5EF4-FFF2-40B4-BE49-F238E27FC236}">
                  <a16:creationId xmlns:a16="http://schemas.microsoft.com/office/drawing/2014/main" id="{53413A54-B5E5-6B4C-837F-82B514F068C3}"/>
                </a:ext>
              </a:extLst>
            </p:cNvPr>
            <p:cNvSpPr txBox="1"/>
            <p:nvPr/>
          </p:nvSpPr>
          <p:spPr>
            <a:xfrm>
              <a:off x="2064" y="1689"/>
              <a:ext cx="998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2000" b="1" i="0" u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Original image</a:t>
              </a:r>
              <a:endParaRPr sz="1600">
                <a:solidFill>
                  <a:schemeClr val="bg1"/>
                </a:solidFill>
              </a:endParaRPr>
            </a:p>
          </p:txBody>
        </p:sp>
      </p:grpSp>
      <p:sp>
        <p:nvSpPr>
          <p:cNvPr id="16" name="Google Shape;247;p17">
            <a:extLst>
              <a:ext uri="{FF2B5EF4-FFF2-40B4-BE49-F238E27FC236}">
                <a16:creationId xmlns:a16="http://schemas.microsoft.com/office/drawing/2014/main" id="{A0E2B3CD-D63A-6C07-51B4-4315B8F74421}"/>
              </a:ext>
            </a:extLst>
          </p:cNvPr>
          <p:cNvSpPr txBox="1"/>
          <p:nvPr/>
        </p:nvSpPr>
        <p:spPr>
          <a:xfrm>
            <a:off x="7593479" y="4323372"/>
            <a:ext cx="193317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Courier New"/>
              <a:buNone/>
            </a:pPr>
            <a:r>
              <a:rPr lang="en-US" sz="32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exec()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7" name="Google Shape;248;p17">
            <a:extLst>
              <a:ext uri="{FF2B5EF4-FFF2-40B4-BE49-F238E27FC236}">
                <a16:creationId xmlns:a16="http://schemas.microsoft.com/office/drawing/2014/main" id="{71D1BBE2-A045-09CA-9320-B06B91EEA341}"/>
              </a:ext>
            </a:extLst>
          </p:cNvPr>
          <p:cNvSpPr txBox="1"/>
          <p:nvPr/>
        </p:nvSpPr>
        <p:spPr>
          <a:xfrm>
            <a:off x="2630558" y="2931756"/>
            <a:ext cx="194942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2000"/>
              <a:buFont typeface="Helvetica Neue"/>
              <a:buNone/>
            </a:pPr>
            <a:r>
              <a:rPr lang="en-US" sz="2400" b="1" i="0" u="none" dirty="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</a:t>
            </a:r>
            <a:endParaRPr sz="1600" dirty="0">
              <a:solidFill>
                <a:srgbClr val="FFFF00"/>
              </a:solidFill>
            </a:endParaRPr>
          </a:p>
        </p:txBody>
      </p:sp>
      <p:sp>
        <p:nvSpPr>
          <p:cNvPr id="18" name="Google Shape;249;p17">
            <a:extLst>
              <a:ext uri="{FF2B5EF4-FFF2-40B4-BE49-F238E27FC236}">
                <a16:creationId xmlns:a16="http://schemas.microsoft.com/office/drawing/2014/main" id="{A425D779-33F4-D96E-7948-AEC97807AB6E}"/>
              </a:ext>
            </a:extLst>
          </p:cNvPr>
          <p:cNvSpPr txBox="1"/>
          <p:nvPr/>
        </p:nvSpPr>
        <p:spPr>
          <a:xfrm>
            <a:off x="2514235" y="4177507"/>
            <a:ext cx="1949422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2000"/>
              <a:buFont typeface="Helvetica Neue"/>
              <a:buNone/>
            </a:pPr>
            <a:r>
              <a:rPr lang="en-US" sz="2400" b="1" i="0" u="none" dirty="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Child</a:t>
            </a:r>
            <a:endParaRPr sz="1600" dirty="0">
              <a:solidFill>
                <a:srgbClr val="FFFF00"/>
              </a:solidFill>
            </a:endParaRPr>
          </a:p>
        </p:txBody>
      </p:sp>
      <p:cxnSp>
        <p:nvCxnSpPr>
          <p:cNvPr id="19" name="Google Shape;250;p17">
            <a:extLst>
              <a:ext uri="{FF2B5EF4-FFF2-40B4-BE49-F238E27FC236}">
                <a16:creationId xmlns:a16="http://schemas.microsoft.com/office/drawing/2014/main" id="{C876D27E-6ADC-3539-B3FB-68B2D79D85A0}"/>
              </a:ext>
            </a:extLst>
          </p:cNvPr>
          <p:cNvCxnSpPr>
            <a:cxnSpLocks/>
          </p:cNvCxnSpPr>
          <p:nvPr/>
        </p:nvCxnSpPr>
        <p:spPr>
          <a:xfrm>
            <a:off x="4342930" y="3199976"/>
            <a:ext cx="877240" cy="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" name="Google Shape;251;p17">
            <a:extLst>
              <a:ext uri="{FF2B5EF4-FFF2-40B4-BE49-F238E27FC236}">
                <a16:creationId xmlns:a16="http://schemas.microsoft.com/office/drawing/2014/main" id="{DF5BF9F6-E564-807C-FD00-EA6A937005FA}"/>
              </a:ext>
            </a:extLst>
          </p:cNvPr>
          <p:cNvCxnSpPr>
            <a:cxnSpLocks/>
          </p:cNvCxnSpPr>
          <p:nvPr/>
        </p:nvCxnSpPr>
        <p:spPr>
          <a:xfrm>
            <a:off x="4342930" y="4445000"/>
            <a:ext cx="877240" cy="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grpSp>
        <p:nvGrpSpPr>
          <p:cNvPr id="21" name="Google Shape;252;p17">
            <a:extLst>
              <a:ext uri="{FF2B5EF4-FFF2-40B4-BE49-F238E27FC236}">
                <a16:creationId xmlns:a16="http://schemas.microsoft.com/office/drawing/2014/main" id="{B9104BDA-38F8-3637-D305-33BCCF758B36}"/>
              </a:ext>
            </a:extLst>
          </p:cNvPr>
          <p:cNvGrpSpPr/>
          <p:nvPr/>
        </p:nvGrpSpPr>
        <p:grpSpPr>
          <a:xfrm>
            <a:off x="5394721" y="4185049"/>
            <a:ext cx="2117966" cy="1204091"/>
            <a:chOff x="930" y="3249"/>
            <a:chExt cx="1043" cy="846"/>
          </a:xfrm>
        </p:grpSpPr>
        <p:sp>
          <p:nvSpPr>
            <p:cNvPr id="22" name="Google Shape;253;p17">
              <a:extLst>
                <a:ext uri="{FF2B5EF4-FFF2-40B4-BE49-F238E27FC236}">
                  <a16:creationId xmlns:a16="http://schemas.microsoft.com/office/drawing/2014/main" id="{BADF41F9-316A-86B3-FCBC-AA8D3E717D8A}"/>
                </a:ext>
              </a:extLst>
            </p:cNvPr>
            <p:cNvSpPr txBox="1"/>
            <p:nvPr/>
          </p:nvSpPr>
          <p:spPr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 i="0" u="none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" name="Google Shape;254;p17">
              <a:extLst>
                <a:ext uri="{FF2B5EF4-FFF2-40B4-BE49-F238E27FC236}">
                  <a16:creationId xmlns:a16="http://schemas.microsoft.com/office/drawing/2014/main" id="{995D54EB-9836-FA96-07D8-5D73EF1B2283}"/>
                </a:ext>
              </a:extLst>
            </p:cNvPr>
            <p:cNvSpPr txBox="1"/>
            <p:nvPr/>
          </p:nvSpPr>
          <p:spPr>
            <a:xfrm>
              <a:off x="975" y="3261"/>
              <a:ext cx="998" cy="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2000" b="1" i="0" u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Load another image</a:t>
              </a:r>
              <a:endParaRPr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A67EBBC-225E-2366-EAAC-F6D8FCC314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1" y="1313212"/>
            <a:ext cx="3988499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exec()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Family</a:t>
            </a:r>
          </a:p>
        </p:txBody>
      </p:sp>
      <p:sp>
        <p:nvSpPr>
          <p:cNvPr id="26" name="Google Shape;144;p6">
            <a:extLst>
              <a:ext uri="{FF2B5EF4-FFF2-40B4-BE49-F238E27FC236}">
                <a16:creationId xmlns:a16="http://schemas.microsoft.com/office/drawing/2014/main" id="{EF75790F-8D9D-7E3F-C682-8D93AC37FCD3}"/>
              </a:ext>
            </a:extLst>
          </p:cNvPr>
          <p:cNvSpPr txBox="1"/>
          <p:nvPr/>
        </p:nvSpPr>
        <p:spPr>
          <a:xfrm>
            <a:off x="5535284" y="1794071"/>
            <a:ext cx="1964566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3200" b="1" i="0" u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sz="1600" dirty="0">
              <a:solidFill>
                <a:schemeClr val="bg1"/>
              </a:solidFill>
            </a:endParaRPr>
          </a:p>
        </p:txBody>
      </p:sp>
      <p:grpSp>
        <p:nvGrpSpPr>
          <p:cNvPr id="3" name="Google Shape;146;p6">
            <a:extLst>
              <a:ext uri="{FF2B5EF4-FFF2-40B4-BE49-F238E27FC236}">
                <a16:creationId xmlns:a16="http://schemas.microsoft.com/office/drawing/2014/main" id="{EE9F2F02-1455-CBFC-5FCE-702296668EB6}"/>
              </a:ext>
            </a:extLst>
          </p:cNvPr>
          <p:cNvGrpSpPr/>
          <p:nvPr/>
        </p:nvGrpSpPr>
        <p:grpSpPr>
          <a:xfrm>
            <a:off x="5405308" y="4191787"/>
            <a:ext cx="2117966" cy="1407735"/>
            <a:chOff x="2290" y="1616"/>
            <a:chExt cx="1043" cy="1007"/>
          </a:xfrm>
        </p:grpSpPr>
        <p:sp>
          <p:nvSpPr>
            <p:cNvPr id="25" name="Google Shape;147;p6">
              <a:extLst>
                <a:ext uri="{FF2B5EF4-FFF2-40B4-BE49-F238E27FC236}">
                  <a16:creationId xmlns:a16="http://schemas.microsoft.com/office/drawing/2014/main" id="{81238EFB-5047-76C7-02DB-2C55912A37DA}"/>
                </a:ext>
              </a:extLst>
            </p:cNvPr>
            <p:cNvSpPr txBox="1"/>
            <p:nvPr/>
          </p:nvSpPr>
          <p:spPr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25" b="1" i="0" u="none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" name="Google Shape;148;p6">
              <a:extLst>
                <a:ext uri="{FF2B5EF4-FFF2-40B4-BE49-F238E27FC236}">
                  <a16:creationId xmlns:a16="http://schemas.microsoft.com/office/drawing/2014/main" id="{6F8D45E9-6747-AB2B-D3D8-8BBF17F6916D}"/>
                </a:ext>
              </a:extLst>
            </p:cNvPr>
            <p:cNvSpPr txBox="1"/>
            <p:nvPr/>
          </p:nvSpPr>
          <p:spPr>
            <a:xfrm>
              <a:off x="2302" y="1634"/>
              <a:ext cx="998" cy="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b="1" i="0" u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Copy from original image</a:t>
              </a:r>
              <a:endParaRPr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695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19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(12/13)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ECFFDF-501C-31C7-151B-E23B164A5709}"/>
              </a:ext>
            </a:extLst>
          </p:cNvPr>
          <p:cNvSpPr txBox="1"/>
          <p:nvPr/>
        </p:nvSpPr>
        <p:spPr>
          <a:xfrm>
            <a:off x="1078801" y="1313212"/>
            <a:ext cx="10545352" cy="321081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exec()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 Family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rgbClr val="FFFF00"/>
                </a:solidFill>
                <a:cs typeface="Calibri"/>
              </a:rPr>
              <a:t>execlp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()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passes the command-line arguments in an explicit list and are useful if you know the number of command-line arguments at compile time.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zh-TW" sz="2400" b="1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7" name="Google Shape;126;p4">
            <a:extLst>
              <a:ext uri="{FF2B5EF4-FFF2-40B4-BE49-F238E27FC236}">
                <a16:creationId xmlns:a16="http://schemas.microsoft.com/office/drawing/2014/main" id="{88968516-3198-1ACD-C287-82DF779B0BC9}"/>
              </a:ext>
            </a:extLst>
          </p:cNvPr>
          <p:cNvSpPr txBox="1"/>
          <p:nvPr/>
        </p:nvSpPr>
        <p:spPr>
          <a:xfrm>
            <a:off x="1676242" y="4314148"/>
            <a:ext cx="8839516" cy="15465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lang="en-US" altLang="zh-TW" sz="24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</a:t>
            </a:r>
            <a:r>
              <a:rPr lang="en-US" altLang="zh-TW" sz="2400" b="1" i="0" u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r>
              <a:rPr lang="en-US" altLang="zh-TW" sz="24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-US" altLang="zh-TW" sz="2400" b="1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7594"/>
              </a:buClr>
              <a:buSzPts val="1400"/>
              <a:buFont typeface="Helvetica Neue"/>
              <a:buNone/>
            </a:pPr>
            <a:endParaRPr lang="en-US" altLang="zh-TW" sz="2400" b="1" i="0" u="none" dirty="0">
              <a:solidFill>
                <a:schemeClr val="bg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lang="en-US" altLang="zh-TW" sz="24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altLang="zh-TW" sz="2400" b="1" i="0" u="none" dirty="0" err="1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execlp</a:t>
            </a:r>
            <a:r>
              <a:rPr lang="en-US" altLang="zh-TW" sz="2400" b="1" i="0" u="none" dirty="0">
                <a:solidFill>
                  <a:schemeClr val="bg1"/>
                </a:solidFill>
                <a:latin typeface="Courier New"/>
                <a:ea typeface="Courier New"/>
                <a:cs typeface="Courier New"/>
                <a:sym typeface="Courier New"/>
              </a:rPr>
              <a:t> (const char *filename, const char *arg0, ... /*(char *)0 */);</a:t>
            </a:r>
            <a:endParaRPr lang="en-US" altLang="zh-TW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9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20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Function (13/13)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349856D-DF62-5DD4-2609-78DD8699A3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1" y="1313212"/>
            <a:ext cx="3988499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Example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0C8CD11D-4993-4BDB-ABE5-0F634AC857E2}"/>
              </a:ext>
            </a:extLst>
          </p:cNvPr>
          <p:cNvGrpSpPr/>
          <p:nvPr/>
        </p:nvGrpSpPr>
        <p:grpSpPr>
          <a:xfrm>
            <a:off x="6072602" y="1366625"/>
            <a:ext cx="5929358" cy="4428000"/>
            <a:chOff x="5712468" y="1118488"/>
            <a:chExt cx="6252317" cy="4622799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B7687F78-DE2E-2726-01B4-7A6A8BF6C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2468" y="1118488"/>
              <a:ext cx="6252317" cy="462279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EB5F862-B68E-9FCC-E22E-A3B6ED5BDDA1}"/>
                </a:ext>
              </a:extLst>
            </p:cNvPr>
            <p:cNvSpPr/>
            <p:nvPr/>
          </p:nvSpPr>
          <p:spPr>
            <a:xfrm>
              <a:off x="7081881" y="3674359"/>
              <a:ext cx="3165704" cy="2775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72A482D6-B387-0358-673A-F463B6301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49" y="2214132"/>
            <a:ext cx="5587767" cy="344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6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21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/>
              </a:rPr>
              <a:t>Outline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 dirty="0">
                <a:solidFill>
                  <a:srgbClr val="FFFFFF"/>
                </a:solidFill>
                <a:cs typeface="Calibri"/>
              </a:rPr>
              <a:t>$</a:t>
            </a:r>
            <a:endParaRPr lang="zh-TW" sz="6000" i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5E931C-F78E-D3DC-4B80-AF40BBCE1A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0" y="1313212"/>
            <a:ext cx="10033200" cy="214712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Introduction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chemeClr val="bg1"/>
                </a:solidFill>
                <a:cs typeface="Calibri"/>
              </a:rPr>
              <a:t>Function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Exercise 1 </a:t>
            </a:r>
            <a:r>
              <a:rPr lang="zh-TW" altLang="en-US" sz="3200" b="1" dirty="0">
                <a:solidFill>
                  <a:srgbClr val="FFFF00"/>
                </a:solidFill>
                <a:cs typeface="Calibri"/>
              </a:rPr>
              <a:t>、 </a:t>
            </a:r>
            <a:r>
              <a:rPr lang="en-US" altLang="zh-TW" sz="3200" b="1" dirty="0">
                <a:solidFill>
                  <a:srgbClr val="FFFF00"/>
                </a:solidFill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31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22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 1 (40pts.) (1/6)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6404C4-96EB-66A1-CEFE-D6A8F05A8B24}"/>
              </a:ext>
            </a:extLst>
          </p:cNvPr>
          <p:cNvSpPr txBox="1">
            <a:spLocks/>
          </p:cNvSpPr>
          <p:nvPr/>
        </p:nvSpPr>
        <p:spPr>
          <a:xfrm>
            <a:off x="1078801" y="1313212"/>
            <a:ext cx="10457670" cy="26209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Declare a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global variable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and a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local variable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Note that, both the global and local variables are initialized to the same value (=10)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Print both the values of global and local variables in screen (With the process id and parent’s id) </a:t>
            </a:r>
          </a:p>
        </p:txBody>
      </p:sp>
    </p:spTree>
    <p:extLst>
      <p:ext uri="{BB962C8B-B14F-4D97-AF65-F5344CB8AC3E}">
        <p14:creationId xmlns:p14="http://schemas.microsoft.com/office/powerpoint/2010/main" val="374484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23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 1 (40pts.) (2/6)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C3EC39F-8607-2551-C5DB-ADDABC5A5286}"/>
              </a:ext>
            </a:extLst>
          </p:cNvPr>
          <p:cNvSpPr txBox="1"/>
          <p:nvPr/>
        </p:nvSpPr>
        <p:spPr>
          <a:xfrm>
            <a:off x="854907" y="1250516"/>
            <a:ext cx="10507774" cy="426238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Create a child process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Print both the values of global and local variables in screen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Then, increases both the values of the global variable and local variable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Finally, both processes print the values of the global and local variables 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With their process id and parent’s id. </a:t>
            </a:r>
          </a:p>
        </p:txBody>
      </p:sp>
    </p:spTree>
    <p:extLst>
      <p:ext uri="{BB962C8B-B14F-4D97-AF65-F5344CB8AC3E}">
        <p14:creationId xmlns:p14="http://schemas.microsoft.com/office/powerpoint/2010/main" val="286865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24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 1 (40pts.) (3/6)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6123343-10F5-5B3B-E24B-C92B4C55C4BB}"/>
              </a:ext>
            </a:extLst>
          </p:cNvPr>
          <p:cNvSpPr txBox="1"/>
          <p:nvPr/>
        </p:nvSpPr>
        <p:spPr>
          <a:xfrm>
            <a:off x="1078801" y="1313212"/>
            <a:ext cx="3988499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Result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5C1C72-4960-5771-AAA2-29121BAED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02" y="2092102"/>
            <a:ext cx="11262239" cy="36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5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25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 2 (50pts.) (4/6)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312844F-062C-A1D6-C179-E588C4378B93}"/>
              </a:ext>
            </a:extLst>
          </p:cNvPr>
          <p:cNvSpPr txBox="1"/>
          <p:nvPr/>
        </p:nvSpPr>
        <p:spPr>
          <a:xfrm>
            <a:off x="994720" y="4181455"/>
            <a:ext cx="10257254" cy="21592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Write a program that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creates 5 processes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, forming a tree configuration illustrated in the figure.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Each process print the following report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Its’ process id and the parent’s process id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0D979510-0247-DA44-5683-E95FE485D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800" y="1220101"/>
            <a:ext cx="4288401" cy="28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9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26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 2 (50pts.) (5/6)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99004A9-3C20-C275-C7DD-560AA06E52FE}"/>
              </a:ext>
            </a:extLst>
          </p:cNvPr>
          <p:cNvSpPr txBox="1"/>
          <p:nvPr/>
        </p:nvSpPr>
        <p:spPr>
          <a:xfrm>
            <a:off x="1078802" y="1313212"/>
            <a:ext cx="10257254" cy="24926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Each process, if it is a parent, must make a number of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wait()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system calls to wait until all of it’s children exit.</a:t>
            </a:r>
          </a:p>
          <a:p>
            <a:pPr marL="964800" lvl="1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The number of </a:t>
            </a:r>
            <a:r>
              <a:rPr lang="en-US" altLang="zh-TW" sz="2400" b="1" dirty="0">
                <a:solidFill>
                  <a:srgbClr val="FFFF00"/>
                </a:solidFill>
                <a:cs typeface="Calibri"/>
              </a:rPr>
              <a:t>wait() </a:t>
            </a: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system calls depend on the number of children</a:t>
            </a:r>
          </a:p>
        </p:txBody>
      </p:sp>
    </p:spTree>
    <p:extLst>
      <p:ext uri="{BB962C8B-B14F-4D97-AF65-F5344CB8AC3E}">
        <p14:creationId xmlns:p14="http://schemas.microsoft.com/office/powerpoint/2010/main" val="3134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27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Exercise 2 (50pts.) (6/6)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EEA6ED1-4E3D-5884-EE19-BBF56E01CB9A}"/>
              </a:ext>
            </a:extLst>
          </p:cNvPr>
          <p:cNvSpPr txBox="1"/>
          <p:nvPr/>
        </p:nvSpPr>
        <p:spPr>
          <a:xfrm>
            <a:off x="1078801" y="1313212"/>
            <a:ext cx="3988499" cy="517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bg1"/>
                </a:solidFill>
                <a:cs typeface="Calibri"/>
              </a:rPr>
              <a:t>Result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AE30414-A041-C285-B78F-B7357EC1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41" y="2521894"/>
            <a:ext cx="9974359" cy="255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A2E0-9621-EFAA-9BE8-4C85C736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9F6EF588-BB28-7FD7-49B7-E98A0F639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615BD1D-360F-1BD4-2C92-02C768B5B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76E3400-26B2-4702-B601-10E58EF11286}" type="slidenum">
              <a:rPr lang="en-US" altLang="zh-TW" b="1" smtClean="0"/>
              <a:t>28</a:t>
            </a:fld>
            <a:endParaRPr lang="zh-TW" altLang="en-US" b="1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6F1CBB-A47D-E4EB-B44C-C0AFE565AB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cs typeface="Calibri"/>
              </a:rPr>
              <a:t>NCHU System &amp; Network Lab</a:t>
            </a:r>
            <a:endParaRPr lang="zh-TW" sz="1400" b="1"/>
          </a:p>
        </p:txBody>
      </p:sp>
      <p:sp>
        <p:nvSpPr>
          <p:cNvPr id="8" name="標題 10">
            <a:extLst>
              <a:ext uri="{FF2B5EF4-FFF2-40B4-BE49-F238E27FC236}">
                <a16:creationId xmlns:a16="http://schemas.microsoft.com/office/drawing/2014/main" id="{AF121A8F-3AFF-8AB7-4003-EEEA411D9A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444083" y="344206"/>
            <a:ext cx="9311500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srgbClr val="FFFFFF"/>
                </a:solidFill>
                <a:cs typeface="Calibri"/>
              </a:rPr>
              <a:t>References </a:t>
            </a:r>
            <a:endParaRPr kumimoji="0" lang="en-US" altLang="zh-TW" sz="4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B3E5D2-8275-49DB-1B8A-B4A25C8CF24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6000" b="1" i="1">
                <a:solidFill>
                  <a:srgbClr val="FFFFFF"/>
                </a:solidFill>
                <a:cs typeface="Calibri"/>
              </a:rPr>
              <a:t>$</a:t>
            </a:r>
            <a:endParaRPr lang="zh-TW" sz="6000" i="1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6E7653-3343-07F5-0024-3C90ED5D64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8802" y="1313212"/>
            <a:ext cx="10257254" cy="47240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/>
                </a:solidFill>
                <a:cs typeface="Calibri"/>
              </a:rPr>
              <a:t>Avi </a:t>
            </a:r>
            <a:r>
              <a:rPr lang="en-US" altLang="zh-TW" sz="2400" dirty="0" err="1">
                <a:solidFill>
                  <a:schemeClr val="bg1"/>
                </a:solidFill>
                <a:cs typeface="Calibri"/>
              </a:rPr>
              <a:t>Silberschatz</a:t>
            </a:r>
            <a:r>
              <a:rPr lang="en-US" altLang="zh-TW" sz="2400" dirty="0">
                <a:solidFill>
                  <a:schemeClr val="bg1"/>
                </a:solidFill>
                <a:cs typeface="Calibri"/>
              </a:rPr>
              <a:t>, Peter Baer Galvin and Greg Gagne,  “Operating System Concepts,” John Wiley &amp; Sons, 6th Edition, 2001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/>
                </a:solidFill>
                <a:cs typeface="Calibri"/>
              </a:rPr>
              <a:t>“Unix Systems Programming: Communication, Concurrency, and Threads” by Kay A. Robbins, Steven Robbins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/>
                </a:solidFill>
                <a:cs typeface="Calibri"/>
              </a:rPr>
              <a:t>Neil Matthew and Richard Stones, “Beginning Linux Programming,” Wiley publishing, 3rd Edition, 2004</a:t>
            </a:r>
          </a:p>
          <a:p>
            <a:pPr marL="507600" indent="-507600" hangingPunct="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chemeClr val="bg1"/>
                </a:solidFill>
                <a:cs typeface="Calibri"/>
              </a:rPr>
              <a:t>W. Richard Stevens, “Advanced Programming in the UNIX Environment,” Addison-Wesley, 1992</a:t>
            </a:r>
          </a:p>
        </p:txBody>
      </p:sp>
    </p:spTree>
    <p:extLst>
      <p:ext uri="{BB962C8B-B14F-4D97-AF65-F5344CB8AC3E}">
        <p14:creationId xmlns:p14="http://schemas.microsoft.com/office/powerpoint/2010/main" val="368989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611066C0-5402-FDAA-0C3F-2F57135FEE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 flip="none" rotWithShape="1">
            <a:gsLst>
              <a:gs pos="60000">
                <a:srgbClr val="5D26C1">
                  <a:alpha val="0"/>
                </a:srgbClr>
              </a:gs>
              <a:gs pos="30000">
                <a:srgbClr val="5D26C1">
                  <a:alpha val="30000"/>
                </a:srgbClr>
              </a:gs>
              <a:gs pos="0">
                <a:srgbClr val="8E2DE2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8E7E1E83-D4FC-9008-B079-650746F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 flip="none" rotWithShape="1"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  <a:lumMod val="10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latin typeface="Consolas" panose="020B0609020204030204" pitchFamily="49" charset="0"/>
            </a:endParaRPr>
          </a:p>
        </p:txBody>
      </p:sp>
      <p:sp>
        <p:nvSpPr>
          <p:cNvPr id="13" name="標題 12">
            <a:extLst>
              <a:ext uri="{FF2B5EF4-FFF2-40B4-BE49-F238E27FC236}">
                <a16:creationId xmlns:a16="http://schemas.microsoft.com/office/drawing/2014/main" id="{A622C7FD-5A78-80EC-8949-7B3836DF29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1618389" y="1407914"/>
            <a:ext cx="7101901" cy="193899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Thanks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alibri"/>
              </a:rPr>
              <a:t>your listening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3B3DB47-A296-E215-293B-32F81B7F83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&gt;</a:t>
            </a:r>
            <a:endParaRPr lang="zh-TW" sz="14400">
              <a:latin typeface="Consolas" panose="020B0609020204030204" pitchFamily="49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B409275-3F93-50AF-44B4-8899F8F2CEF9}"/>
              </a:ext>
            </a:extLst>
          </p:cNvPr>
          <p:cNvSpPr txBox="1"/>
          <p:nvPr/>
        </p:nvSpPr>
        <p:spPr>
          <a:xfrm>
            <a:off x="3973557" y="6550223"/>
            <a:ext cx="4244886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Consolas" panose="020B0609020204030204" pitchFamily="49" charset="0"/>
                <a:ea typeface="新細明體"/>
                <a:cs typeface="Calibri"/>
              </a:rPr>
              <a:t>Made by PurpleRed, Present on 2023/10/23</a:t>
            </a:r>
          </a:p>
        </p:txBody>
      </p:sp>
    </p:spTree>
    <p:extLst>
      <p:ext uri="{BB962C8B-B14F-4D97-AF65-F5344CB8AC3E}">
        <p14:creationId xmlns:p14="http://schemas.microsoft.com/office/powerpoint/2010/main" val="268358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urpleRed">
      <a:majorFont>
        <a:latin typeface="Consolas"/>
        <a:ea typeface="華康中特圓體"/>
        <a:cs typeface=""/>
      </a:majorFont>
      <a:minorFont>
        <a:latin typeface="Consolas"/>
        <a:ea typeface="華康中特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3159</TotalTime>
  <Words>2299</Words>
  <Application>Microsoft Office PowerPoint</Application>
  <PresentationFormat>寬螢幕</PresentationFormat>
  <Paragraphs>308</Paragraphs>
  <Slides>29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Courier New</vt:lpstr>
      <vt:lpstr>Calibri</vt:lpstr>
      <vt:lpstr>Times New Roman</vt:lpstr>
      <vt:lpstr>Helvetica Neue</vt:lpstr>
      <vt:lpstr>Ubuntu Mono</vt:lpstr>
      <vt:lpstr>Consolas</vt:lpstr>
      <vt:lpstr>Arial</vt:lpstr>
      <vt:lpstr>Office 佈景主題</vt:lpstr>
      <vt:lpstr>PowerPoint 簡報</vt:lpstr>
      <vt:lpstr>Outline</vt:lpstr>
      <vt:lpstr>Introduction (1/4)</vt:lpstr>
      <vt:lpstr>Introduction (2/4)</vt:lpstr>
      <vt:lpstr>Introduction (3/4)</vt:lpstr>
      <vt:lpstr>Introduction (4/4)</vt:lpstr>
      <vt:lpstr>Outline</vt:lpstr>
      <vt:lpstr>Function (1/13)</vt:lpstr>
      <vt:lpstr>Function (2/13)</vt:lpstr>
      <vt:lpstr>Function (3/13)</vt:lpstr>
      <vt:lpstr>Function (4/13)</vt:lpstr>
      <vt:lpstr>Function (5/13)</vt:lpstr>
      <vt:lpstr>Function (6/13)</vt:lpstr>
      <vt:lpstr>Function (7/13)</vt:lpstr>
      <vt:lpstr>Function (8/13)</vt:lpstr>
      <vt:lpstr>Function (9/13)</vt:lpstr>
      <vt:lpstr>Function (10/13)</vt:lpstr>
      <vt:lpstr>Function (11/13)</vt:lpstr>
      <vt:lpstr>Function (12/13)</vt:lpstr>
      <vt:lpstr>Function (13/13)</vt:lpstr>
      <vt:lpstr>Outline</vt:lpstr>
      <vt:lpstr>Exercise 1 (40pts.) (1/6)</vt:lpstr>
      <vt:lpstr>Exercise 1 (40pts.) (2/6)</vt:lpstr>
      <vt:lpstr>Exercise 1 (40pts.) (3/6)</vt:lpstr>
      <vt:lpstr>Exercise 2 (50pts.) (4/6)</vt:lpstr>
      <vt:lpstr>Exercise 2 (50pts.) (5/6)</vt:lpstr>
      <vt:lpstr>Exercise 2 (50pts.) (6/6)</vt:lpstr>
      <vt:lpstr>References </vt:lpstr>
      <vt:lpstr>Thanks for your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PurpleRed</dc:creator>
  <cp:lastModifiedBy>link1218 link1218</cp:lastModifiedBy>
  <cp:revision>46</cp:revision>
  <dcterms:created xsi:type="dcterms:W3CDTF">2023-12-16T06:12:01Z</dcterms:created>
  <dcterms:modified xsi:type="dcterms:W3CDTF">2026-09-08T16:15:36Z</dcterms:modified>
</cp:coreProperties>
</file>