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GYo6EqgyKo2P7roWKVfrC0+rq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sudo apt update  更新本地軟體包列表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sudo apt upgrade  升級已安裝的軟體包到最新版本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sudo apt remove package_name 移除已安裝的軟件包，但保留其配置文件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sudo apt purge package_name 移除已安裝的軟件包及其相關的配置文件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sudo apt autoremove 移除已安裝的軟件包的同時，刪除其自動安裝的但目前不再需要的依賴軟件包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apt search keyword  在軟件包描述中搜索關鍵字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apt show package_name 顯示特定軟件包的詳細信息，包括版本號、依賴關係等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apt list --installed 列出系統中已安裝的所有軟件包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cat /var/lib/</a:t>
            </a:r>
            <a:r>
              <a:rPr lang="en-US" b="1" dirty="0" err="1"/>
              <a:t>dpkg</a:t>
            </a:r>
            <a:r>
              <a:rPr lang="en-US" b="1" dirty="0"/>
              <a:t>/status</a:t>
            </a:r>
            <a:r>
              <a:rPr lang="en-US" dirty="0"/>
              <a:t>: cat </a:t>
            </a:r>
            <a:r>
              <a:rPr lang="en-US" dirty="0" err="1"/>
              <a:t>命令用於顯示文件的內容</a:t>
            </a:r>
            <a:r>
              <a:rPr lang="en-US" dirty="0"/>
              <a:t>。/var/lib/</a:t>
            </a:r>
            <a:r>
              <a:rPr lang="en-US" dirty="0" err="1"/>
              <a:t>dpkg</a:t>
            </a:r>
            <a:r>
              <a:rPr lang="en-US" dirty="0"/>
              <a:t>/status </a:t>
            </a:r>
            <a:r>
              <a:rPr lang="en-US" dirty="0" err="1"/>
              <a:t>是一個文件，它包含了系統上所有已安裝軟件包的詳細信息，例如軟件包名稱、版本、依賴關係等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| grep package : </a:t>
            </a:r>
            <a:r>
              <a:rPr lang="en-US" dirty="0"/>
              <a:t> | </a:t>
            </a:r>
            <a:r>
              <a:rPr lang="en-US" dirty="0" err="1"/>
              <a:t>符號是管道操作符，它將</a:t>
            </a:r>
            <a:r>
              <a:rPr lang="en-US" dirty="0"/>
              <a:t> cat </a:t>
            </a:r>
            <a:r>
              <a:rPr lang="en-US" dirty="0" err="1"/>
              <a:t>命令的輸出（即</a:t>
            </a:r>
            <a:r>
              <a:rPr lang="en-US" dirty="0"/>
              <a:t> /var/lib/</a:t>
            </a:r>
            <a:r>
              <a:rPr lang="en-US" dirty="0" err="1"/>
              <a:t>dpkg</a:t>
            </a:r>
            <a:r>
              <a:rPr lang="en-US" dirty="0"/>
              <a:t>/status </a:t>
            </a:r>
            <a:r>
              <a:rPr lang="en-US" dirty="0" err="1"/>
              <a:t>文件的內容）傳遞給</a:t>
            </a:r>
            <a:r>
              <a:rPr lang="en-US" dirty="0"/>
              <a:t> grep </a:t>
            </a:r>
            <a:r>
              <a:rPr lang="en-US" dirty="0" err="1"/>
              <a:t>命令進行處理。grep</a:t>
            </a:r>
            <a:r>
              <a:rPr lang="en-US" dirty="0"/>
              <a:t> </a:t>
            </a:r>
            <a:r>
              <a:rPr lang="en-US" dirty="0" err="1"/>
              <a:t>命令用於搜索符合指定模式的行。在這裡，grep</a:t>
            </a:r>
            <a:r>
              <a:rPr lang="en-US" dirty="0"/>
              <a:t> package: </a:t>
            </a:r>
            <a:r>
              <a:rPr lang="en-US" dirty="0" err="1"/>
              <a:t>表示只保留包含</a:t>
            </a:r>
            <a:r>
              <a:rPr lang="en-US" dirty="0"/>
              <a:t> package: </a:t>
            </a:r>
            <a:r>
              <a:rPr lang="en-US" dirty="0" err="1"/>
              <a:t>字符串的行，這些行包含著軟件包的基本信息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&gt; ~/Desktop/packages </a:t>
            </a:r>
            <a:r>
              <a:rPr lang="en-US" dirty="0"/>
              <a:t>: &gt; </a:t>
            </a:r>
            <a:r>
              <a:rPr lang="en-US" dirty="0" err="1"/>
              <a:t>符號用於將命令的輸出重定向到文件。在這裡</a:t>
            </a:r>
            <a:r>
              <a:rPr lang="en-US" dirty="0"/>
              <a:t>，~/Desktop/packages </a:t>
            </a:r>
            <a:r>
              <a:rPr lang="en-US" dirty="0" err="1"/>
              <a:t>是目標文件的路徑，它位於用戶的桌面上</a:t>
            </a:r>
            <a:r>
              <a:rPr lang="en-US" dirty="0"/>
              <a:t>（~/ </a:t>
            </a:r>
            <a:r>
              <a:rPr lang="en-US" dirty="0" err="1"/>
              <a:t>表示用戶的家目錄</a:t>
            </a:r>
            <a:r>
              <a:rPr lang="en-US" dirty="0"/>
              <a:t>）。</a:t>
            </a:r>
            <a:r>
              <a:rPr lang="en-US" dirty="0" err="1"/>
              <a:t>這意味著命令執行後，符合</a:t>
            </a:r>
            <a:r>
              <a:rPr lang="en-US" dirty="0"/>
              <a:t> grep package: </a:t>
            </a:r>
            <a:r>
              <a:rPr lang="en-US" dirty="0" err="1"/>
              <a:t>條件的行將被寫入到</a:t>
            </a:r>
            <a:r>
              <a:rPr lang="en-US" dirty="0"/>
              <a:t> packages </a:t>
            </a:r>
            <a:r>
              <a:rPr lang="en-US" dirty="0" err="1"/>
              <a:t>文件中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KERN_INFO 用於指定消息的優先級。它表示將消息記錄為信息消息，通常用於記錄系統的一般操作或狀態信息，而不是錯誤或警告。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當一個內核模塊使用 MODULE_LICENSE = GPL 時，它表明該模塊的源代碼是開放的，並且必須符合 GPL 的相關條款，包括將修改後的代碼公開發佈。</a:t>
            </a:r>
            <a:endParaRPr/>
          </a:p>
        </p:txBody>
      </p:sp>
      <p:sp>
        <p:nvSpPr>
          <p:cNvPr id="172" name="Google Shape;1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obj-m </a:t>
            </a:r>
            <a:r>
              <a:rPr lang="en-US" dirty="0" err="1"/>
              <a:t>是一個特殊的變數，用於指定要編譯的模塊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All:意味著當執行</a:t>
            </a:r>
            <a:r>
              <a:rPr lang="en-US" dirty="0"/>
              <a:t> make all </a:t>
            </a:r>
            <a:r>
              <a:rPr lang="en-US" dirty="0" err="1"/>
              <a:t>時，將會執行其後的指令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-C /lib/modules/$(shell </a:t>
            </a:r>
            <a:r>
              <a:rPr lang="en-US" dirty="0" err="1"/>
              <a:t>uname</a:t>
            </a:r>
            <a:r>
              <a:rPr lang="en-US" dirty="0"/>
              <a:t> -r)/</a:t>
            </a:r>
            <a:r>
              <a:rPr lang="en-US" dirty="0" err="1"/>
              <a:t>build：指定要進入的目錄，即</a:t>
            </a:r>
            <a:r>
              <a:rPr lang="en-US" dirty="0"/>
              <a:t> Linux </a:t>
            </a:r>
            <a:r>
              <a:rPr lang="en-US" dirty="0" err="1"/>
              <a:t>內核源碼的</a:t>
            </a:r>
            <a:r>
              <a:rPr lang="en-US" dirty="0"/>
              <a:t> build </a:t>
            </a:r>
            <a:r>
              <a:rPr lang="en-US" dirty="0" err="1"/>
              <a:t>目錄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M=$(PWD)：</a:t>
            </a:r>
            <a:r>
              <a:rPr lang="en-US" dirty="0" err="1"/>
              <a:t>指定模塊源碼所在的目錄，即當前的工作目錄。modules：執行</a:t>
            </a:r>
            <a:r>
              <a:rPr lang="en-US" dirty="0"/>
              <a:t> make </a:t>
            </a:r>
            <a:r>
              <a:rPr lang="en-US" dirty="0" err="1"/>
              <a:t>命令以編譯模塊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編譯模塊：make</a:t>
            </a:r>
            <a:r>
              <a:rPr lang="en-US" dirty="0"/>
              <a:t>  </a:t>
            </a:r>
            <a:r>
              <a:rPr lang="en-US" dirty="0" err="1"/>
              <a:t>清理編譯生成的文件：make</a:t>
            </a:r>
            <a:r>
              <a:rPr lang="en-US" dirty="0"/>
              <a:t> clean</a:t>
            </a:r>
            <a:endParaRPr dirty="0"/>
          </a:p>
        </p:txBody>
      </p:sp>
      <p:sp>
        <p:nvSpPr>
          <p:cNvPr id="184" name="Google Shape;18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.ko 文件是 Linux 內核模塊文件（Kernel Object File）的文件擴展名。這些文件是可加載的內核模塊（Loadable Kernel Modules, LKM），它們可以在運行時動態地加載到內核中，而無需重新編譯和重啟內核。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內核模塊的作用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內核模塊允許在需要時動態地擴展內核的功能，而無需將所有可能的驅動程序和功能都編譯進內核中。這樣可以保持內核的靈活性和精簡性。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Bug: month跟date使用此寫法時，會得到 08月 01日，於linux會判定為八進制，因此 01-07能夠正常判斷，如有08、09則會invalid param</a:t>
            </a:r>
            <a:endParaRPr/>
          </a:p>
        </p:txBody>
      </p:sp>
      <p:sp>
        <p:nvSpPr>
          <p:cNvPr id="322" name="Google Shape;32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nsola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nsola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  <a:defRPr sz="44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title" idx="4294967295"/>
          </p:nvPr>
        </p:nvSpPr>
        <p:spPr>
          <a:xfrm>
            <a:off x="1618389" y="1392495"/>
            <a:ext cx="710190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Lab 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nsolas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Kernel Module</a:t>
            </a:r>
            <a:endParaRPr sz="4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469224" y="4463822"/>
            <a:ext cx="468442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TA</a:t>
            </a:r>
            <a:r>
              <a:rPr lang="en-US" sz="28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altLang="zh-TW" sz="28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Yu-Wen Huang</a:t>
            </a:r>
            <a:endParaRPr sz="28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Prof.: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Hsung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-Pin Chang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25128" y="1359868"/>
            <a:ext cx="10141744" cy="296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a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Introduction (1/4)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025128" y="1359868"/>
            <a:ext cx="10141744" cy="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我們熟悉的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apt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指令，除了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之外還有什麼功能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？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0784" y="1893525"/>
            <a:ext cx="7030431" cy="46202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863CE56-CADF-90DC-48AF-52833BD84CE7}"/>
              </a:ext>
            </a:extLst>
          </p:cNvPr>
          <p:cNvSpPr/>
          <p:nvPr/>
        </p:nvSpPr>
        <p:spPr>
          <a:xfrm>
            <a:off x="4004733" y="2362200"/>
            <a:ext cx="1964267" cy="194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Introduction (2/4)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1025128" y="1359868"/>
            <a:ext cx="10141744" cy="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數數看已經安裝了幾個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package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124" y="1941092"/>
            <a:ext cx="10579269" cy="449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DA7960D-54EE-989C-2453-F95950576FBF}"/>
              </a:ext>
            </a:extLst>
          </p:cNvPr>
          <p:cNvSpPr/>
          <p:nvPr/>
        </p:nvSpPr>
        <p:spPr>
          <a:xfrm>
            <a:off x="7222067" y="3141133"/>
            <a:ext cx="1405466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FB35F8-F49B-993F-34E4-DF5007A2C7E0}"/>
              </a:ext>
            </a:extLst>
          </p:cNvPr>
          <p:cNvSpPr/>
          <p:nvPr/>
        </p:nvSpPr>
        <p:spPr>
          <a:xfrm>
            <a:off x="8771466" y="3141133"/>
            <a:ext cx="2340533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Introduction (3/4)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025128" y="1359868"/>
            <a:ext cx="10141744" cy="422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Package</a:t>
            </a:r>
            <a:endParaRPr dirty="0"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存在於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user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space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，因此執行特定動作需要呼叫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system call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例如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apt,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gcc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, make... </a:t>
            </a:r>
            <a:endParaRPr dirty="0"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 module</a:t>
            </a:r>
            <a:endParaRPr dirty="0"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在運行中的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Linux Kernel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中動態載入和卸載的程式碼</a:t>
            </a:r>
            <a:endParaRPr sz="2400" b="1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根據需求擴展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Kernel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，以支援新的硬體設備、檔案系統等功能</a:t>
            </a:r>
            <a:endParaRPr sz="24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最常見的例子就是驅動程式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Introduction (4/4)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列出已安裝的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 module: 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cat /proc/modules</a:t>
            </a:r>
            <a:endParaRPr sz="2400" b="1" i="0" u="none" strike="noStrike" cap="none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5074" y="1890270"/>
            <a:ext cx="7001852" cy="4620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1025128" y="1359868"/>
            <a:ext cx="10141744" cy="296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Create a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(1/8)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1025128" y="1359868"/>
            <a:ext cx="10141744" cy="295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 (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資料夾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hello_module (</a:t>
            </a:r>
            <a:r>
              <a:rPr lang="en-US" sz="240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資料夾</a:t>
            </a: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hello_module.c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/>
          </a:p>
          <a:p>
            <a:pPr marL="457200" marR="0" lvl="0" indent="-3048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(2/8)</a:t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lab3/hello_module/hello_module.c 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5074" y="1890270"/>
            <a:ext cx="7001852" cy="4734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10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(3/8)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lab3/hello_module/Makefile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9363" y="1929164"/>
            <a:ext cx="6973273" cy="458216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3340729" y="2381061"/>
            <a:ext cx="1285592" cy="20823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2609363" y="2910687"/>
            <a:ext cx="667991" cy="21275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609362" y="3252355"/>
            <a:ext cx="667991" cy="21275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6" name="Google Shape;196;p10"/>
          <p:cNvCxnSpPr/>
          <p:nvPr/>
        </p:nvCxnSpPr>
        <p:spPr>
          <a:xfrm>
            <a:off x="4626321" y="2503283"/>
            <a:ext cx="434566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7" name="Google Shape;197;p10"/>
          <p:cNvSpPr txBox="1"/>
          <p:nvPr/>
        </p:nvSpPr>
        <p:spPr>
          <a:xfrm>
            <a:off x="5060887" y="2329004"/>
            <a:ext cx="3096284" cy="34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Show match source name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3512745" y="3724539"/>
            <a:ext cx="3096284" cy="34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必須要是一個 tab 而不是空白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9" name="Google Shape;199;p10"/>
          <p:cNvCxnSpPr/>
          <p:nvPr/>
        </p:nvCxnSpPr>
        <p:spPr>
          <a:xfrm>
            <a:off x="2906163" y="3465112"/>
            <a:ext cx="606582" cy="43370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1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(4/8)</a:t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終端機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到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hello_module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資料夾，輸入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make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編譯成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.ko 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檔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8527" y="1959462"/>
            <a:ext cx="5240464" cy="459076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6610994" y="5252711"/>
            <a:ext cx="1039184" cy="1431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1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(5/8)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查看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資訊：</a:t>
            </a:r>
            <a:r>
              <a:rPr lang="en-US" sz="2400" b="1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modinfo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hello_module.ko</a:t>
            </a:r>
            <a:endParaRPr dirty="0"/>
          </a:p>
        </p:txBody>
      </p:sp>
      <p:pic>
        <p:nvPicPr>
          <p:cNvPr id="223" name="Google Shape;22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659" y="2415559"/>
            <a:ext cx="9900682" cy="28513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1145658" y="3025559"/>
            <a:ext cx="5590119" cy="83121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1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(6/8)</a:t>
            </a:r>
            <a:endParaRPr/>
          </a:p>
        </p:txBody>
      </p:sp>
      <p:sp>
        <p:nvSpPr>
          <p:cNvPr id="234" name="Google Shape;234;p13"/>
          <p:cNvSpPr txBox="1"/>
          <p:nvPr/>
        </p:nvSpPr>
        <p:spPr>
          <a:xfrm>
            <a:off x="1025128" y="1359868"/>
            <a:ext cx="10141744" cy="174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安裝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 module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：</a:t>
            </a: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sudo insmod hello_module.ko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使用 </a:t>
            </a: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lsmod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指令查看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hello_module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是否成功安裝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lsmod 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做的事情就是解析 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/proc/modules 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檔案並輸出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5" name="Google Shape;235;p13" descr="開燈 以實心填滿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4083" y="2664038"/>
            <a:ext cx="399233" cy="39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1485" y="3108232"/>
            <a:ext cx="8254547" cy="327670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6096001" y="3093632"/>
            <a:ext cx="2875984" cy="24709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096001" y="3506019"/>
            <a:ext cx="603563" cy="1696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911485" y="3919211"/>
            <a:ext cx="3267097" cy="200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p1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(7/8)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1025128" y="1359868"/>
            <a:ext cx="10141744" cy="174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確認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hello_module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是否成功印出訊息：</a:t>
            </a: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sudo dmesg | tail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dmesg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：顯示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kernel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訊息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tail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：顯示末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筆資料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0" name="Google Shape;25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6884" y="3060681"/>
            <a:ext cx="6138231" cy="348954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4"/>
          <p:cNvSpPr/>
          <p:nvPr/>
        </p:nvSpPr>
        <p:spPr>
          <a:xfrm>
            <a:off x="3026884" y="6373640"/>
            <a:ext cx="3763215" cy="1765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1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Kernel Module (8/8)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1025128" y="1359868"/>
            <a:ext cx="10141744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解除安裝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 module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：</a:t>
            </a: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sudo rmmod hello_module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因為已經成為 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，因此後面不用加 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.ko</a:t>
            </a:r>
            <a:endParaRPr/>
          </a:p>
        </p:txBody>
      </p:sp>
      <p:pic>
        <p:nvPicPr>
          <p:cNvPr id="262" name="Google Shape;262;p15" descr="開燈 以實心填滿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4083" y="2051477"/>
            <a:ext cx="399233" cy="39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5"/>
          <p:cNvPicPr preferRelativeResize="0"/>
          <p:nvPr/>
        </p:nvPicPr>
        <p:blipFill rotWithShape="1">
          <a:blip r:embed="rId4">
            <a:alphaModFix/>
          </a:blip>
          <a:srcRect r="1867"/>
          <a:stretch/>
        </p:blipFill>
        <p:spPr>
          <a:xfrm>
            <a:off x="2411341" y="2503929"/>
            <a:ext cx="7369317" cy="400986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5"/>
          <p:cNvSpPr/>
          <p:nvPr/>
        </p:nvSpPr>
        <p:spPr>
          <a:xfrm>
            <a:off x="2411341" y="6337212"/>
            <a:ext cx="4514560" cy="1765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" name="Google Shape;273;p16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1025128" y="1359868"/>
            <a:ext cx="10141744" cy="296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a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Module Parameters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4" name="Google Shape;284;p17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(1/5)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1025128" y="1359868"/>
            <a:ext cx="10141744" cy="507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Two macros about parameters</a:t>
            </a:r>
            <a:endParaRPr dirty="0"/>
          </a:p>
          <a:p>
            <a:pPr marL="914400" marR="0" lvl="1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module_param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(name, type, param)</a:t>
            </a:r>
            <a:endParaRPr dirty="0"/>
          </a:p>
          <a:p>
            <a:pPr marL="1371600" marR="0" lvl="2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Declare a parameter</a:t>
            </a:r>
            <a:endParaRPr dirty="0"/>
          </a:p>
          <a:p>
            <a:pPr marL="1371600" marR="0" lvl="2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name: variable name</a:t>
            </a:r>
            <a:endParaRPr dirty="0"/>
          </a:p>
          <a:p>
            <a:pPr marL="1371600" marR="0" lvl="2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type: variable type</a:t>
            </a:r>
            <a:endParaRPr dirty="0"/>
          </a:p>
          <a:p>
            <a:pPr marL="1371600" marR="0" lvl="2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param: not discuss here, set to 0</a:t>
            </a:r>
            <a:endParaRPr dirty="0"/>
          </a:p>
          <a:p>
            <a:pPr marL="914400" marR="0" lvl="1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MODULE_PARM_DESC(name, desc)</a:t>
            </a:r>
            <a:endParaRPr dirty="0"/>
          </a:p>
          <a:p>
            <a:pPr marL="1371600" marR="0" lvl="2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Provide a parameter information for users</a:t>
            </a:r>
            <a:endParaRPr sz="2400" b="1" i="0" u="none" strike="noStrike" cap="none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371600" marR="0" lvl="2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desc: variable description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1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(2/5)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 (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資料夾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hello_module (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資料夾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hello_module.c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hello_module_2 (資料夾)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hello_module_2.c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(3/5)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lab3/hello_module_2/hello_module_2.c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6" name="Google Shape;30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1486" y="1921199"/>
            <a:ext cx="6129028" cy="459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20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(4/5)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MODULE_PARM_DESC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會反映在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modinfo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上</a:t>
            </a:r>
            <a:endParaRPr sz="2400" b="0" i="0" u="none" strike="noStrike" cap="none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7" name="Google Shape;31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0081" y="2488661"/>
            <a:ext cx="8217356" cy="322338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0"/>
          <p:cNvSpPr/>
          <p:nvPr/>
        </p:nvSpPr>
        <p:spPr>
          <a:xfrm>
            <a:off x="1930081" y="5076128"/>
            <a:ext cx="4325864" cy="6359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2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(5/5)</a:t>
            </a:r>
            <a:endParaRPr/>
          </a:p>
        </p:txBody>
      </p:sp>
      <p:pic>
        <p:nvPicPr>
          <p:cNvPr id="330" name="Google Shape;33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3513" y="2775969"/>
            <a:ext cx="9804973" cy="166346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1182816" y="3006433"/>
            <a:ext cx="2086173" cy="2263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10061321" y="2775969"/>
            <a:ext cx="937165" cy="23046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1193513" y="4213097"/>
            <a:ext cx="4150953" cy="2263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2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1025128" y="1359868"/>
            <a:ext cx="10141744" cy="296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a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p2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(1/7)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1025128" y="1359868"/>
            <a:ext cx="10141744" cy="235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在剛才的例子中，我們所宣告的變數和函式都是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的一種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 year = 2023; -&gt; variable symbol</a:t>
            </a:r>
            <a:endParaRPr dirty="0"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doSomething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() { ... }  -&gt;  function symbol</a:t>
            </a:r>
            <a:endParaRPr dirty="0"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EXPORT_SYMBOL(</a:t>
            </a:r>
            <a:r>
              <a:rPr lang="en-US" sz="2400" b="1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symbol_name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macro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使得其它模組可以使用它們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2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2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(2/7)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 (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資料夾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hello_module (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資料夾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hello_module_2 (資料夾)</a:t>
            </a:r>
            <a:endParaRPr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symbol (資料夾)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symbol_A.c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symbol_B.c</a:t>
            </a:r>
            <a:endParaRPr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2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(3/7)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lab3/symbol/symbol_A.c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4" name="Google Shape;37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4972" y="1886191"/>
            <a:ext cx="6727573" cy="4668112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5"/>
          <p:cNvSpPr/>
          <p:nvPr/>
        </p:nvSpPr>
        <p:spPr>
          <a:xfrm>
            <a:off x="2674972" y="5252711"/>
            <a:ext cx="2603198" cy="35433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26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26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(4/7)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lab3/symbol/symbol_B.c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6" name="Google Shape;38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9419" y="1889577"/>
            <a:ext cx="6533161" cy="454210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6"/>
          <p:cNvSpPr/>
          <p:nvPr/>
        </p:nvSpPr>
        <p:spPr>
          <a:xfrm>
            <a:off x="2848560" y="2565195"/>
            <a:ext cx="2603198" cy="35433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" name="Google Shape;394;p27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27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(5/7)</a:t>
            </a:r>
            <a:endParaRPr/>
          </a:p>
        </p:txBody>
      </p:sp>
      <p:sp>
        <p:nvSpPr>
          <p:cNvPr id="397" name="Google Shape;397;p27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lab3/symbol/Makefile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8" name="Google Shape;39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7010" y="1890270"/>
            <a:ext cx="6557979" cy="459504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/>
        </p:nvSpPr>
        <p:spPr>
          <a:xfrm>
            <a:off x="2815225" y="2301685"/>
            <a:ext cx="1658021" cy="36675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2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(6/7)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因為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使用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的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symbol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，因此需要先安裝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symbol_A 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0" name="Google Shape;41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5833" y="2302740"/>
            <a:ext cx="8640333" cy="382441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8"/>
          <p:cNvSpPr txBox="1"/>
          <p:nvPr/>
        </p:nvSpPr>
        <p:spPr>
          <a:xfrm>
            <a:off x="4960380" y="3132056"/>
            <a:ext cx="1136405" cy="64323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2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(7/7)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相反地，需要先解除安裝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symbol_B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，才能解除安裝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symbol_A 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2" name="Google Shape;4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255" y="3769994"/>
            <a:ext cx="9599490" cy="689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30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1025128" y="1359868"/>
            <a:ext cx="10141744" cy="30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a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 Parameters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Symbols in Kernel Module</a:t>
            </a:r>
            <a:endParaRPr/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9" name="Google Shape;439;p3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3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(1/5)</a:t>
            </a:r>
            <a:endParaRPr/>
          </a:p>
        </p:txBody>
      </p:sp>
      <p:sp>
        <p:nvSpPr>
          <p:cNvPr id="442" name="Google Shape;442;p31"/>
          <p:cNvSpPr txBox="1"/>
          <p:nvPr/>
        </p:nvSpPr>
        <p:spPr>
          <a:xfrm>
            <a:off x="1025128" y="1359868"/>
            <a:ext cx="10141744" cy="405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請撰寫兩個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 module</a:t>
            </a:r>
            <a:endParaRPr dirty="0"/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date2timestamp</a:t>
            </a:r>
            <a:endParaRPr dirty="0"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model parameters: year, month, date</a:t>
            </a:r>
            <a:endParaRPr dirty="0"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export symbol: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ts</a:t>
            </a:r>
            <a:endParaRPr dirty="0"/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輸入你的出生年月日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(y, m, d)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，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印出該日期的時間戳記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ts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並提供給其它模組使用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若輸入無效日期，需顯示錯誤訊息並終止安裝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3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3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(2/5)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1025128" y="1359868"/>
            <a:ext cx="10141744" cy="405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請撰寫兩個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 module </a:t>
            </a: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(Cont.)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myage</a:t>
            </a:r>
            <a:endParaRPr sz="2400" b="1" i="0" u="none" strike="noStrike" cap="none" dirty="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首先取得當前的時間戳記，使其跟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date2timestamp 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的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ts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變數相減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371600" marR="0" lvl="2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將算出來的時間戳記轉成年跟日，輸出你已經活多久了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統一寫在</a:t>
            </a:r>
            <a:r>
              <a:rPr lang="en-US" sz="2400" b="0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init_module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函式內即可，可以不用額外建立函式或檔案</a:t>
            </a:r>
            <a:endParaRPr sz="2400" b="0" i="0" u="none" strike="noStrike" cap="none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timestamp </a:t>
            </a:r>
            <a:r>
              <a:rPr lang="en-US" sz="2400" b="0" i="0" u="none" strike="noStrike" cap="none" dirty="0" err="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的精度為「秒</a:t>
            </a:r>
            <a:r>
              <a:rPr lang="en-US" sz="2400" b="0" i="0" u="none" strike="noStrike" cap="none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」</a:t>
            </a:r>
            <a:endParaRPr sz="2400" b="0" i="0" u="none" strike="noStrike" cap="none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3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3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3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(3/5)</a:t>
            </a:r>
            <a:endParaRPr/>
          </a:p>
        </p:txBody>
      </p:sp>
      <p:sp>
        <p:nvSpPr>
          <p:cNvPr id="462" name="Google Shape;462;p33"/>
          <p:cNvSpPr txBox="1"/>
          <p:nvPr/>
        </p:nvSpPr>
        <p:spPr>
          <a:xfrm>
            <a:off x="1025128" y="1359868"/>
            <a:ext cx="10141744" cy="1660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範例輸出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首先安裝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date2timestamp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，若成功需印出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ts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的值，</a:t>
            </a:r>
            <a:r>
              <a:rPr lang="en-US" sz="2400" b="0" i="0" u="none" strike="noStrike" cap="none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其餘文字不須照打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，看得懂即可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3" name="Google Shape;46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9837" y="3201221"/>
            <a:ext cx="6992326" cy="242921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3"/>
          <p:cNvSpPr txBox="1"/>
          <p:nvPr/>
        </p:nvSpPr>
        <p:spPr>
          <a:xfrm>
            <a:off x="7042677" y="4987196"/>
            <a:ext cx="1286511" cy="26551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1" name="Google Shape;471;p3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2" name="Google Shape;472;p3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3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(4/5)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1025128" y="1359868"/>
            <a:ext cx="10141744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範例輸出 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(Cont.)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再安裝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myage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輸出年跟日，若相減結果小於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需要提示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5" name="Google Shape;47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5106" y="3568990"/>
            <a:ext cx="7667306" cy="8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3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3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3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 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(5/5)</a:t>
            </a:r>
            <a:endParaRPr/>
          </a:p>
        </p:txBody>
      </p:sp>
      <p:sp>
        <p:nvSpPr>
          <p:cNvPr id="490" name="Google Shape;490;p35"/>
          <p:cNvSpPr txBox="1"/>
          <p:nvPr/>
        </p:nvSpPr>
        <p:spPr>
          <a:xfrm>
            <a:off x="1025128" y="1359868"/>
            <a:ext cx="10141800" cy="5311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提示：若使用者輸入無效日期，可執行以下兩行</a:t>
            </a:r>
            <a:endParaRPr dirty="0"/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printk</a:t>
            </a: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(KERN_ERR "Invalid argument(s).\n");</a:t>
            </a:r>
            <a:endParaRPr dirty="0"/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return –EINVAL;   // </a:t>
            </a:r>
            <a:r>
              <a:rPr lang="en-US" sz="2400" b="0" i="0" u="none" strike="noStrike" cap="none" dirty="0" err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回傳負整數以中斷安裝</a:t>
            </a:r>
            <a:endParaRPr lang="en-US" sz="2400" b="0" i="0" u="none" strike="noStrike" cap="none" dirty="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altLang="en-US" sz="2400" dirty="0">
                <a:solidFill>
                  <a:schemeClr val="lt1"/>
                </a:solidFill>
                <a:latin typeface="Consolas"/>
                <a:sym typeface="Consolas"/>
              </a:rPr>
              <a:t>轉</a:t>
            </a:r>
            <a:r>
              <a:rPr lang="en-US" altLang="zh-TW" sz="2400" dirty="0">
                <a:solidFill>
                  <a:schemeClr val="lt1"/>
                </a:solidFill>
                <a:latin typeface="Consolas"/>
                <a:sym typeface="Consolas"/>
              </a:rPr>
              <a:t>timestamp</a:t>
            </a:r>
            <a:r>
              <a:rPr lang="zh-TW" altLang="en-US" sz="2400" dirty="0">
                <a:solidFill>
                  <a:schemeClr val="lt1"/>
                </a:solidFill>
                <a:latin typeface="Consolas"/>
                <a:sym typeface="Consolas"/>
              </a:rPr>
              <a:t>可以用</a:t>
            </a:r>
            <a:endParaRPr lang="en-US" sz="2400" dirty="0">
              <a:solidFill>
                <a:schemeClr val="lt1"/>
              </a:solidFill>
              <a:latin typeface="Consolas"/>
              <a:sym typeface="Consolas"/>
            </a:endParaRPr>
          </a:p>
          <a:p>
            <a:pPr marL="457200" lvl="1">
              <a:lnSpc>
                <a:spcPct val="13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#include &lt;</a:t>
            </a:r>
            <a:r>
              <a:rPr lang="en-US" sz="2400" dirty="0" err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r>
              <a:rPr lang="en-US" sz="2400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/time64.h&gt;</a:t>
            </a:r>
            <a:r>
              <a:rPr lang="zh-TW" altLang="en-US" sz="2400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en-US" altLang="zh-TW" sz="2400" dirty="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>
              <a:lnSpc>
                <a:spcPct val="130000"/>
              </a:lnSpc>
              <a:spcBef>
                <a:spcPts val="1000"/>
              </a:spcBef>
            </a:pPr>
            <a:r>
              <a:rPr lang="zh-TW" altLang="zh-TW" sz="2400" dirty="0">
                <a:solidFill>
                  <a:srgbClr val="7F7F7F"/>
                </a:solidFill>
                <a:latin typeface="Consolas"/>
              </a:rPr>
              <a:t>mktime64(year, month, date, 0, 0, 0);</a:t>
            </a:r>
            <a:endParaRPr sz="2400" b="0" i="0" u="none" strike="noStrike" cap="none" dirty="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Arial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現場 </a:t>
            </a:r>
            <a:r>
              <a:rPr lang="en-US" altLang="zh-TW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Demo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如下範例輸出即可，做不完也可以回家截圖並上傳至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iLearning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Due day: 202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/1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23:3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803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3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36"/>
          <p:cNvSpPr txBox="1"/>
          <p:nvPr/>
        </p:nvSpPr>
        <p:spPr>
          <a:xfrm>
            <a:off x="1618389" y="1407914"/>
            <a:ext cx="71019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Thanks for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your listening</a:t>
            </a:r>
            <a:endParaRPr/>
          </a:p>
        </p:txBody>
      </p:sp>
      <p:sp>
        <p:nvSpPr>
          <p:cNvPr id="498" name="Google Shape;498;p36"/>
          <p:cNvSpPr txBox="1"/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9" name="Google Shape;499;p36"/>
          <p:cNvSpPr txBox="1">
            <a:spLocks noGrp="1"/>
          </p:cNvSpPr>
          <p:nvPr>
            <p:ph type="title" idx="4294967295"/>
          </p:nvPr>
        </p:nvSpPr>
        <p:spPr>
          <a:xfrm>
            <a:off x="4600598" y="6550223"/>
            <a:ext cx="29908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Made by William in 2024/08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1348</Words>
  <Application>Microsoft Office PowerPoint</Application>
  <PresentationFormat>寬螢幕</PresentationFormat>
  <Paragraphs>286</Paragraphs>
  <Slides>36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39" baseType="lpstr">
      <vt:lpstr>Arial</vt:lpstr>
      <vt:lpstr>Consolas</vt:lpstr>
      <vt:lpstr>Office 佈景主題</vt:lpstr>
      <vt:lpstr>Lab 5 Kernel Module</vt:lpstr>
      <vt:lpstr>Outline </vt:lpstr>
      <vt:lpstr>Introduction (1/4)</vt:lpstr>
      <vt:lpstr>Introduction (2/4)</vt:lpstr>
      <vt:lpstr>Introduction (3/4)</vt:lpstr>
      <vt:lpstr>Introduction (4/4)</vt:lpstr>
      <vt:lpstr>Outline </vt:lpstr>
      <vt:lpstr>Create a Kernel Module (1/8)</vt:lpstr>
      <vt:lpstr>Create a Kernel Module (2/8)</vt:lpstr>
      <vt:lpstr>Create a Kernel Module (3/8)</vt:lpstr>
      <vt:lpstr>Create a Kernel Module (4/8)</vt:lpstr>
      <vt:lpstr>Create a Kernel Module (5/8)</vt:lpstr>
      <vt:lpstr>Create a Kernel Module (6/8)</vt:lpstr>
      <vt:lpstr>Create a Kernel Module (7/8)</vt:lpstr>
      <vt:lpstr>Create a Kernel Module (8/8)</vt:lpstr>
      <vt:lpstr>Outline </vt:lpstr>
      <vt:lpstr>Module Parameters (1/5)</vt:lpstr>
      <vt:lpstr>Module Parameters (2/5)</vt:lpstr>
      <vt:lpstr>Module Parameters (3/5)</vt:lpstr>
      <vt:lpstr>Module Parameters (4/5)</vt:lpstr>
      <vt:lpstr>Module Parameters (5/5)</vt:lpstr>
      <vt:lpstr>Outline </vt:lpstr>
      <vt:lpstr>Symbols in Kernel Module (1/7)</vt:lpstr>
      <vt:lpstr>Symbols in Kernel Module (2/7)</vt:lpstr>
      <vt:lpstr>Symbols in Kernel Module (3/7)</vt:lpstr>
      <vt:lpstr>Symbols in Kernel Module (4/7)</vt:lpstr>
      <vt:lpstr>Symbols in Kernel Module (5/7)</vt:lpstr>
      <vt:lpstr>Symbols in Kernel Module (6/7)</vt:lpstr>
      <vt:lpstr>Symbols in Kernel Module (7/7)</vt:lpstr>
      <vt:lpstr>Outline </vt:lpstr>
      <vt:lpstr>Exercise (1/5)</vt:lpstr>
      <vt:lpstr>Exercise (2/5)</vt:lpstr>
      <vt:lpstr>Exercise (3/5)</vt:lpstr>
      <vt:lpstr>Exercise (4/5)</vt:lpstr>
      <vt:lpstr>Exercise (5/5)</vt:lpstr>
      <vt:lpstr>Made by William in 2024/08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PurpleRed</dc:creator>
  <cp:lastModifiedBy>yuwenhuang116@gmail.com</cp:lastModifiedBy>
  <cp:revision>15</cp:revision>
  <dcterms:created xsi:type="dcterms:W3CDTF">2023-09-11T12:11:00Z</dcterms:created>
  <dcterms:modified xsi:type="dcterms:W3CDTF">2026-10-06T19:03:28Z</dcterms:modified>
</cp:coreProperties>
</file>