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6"/>
  </p:notesMasterIdLst>
  <p:sldIdLst>
    <p:sldId id="256" r:id="rId2"/>
    <p:sldId id="319" r:id="rId3"/>
    <p:sldId id="351" r:id="rId4"/>
    <p:sldId id="398" r:id="rId5"/>
    <p:sldId id="333" r:id="rId6"/>
    <p:sldId id="384" r:id="rId7"/>
    <p:sldId id="337" r:id="rId8"/>
    <p:sldId id="391" r:id="rId9"/>
    <p:sldId id="395" r:id="rId10"/>
    <p:sldId id="338" r:id="rId11"/>
    <p:sldId id="343" r:id="rId12"/>
    <p:sldId id="344" r:id="rId13"/>
    <p:sldId id="345" r:id="rId14"/>
    <p:sldId id="347" r:id="rId15"/>
    <p:sldId id="348" r:id="rId16"/>
    <p:sldId id="349" r:id="rId17"/>
    <p:sldId id="350" r:id="rId18"/>
    <p:sldId id="385" r:id="rId19"/>
    <p:sldId id="360" r:id="rId20"/>
    <p:sldId id="358" r:id="rId21"/>
    <p:sldId id="392" r:id="rId22"/>
    <p:sldId id="352" r:id="rId23"/>
    <p:sldId id="353" r:id="rId24"/>
    <p:sldId id="354" r:id="rId25"/>
    <p:sldId id="355" r:id="rId26"/>
    <p:sldId id="356" r:id="rId27"/>
    <p:sldId id="357" r:id="rId28"/>
    <p:sldId id="361" r:id="rId29"/>
    <p:sldId id="362" r:id="rId30"/>
    <p:sldId id="363" r:id="rId31"/>
    <p:sldId id="364" r:id="rId32"/>
    <p:sldId id="365" r:id="rId33"/>
    <p:sldId id="359" r:id="rId34"/>
    <p:sldId id="346" r:id="rId35"/>
    <p:sldId id="370" r:id="rId36"/>
    <p:sldId id="371" r:id="rId37"/>
    <p:sldId id="367" r:id="rId38"/>
    <p:sldId id="368" r:id="rId39"/>
    <p:sldId id="372" r:id="rId40"/>
    <p:sldId id="373" r:id="rId41"/>
    <p:sldId id="374" r:id="rId42"/>
    <p:sldId id="375" r:id="rId43"/>
    <p:sldId id="376" r:id="rId44"/>
    <p:sldId id="378" r:id="rId45"/>
    <p:sldId id="366" r:id="rId46"/>
    <p:sldId id="399" r:id="rId47"/>
    <p:sldId id="386" r:id="rId48"/>
    <p:sldId id="379" r:id="rId49"/>
    <p:sldId id="380" r:id="rId50"/>
    <p:sldId id="381" r:id="rId51"/>
    <p:sldId id="382" r:id="rId52"/>
    <p:sldId id="393" r:id="rId53"/>
    <p:sldId id="394" r:id="rId54"/>
    <p:sldId id="258" r:id="rId55"/>
  </p:sldIdLst>
  <p:sldSz cx="12192000" cy="6858000"/>
  <p:notesSz cx="6858000" cy="9144000"/>
  <p:embeddedFontLst>
    <p:embeddedFont>
      <p:font typeface="Consolas" panose="020B0609020204030204" pitchFamily="49" charset="0"/>
      <p:regular r:id="rId57"/>
      <p:bold r:id="rId58"/>
      <p:italic r:id="rId59"/>
      <p:boldItalic r:id="rId60"/>
    </p:embeddedFont>
    <p:embeddedFont>
      <p:font typeface="Georgia" panose="02040502050405020303" pitchFamily="18" charset="0"/>
      <p:regular r:id="rId61"/>
      <p:bold r:id="rId62"/>
      <p:italic r:id="rId63"/>
      <p:boldItalic r:id="rId64"/>
    </p:embeddedFont>
    <p:embeddedFont>
      <p:font typeface="Helvetica Neue" panose="020B0604020202020204" charset="0"/>
      <p:regular r:id="rId65"/>
      <p:bold r:id="rId66"/>
      <p:italic r:id="rId67"/>
      <p:boldItalic r:id="rId68"/>
    </p:embeddedFont>
    <p:embeddedFont>
      <p:font typeface="Helvetica Neue Light" panose="020B0604020202020204" charset="0"/>
      <p:regular r:id="rId69"/>
      <p:bold r:id="rId70"/>
      <p:italic r:id="rId71"/>
      <p:boldItalic r:id="rId72"/>
    </p:embeddedFont>
    <p:embeddedFont>
      <p:font typeface="Ubuntu Mono" panose="020B0509030602030204" pitchFamily="49" charset="0"/>
      <p:regular r:id="rId73"/>
      <p:bold r:id="rId74"/>
      <p:italic r:id="rId75"/>
      <p:boldItalic r:id="rId76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A24"/>
    <a:srgbClr val="800000"/>
    <a:srgbClr val="414141"/>
    <a:srgbClr val="FF0066"/>
    <a:srgbClr val="1E1E1E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9" autoAdjust="0"/>
    <p:restoredTop sz="88407" autoAdjust="0"/>
  </p:normalViewPr>
  <p:slideViewPr>
    <p:cSldViewPr snapToGrid="0">
      <p:cViewPr varScale="1">
        <p:scale>
          <a:sx n="49" d="100"/>
          <a:sy n="49" d="100"/>
        </p:scale>
        <p:origin x="77" y="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font" Target="fonts/font18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0.fntdata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5647-60F5-43AF-B282-FC63D8F12541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AA41D-60E8-4728-AC21-7AB730FDAA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6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08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967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3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774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017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993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30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882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491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849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195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628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902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870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71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AF793-0DFA-B25B-901B-A271BBAA5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13973D-D73F-C1BA-3528-57A5ABFE4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EEE10B-59F1-A697-6457-AB6A8430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4FE82E-902E-C5A4-BB00-749383F9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9BCD-93BC-0119-EF28-4C6C997F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8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73A3B0-A681-DBAA-B060-C67DEB9B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C1FCC8-BAB4-1375-B21A-0EEE52E1C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A60009-C09F-34B5-25C6-7D68D4DF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41F496-FB66-CFD1-64A0-558DD0EE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C71E1E-2DDD-4893-2640-59B4152C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202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A35BE-C11E-A6CF-9AEC-88A685F7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31048B-9896-B219-4716-E8043A7DC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379B34-1D82-3909-047A-E46ECAB0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D5B12A-FA7D-30AF-108E-5C438B34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1ADF6B-C7E6-465E-D881-B3B6E7E4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95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73097-3285-6CB1-D487-05B4D061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29F825-7C9C-B98A-D0F5-0E6E1FCD8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9A52E7-5173-1048-7415-9C8D65ED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FA7F49-EDE0-8DF0-A22E-FFDA8DD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5BC269-0304-CE5C-B95A-9286206F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ECFD91-A7AD-0158-C0E0-EEC9E87E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86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676EE4-C7D5-602A-3E79-C26D1AF3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0BBFAE-E3D7-BD08-C7BA-BA5BB373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CF740-0B9F-8610-0A0E-FB0890033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C299F3E-A7C0-D32A-354B-D38A08901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3852E28-44C5-CF5E-F0EE-3402B149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249836-FE80-87E2-FAF2-88714FA6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5F6A6AF-5AD2-FCEE-25DA-EFF6FA78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B50303-7975-A7AE-AE8B-449AEEEE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42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9720B-64E7-CA8F-A9EB-7DCFC694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D78D9B-1CD5-E355-D24A-AB1BF7AA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4B3B03-1BE7-DEA7-0FF9-8DD8BD2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E339F9-6B44-6599-0655-1186948B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4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60129D-BCB3-633C-83AF-1F7C7EEB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1CACFD-71F8-880A-2656-596E0BD1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CCC0AA-291C-6B14-E221-76906974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05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A79BB1-3449-C581-FA12-D58C661F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236FFB-17DE-431A-0A26-C1A316C0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F9D4F9-AC5C-DC12-C4F4-9780997D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4210FD-3DF4-5291-7564-DEBBB185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70CEED-698C-69C4-4596-D4F4DDEA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2FFFBA-69FC-4605-6EFB-E05ADAE2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60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906BC-5CC8-EE77-4CBB-FCB0D7C5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1881C9A-A04C-432B-D84B-471CF29DB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D505EB-1C90-8C86-AD65-2B1DDCC28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B7C675-C5E5-7758-2EC7-6F0CB44B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C4A8E1-AAC5-EB80-A719-056E2720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8D25F7-377A-75E9-6476-9632B760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11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96185-C246-E4AD-66F0-A0E9A101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AA7917-1B54-301A-24D2-E7E94FD60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F09B25-B7C8-4947-6E7A-6ED377E3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1FF77B-7125-6CCF-A360-FC6124D4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9C9523-A6FF-02F3-ABCD-81833621F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99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EDFF7B-0644-3951-51F6-E6416D4C9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014CF74-D38C-605E-0F8E-F74EE3A43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4B685E-A048-95F5-A946-D749A648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3CF92D-E095-6C47-94A3-14EA997F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B57361-F730-0EA5-1213-B6478B2A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850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7E1860-D480-22FB-79AB-AF878ED6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FD64B2-BB8C-E9B5-633C-FF87A9090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B25BF8-1517-16FF-AD63-DFE7AF3EF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F3175-9AB2-4B84-9A2D-8E80AD4CA94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EA7326-BCF3-4439-1023-FA1B4BB3C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F8FEBE-97EB-61A2-AC1F-229737EBD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3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dvanced_Packaging_Tool" TargetMode="External"/><Relationship Id="rId7" Type="http://schemas.openxmlformats.org/officeDocument/2006/relationships/hyperlink" Target="http://papa.indstate.edu/docs/common_commands.html" TargetMode="External"/><Relationship Id="rId2" Type="http://schemas.openxmlformats.org/officeDocument/2006/relationships/hyperlink" Target="http://en.wikipedia.org/wiki/Shell_scrip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reeos.com/guides/lsst/index.html" TargetMode="External"/><Relationship Id="rId5" Type="http://schemas.openxmlformats.org/officeDocument/2006/relationships/hyperlink" Target="http://tldp.org/HOWTO/Bash-Prog-Intro-HOWTO.html" TargetMode="External"/><Relationship Id="rId4" Type="http://schemas.openxmlformats.org/officeDocument/2006/relationships/hyperlink" Target="http://vim.wikia.com/wiki/New_to_Vim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F72BAFF-B6AD-5C31-258D-409C8A6E59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0083AE-BE25-62B1-74A8-68F298A732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421B7-5B55-C95E-62ED-7E6A4A23618A}"/>
              </a:ext>
            </a:extLst>
          </p:cNvPr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18382C-AD77-92DF-70FA-C3AAF4C9D574}"/>
              </a:ext>
            </a:extLst>
          </p:cNvPr>
          <p:cNvSpPr txBox="1"/>
          <p:nvPr/>
        </p:nvSpPr>
        <p:spPr>
          <a:xfrm>
            <a:off x="4920144" y="4498426"/>
            <a:ext cx="5233506" cy="1315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TA: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葉弘堯</a:t>
            </a:r>
            <a:endParaRPr lang="en-US" altLang="zh-TW" sz="2800" b="1" dirty="0">
              <a:solidFill>
                <a:srgbClr val="FFFFFF"/>
              </a:solidFill>
              <a:cs typeface="Calibri"/>
            </a:endParaRPr>
          </a:p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Prof.: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張軒彬</a:t>
            </a:r>
            <a:endParaRPr lang="sv-SE" altLang="zh-TW" sz="2800" b="1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216F34E-31B7-4114-9350-828442B89B52}"/>
              </a:ext>
            </a:extLst>
          </p:cNvPr>
          <p:cNvSpPr txBox="1">
            <a:spLocks/>
          </p:cNvSpPr>
          <p:nvPr/>
        </p:nvSpPr>
        <p:spPr>
          <a:xfrm>
            <a:off x="1618389" y="1114985"/>
            <a:ext cx="8996192" cy="16312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6000" b="1">
                <a:solidFill>
                  <a:srgbClr val="FFFFFF"/>
                </a:solidFill>
                <a:cs typeface="Calibri"/>
              </a:rPr>
              <a:t>Lab 1</a:t>
            </a:r>
            <a:br>
              <a:rPr lang="en-US" altLang="zh-TW" sz="4000" b="1" dirty="0">
                <a:solidFill>
                  <a:srgbClr val="FFFFFF"/>
                </a:solidFill>
                <a:cs typeface="Calibri"/>
              </a:rPr>
            </a:b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Shell Script</a:t>
            </a:r>
            <a:endParaRPr lang="zh-TW" sz="4000" dirty="0">
              <a:solidFill>
                <a:srgbClr val="00B0F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23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8909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Vim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Basics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Bash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Scripting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Tutorial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4469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9;p4">
            <a:extLst>
              <a:ext uri="{FF2B5EF4-FFF2-40B4-BE49-F238E27FC236}">
                <a16:creationId xmlns:a16="http://schemas.microsoft.com/office/drawing/2014/main" id="{0D2891D2-3193-BC00-9473-8D53C3124E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0862" y="1847801"/>
            <a:ext cx="5923079" cy="14436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(1/3)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E3CF03-536A-2B8C-366F-59F3980D2412}"/>
              </a:ext>
            </a:extLst>
          </p:cNvPr>
          <p:cNvSpPr txBox="1"/>
          <p:nvPr/>
        </p:nvSpPr>
        <p:spPr>
          <a:xfrm>
            <a:off x="870104" y="2203362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</a:rPr>
              <a:t>Window: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FE1261-E2C7-BC07-5944-6809D839C12D}"/>
              </a:ext>
            </a:extLst>
          </p:cNvPr>
          <p:cNvSpPr txBox="1"/>
          <p:nvPr/>
        </p:nvSpPr>
        <p:spPr>
          <a:xfrm>
            <a:off x="811959" y="4609276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</a:rPr>
              <a:t>Linux: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E406534-AE82-A6EE-A335-6DA5EE0E2515}"/>
              </a:ext>
            </a:extLst>
          </p:cNvPr>
          <p:cNvSpPr txBox="1"/>
          <p:nvPr/>
        </p:nvSpPr>
        <p:spPr>
          <a:xfrm>
            <a:off x="4180862" y="1122115"/>
            <a:ext cx="396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</a:rPr>
              <a:t>CMD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637356-B7E5-D1FD-47B6-5A2E486DFE2F}"/>
              </a:ext>
            </a:extLst>
          </p:cNvPr>
          <p:cNvSpPr txBox="1"/>
          <p:nvPr/>
        </p:nvSpPr>
        <p:spPr>
          <a:xfrm>
            <a:off x="4180862" y="3823756"/>
            <a:ext cx="1827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</a:rPr>
              <a:t>shell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DF1237D-8A9B-2AD3-9C00-F35385A79065}"/>
              </a:ext>
            </a:extLst>
          </p:cNvPr>
          <p:cNvSpPr txBox="1"/>
          <p:nvPr/>
        </p:nvSpPr>
        <p:spPr>
          <a:xfrm>
            <a:off x="7796398" y="2573366"/>
            <a:ext cx="2410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指令程式</a:t>
            </a:r>
          </a:p>
        </p:txBody>
      </p:sp>
      <p:pic>
        <p:nvPicPr>
          <p:cNvPr id="15" name="Google Shape;185;p4">
            <a:extLst>
              <a:ext uri="{FF2B5EF4-FFF2-40B4-BE49-F238E27FC236}">
                <a16:creationId xmlns:a16="http://schemas.microsoft.com/office/drawing/2014/main" id="{E910772F-EE1D-968A-8D70-15E375E3CF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4180862" y="4501810"/>
            <a:ext cx="6025547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DFC7D8-03D2-AF94-6B51-FE8ADB5B4EA6}"/>
              </a:ext>
            </a:extLst>
          </p:cNvPr>
          <p:cNvSpPr txBox="1"/>
          <p:nvPr/>
        </p:nvSpPr>
        <p:spPr>
          <a:xfrm>
            <a:off x="6716398" y="5355194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</a:rPr>
              <a:t>Shell script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D0A16C8-41CD-0682-3686-E59EC99E919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370248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82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(2/3)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47991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 script: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在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裡我們通常只會一次下一個指令，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解讀這些指令後再讓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OS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幫我們執行。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我們也可以將多個指令寫在文字檔裡面，再透過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解讀這個文字檔讓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OS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執行多個指令，這個文字檔就叫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 script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最常見的用處是將要重複執行的指令寫成一個檔案直接執行。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970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(3/3)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58657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將三個指令包在一起執行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1C3571E-DE77-D297-833D-DD7CA2ECC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93" t="28605" r="14426" b="8016"/>
          <a:stretch>
            <a:fillRect/>
          </a:stretch>
        </p:blipFill>
        <p:spPr>
          <a:xfrm>
            <a:off x="1862321" y="2160903"/>
            <a:ext cx="8466158" cy="391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2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8909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Vim</a:t>
            </a:r>
            <a:r>
              <a:rPr lang="zh-TW" altLang="en-US" sz="32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Basics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Bash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Scripting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Tutorial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14597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(1/11)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/>
          </p:cNvSpPr>
          <p:nvPr/>
        </p:nvSpPr>
        <p:spPr>
          <a:xfrm>
            <a:off x="671196" y="1359869"/>
            <a:ext cx="11325596" cy="57951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Vim 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是一個文字編輯器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開啟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terminal: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ctrl + alt + t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輸入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vim /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路徑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/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檔名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建立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)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開啟檔案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進入後在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normal mode)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按</a:t>
            </a:r>
            <a:r>
              <a:rPr lang="en-US" altLang="zh-TW" sz="2800" b="1" dirty="0" err="1">
                <a:solidFill>
                  <a:srgbClr val="FFFF00"/>
                </a:solidFill>
                <a:cs typeface="Calibri"/>
              </a:rPr>
              <a:t>i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進入編輯模式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(insert mode)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編輯完成後按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esc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進入一般模式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(normal mode)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一般模式下按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: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會進入命令模式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(command line mode)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命令模式下輸入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w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後按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enter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會儲存檔案 輸入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q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後按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enter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會離開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vim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輸入</a:t>
            </a:r>
            <a:r>
              <a:rPr lang="en-US" altLang="zh-TW" sz="2800" b="1" dirty="0" err="1">
                <a:solidFill>
                  <a:srgbClr val="FFFF00"/>
                </a:solidFill>
                <a:cs typeface="Calibri"/>
              </a:rPr>
              <a:t>wq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後按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enter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會儲存並退出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49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(2/11)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BB2AF24-FE58-4E03-E883-62EB8E35904D}"/>
              </a:ext>
            </a:extLst>
          </p:cNvPr>
          <p:cNvSpPr txBox="1"/>
          <p:nvPr/>
        </p:nvSpPr>
        <p:spPr>
          <a:xfrm>
            <a:off x="4930336" y="2233236"/>
            <a:ext cx="2331326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Insert Mode </a:t>
            </a:r>
            <a:endParaRPr lang="zh-TW" altLang="en-US" sz="2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1056932-36CB-8D1C-E428-F353BC7E145F}"/>
              </a:ext>
            </a:extLst>
          </p:cNvPr>
          <p:cNvSpPr txBox="1"/>
          <p:nvPr/>
        </p:nvSpPr>
        <p:spPr>
          <a:xfrm>
            <a:off x="4886903" y="1065729"/>
            <a:ext cx="2418193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Normal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 Mode </a:t>
            </a:r>
            <a:endParaRPr lang="zh-TW" altLang="en-US" sz="28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04B8991-F06F-120F-DDE2-4251FE8C3840}"/>
              </a:ext>
            </a:extLst>
          </p:cNvPr>
          <p:cNvSpPr txBox="1"/>
          <p:nvPr/>
        </p:nvSpPr>
        <p:spPr>
          <a:xfrm>
            <a:off x="4924168" y="3407873"/>
            <a:ext cx="2331325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Normal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 Mode </a:t>
            </a:r>
            <a:endParaRPr lang="zh-TW" altLang="en-US" sz="2800" dirty="0"/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8CBB5A7E-ADA4-0B27-9857-5FABAEFA193E}"/>
              </a:ext>
            </a:extLst>
          </p:cNvPr>
          <p:cNvSpPr/>
          <p:nvPr/>
        </p:nvSpPr>
        <p:spPr>
          <a:xfrm>
            <a:off x="5849003" y="1656147"/>
            <a:ext cx="493986" cy="52678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79FD6A27-CD51-44CB-7581-29A4DC5CA674}"/>
              </a:ext>
            </a:extLst>
          </p:cNvPr>
          <p:cNvSpPr/>
          <p:nvPr/>
        </p:nvSpPr>
        <p:spPr>
          <a:xfrm>
            <a:off x="5842838" y="2825863"/>
            <a:ext cx="493986" cy="52678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99590A7-9A47-D48C-EB48-BDB2B3C5D4DB}"/>
              </a:ext>
            </a:extLst>
          </p:cNvPr>
          <p:cNvSpPr txBox="1"/>
          <p:nvPr/>
        </p:nvSpPr>
        <p:spPr>
          <a:xfrm>
            <a:off x="6901532" y="1550829"/>
            <a:ext cx="2028497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8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“i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C1C4E46-0C01-725E-E633-AC38179014D1}"/>
              </a:ext>
            </a:extLst>
          </p:cNvPr>
          <p:cNvSpPr txBox="1"/>
          <p:nvPr/>
        </p:nvSpPr>
        <p:spPr>
          <a:xfrm>
            <a:off x="6901532" y="2696706"/>
            <a:ext cx="2797552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8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“Esc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</a:t>
            </a:r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A005BFE5-56B4-4BCE-9D41-1E482757B279}"/>
              </a:ext>
            </a:extLst>
          </p:cNvPr>
          <p:cNvSpPr/>
          <p:nvPr/>
        </p:nvSpPr>
        <p:spPr>
          <a:xfrm rot="19215552">
            <a:off x="7892018" y="5186458"/>
            <a:ext cx="512244" cy="5491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C1B3FD36-9449-4CA5-8380-81351EFBF7D1}"/>
              </a:ext>
            </a:extLst>
          </p:cNvPr>
          <p:cNvSpPr/>
          <p:nvPr/>
        </p:nvSpPr>
        <p:spPr>
          <a:xfrm rot="2578308">
            <a:off x="4037531" y="5180763"/>
            <a:ext cx="520771" cy="59499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52B142B-862A-4299-9FB6-F9C987E5CF8A}"/>
              </a:ext>
            </a:extLst>
          </p:cNvPr>
          <p:cNvSpPr txBox="1"/>
          <p:nvPr/>
        </p:nvSpPr>
        <p:spPr>
          <a:xfrm>
            <a:off x="6972553" y="3874034"/>
            <a:ext cx="2797552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8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“: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FF702B8-D149-42C9-B301-F173C198A763}"/>
              </a:ext>
            </a:extLst>
          </p:cNvPr>
          <p:cNvSpPr txBox="1"/>
          <p:nvPr/>
        </p:nvSpPr>
        <p:spPr>
          <a:xfrm>
            <a:off x="768997" y="5128870"/>
            <a:ext cx="3226389" cy="51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4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“w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 </a:t>
            </a:r>
            <a:r>
              <a:rPr lang="en-US" altLang="zh-TW" sz="24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and enter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nsolas"/>
              <a:ea typeface="華康中特圓體"/>
              <a:cs typeface="Calibri"/>
            </a:endParaRPr>
          </a:p>
        </p:txBody>
      </p:sp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91597004-3CA8-46CD-8F2A-CE668B4DD8BD}"/>
              </a:ext>
            </a:extLst>
          </p:cNvPr>
          <p:cNvSpPr/>
          <p:nvPr/>
        </p:nvSpPr>
        <p:spPr>
          <a:xfrm>
            <a:off x="5852840" y="4029898"/>
            <a:ext cx="493986" cy="52678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F2B65CB-F3E5-4173-9672-BA6F935B8B46}"/>
              </a:ext>
            </a:extLst>
          </p:cNvPr>
          <p:cNvSpPr txBox="1"/>
          <p:nvPr/>
        </p:nvSpPr>
        <p:spPr>
          <a:xfrm>
            <a:off x="4791827" y="4611622"/>
            <a:ext cx="2627833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command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 Mode </a:t>
            </a:r>
            <a:endParaRPr lang="zh-TW" altLang="en-US" sz="28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A0D3E71-9695-4419-8054-FEEEAB2A84CA}"/>
              </a:ext>
            </a:extLst>
          </p:cNvPr>
          <p:cNvSpPr txBox="1"/>
          <p:nvPr/>
        </p:nvSpPr>
        <p:spPr>
          <a:xfrm>
            <a:off x="1703710" y="5839336"/>
            <a:ext cx="2258413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Save file</a:t>
            </a:r>
            <a:endParaRPr lang="zh-TW" altLang="en-US" sz="28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3FE8853-ABCB-4646-9CE3-0737B159B2A7}"/>
              </a:ext>
            </a:extLst>
          </p:cNvPr>
          <p:cNvSpPr txBox="1"/>
          <p:nvPr/>
        </p:nvSpPr>
        <p:spPr>
          <a:xfrm>
            <a:off x="8544224" y="5137787"/>
            <a:ext cx="3734194" cy="51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4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“q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 a</a:t>
            </a:r>
            <a:r>
              <a:rPr lang="en-US" altLang="zh-TW" sz="2400" b="1" dirty="0" err="1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nd</a:t>
            </a:r>
            <a:r>
              <a:rPr lang="en-US" altLang="zh-TW" sz="24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 enter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nsolas"/>
              <a:ea typeface="華康中特圓體"/>
              <a:cs typeface="Calibri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8111B3E-2A7C-4884-AE12-A74E5B021DBF}"/>
              </a:ext>
            </a:extLst>
          </p:cNvPr>
          <p:cNvSpPr txBox="1"/>
          <p:nvPr/>
        </p:nvSpPr>
        <p:spPr>
          <a:xfrm>
            <a:off x="8547170" y="5822992"/>
            <a:ext cx="1941120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Quit vim</a:t>
            </a:r>
            <a:endParaRPr lang="zh-TW" altLang="en-US" sz="28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229F36A-C168-49B4-8CED-E800CE2DFA9A}"/>
              </a:ext>
            </a:extLst>
          </p:cNvPr>
          <p:cNvSpPr txBox="1"/>
          <p:nvPr/>
        </p:nvSpPr>
        <p:spPr>
          <a:xfrm>
            <a:off x="4492550" y="5831218"/>
            <a:ext cx="3226389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prstClr val="white"/>
                </a:solidFill>
                <a:latin typeface="Consolas"/>
                <a:ea typeface="華康中特圓體"/>
                <a:cs typeface="Calibri"/>
              </a:rPr>
              <a:t>Save and quit </a:t>
            </a:r>
            <a:endParaRPr lang="zh-TW" altLang="en-US" sz="2800" dirty="0"/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18EB9A6D-1162-4EA0-828E-3156AAF51AEC}"/>
              </a:ext>
            </a:extLst>
          </p:cNvPr>
          <p:cNvSpPr/>
          <p:nvPr/>
        </p:nvSpPr>
        <p:spPr>
          <a:xfrm>
            <a:off x="5861999" y="5224292"/>
            <a:ext cx="493986" cy="52678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05C2CCF-4551-45F8-BCC3-EAC93767321E}"/>
              </a:ext>
            </a:extLst>
          </p:cNvPr>
          <p:cNvSpPr txBox="1"/>
          <p:nvPr/>
        </p:nvSpPr>
        <p:spPr>
          <a:xfrm>
            <a:off x="6266472" y="5123332"/>
            <a:ext cx="1779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0"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TW" sz="20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Type “</a:t>
            </a:r>
            <a:r>
              <a:rPr lang="en-US" altLang="zh-TW" sz="2000" b="1" dirty="0" err="1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wq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” a</a:t>
            </a:r>
            <a:r>
              <a:rPr lang="en-US" altLang="zh-TW" sz="2000" b="1" dirty="0" err="1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nd</a:t>
            </a:r>
            <a:r>
              <a:rPr lang="en-US" altLang="zh-TW" sz="2000" b="1" dirty="0">
                <a:solidFill>
                  <a:schemeClr val="bg1"/>
                </a:solidFill>
                <a:latin typeface="Consolas"/>
                <a:ea typeface="華康中特圓體"/>
                <a:cs typeface="Calibri"/>
              </a:rPr>
              <a:t> enter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nsolas"/>
              <a:ea typeface="華康中特圓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70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(3/11)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C27D46-83A8-6DBD-4243-E828E52177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1196" y="1359869"/>
            <a:ext cx="11325596" cy="192232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在</a:t>
            </a:r>
            <a:r>
              <a:rPr lang="en-US" altLang="zh-TW" sz="2800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中安裝並更新</a:t>
            </a:r>
            <a:r>
              <a:rPr lang="en-US" altLang="zh-TW" sz="2800" dirty="0">
                <a:solidFill>
                  <a:schemeClr val="bg1"/>
                </a:solidFill>
                <a:cs typeface="Calibri"/>
              </a:rPr>
              <a:t>vim: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輸入 </a:t>
            </a:r>
            <a:r>
              <a:rPr lang="en-US" altLang="zh-TW" sz="2800" b="1" dirty="0" err="1">
                <a:solidFill>
                  <a:srgbClr val="FFFF00"/>
                </a:solidFill>
                <a:cs typeface="Calibri"/>
              </a:rPr>
              <a:t>sudo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 apt-get update</a:t>
            </a:r>
            <a:r>
              <a:rPr lang="zh-TW" altLang="en-US" sz="28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更新套件列表</a:t>
            </a:r>
            <a:endParaRPr lang="en-US" altLang="zh-TW" sz="2800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輸入 </a:t>
            </a:r>
            <a:r>
              <a:rPr lang="en-US" altLang="zh-TW" sz="2800" b="1" dirty="0" err="1">
                <a:solidFill>
                  <a:srgbClr val="FFFF00"/>
                </a:solidFill>
                <a:cs typeface="Calibri"/>
              </a:rPr>
              <a:t>sudo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 apt-get install vim 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安裝</a:t>
            </a:r>
            <a:r>
              <a:rPr lang="en-US" altLang="zh-TW" sz="2800" dirty="0">
                <a:solidFill>
                  <a:schemeClr val="bg1"/>
                </a:solidFill>
                <a:cs typeface="Calibri"/>
              </a:rPr>
              <a:t>vim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編輯器</a:t>
            </a:r>
            <a:endParaRPr lang="en-US" altLang="zh-TW" sz="28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27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</a:t>
            </a:r>
            <a:r>
              <a:rPr lang="zh-TW" altLang="en-US" sz="40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(4/11)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/>
          </p:cNvSpPr>
          <p:nvPr/>
        </p:nvSpPr>
        <p:spPr>
          <a:xfrm>
            <a:off x="1078800" y="1265124"/>
            <a:ext cx="10033200" cy="392286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Hello vim !</a:t>
            </a:r>
          </a:p>
          <a:p>
            <a:pPr marL="1422000" lvl="2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Install Vim through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apt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command in shell</a:t>
            </a:r>
          </a:p>
          <a:p>
            <a:pPr marL="1422000" lvl="2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Create a file named “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helloworld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”</a:t>
            </a:r>
          </a:p>
          <a:p>
            <a:pPr marL="1422000" lvl="2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Type “Hello World!” using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insert mode</a:t>
            </a:r>
          </a:p>
          <a:p>
            <a:pPr marL="1422000" lvl="2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Return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normal mode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by pressing Ese</a:t>
            </a:r>
          </a:p>
          <a:p>
            <a:pPr marL="1422000" lvl="2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Save and quit the file</a:t>
            </a:r>
          </a:p>
        </p:txBody>
      </p:sp>
    </p:spTree>
    <p:extLst>
      <p:ext uri="{BB962C8B-B14F-4D97-AF65-F5344CB8AC3E}">
        <p14:creationId xmlns:p14="http://schemas.microsoft.com/office/powerpoint/2010/main" val="36297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7" name="標題 10">
            <a:extLst>
              <a:ext uri="{FF2B5EF4-FFF2-40B4-BE49-F238E27FC236}">
                <a16:creationId xmlns:a16="http://schemas.microsoft.com/office/drawing/2014/main" id="{B3DCA3D4-06EC-E02D-0901-21784E7605B7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(5/11)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D53410B-D4F8-5A26-E2E8-79241C58C3E7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1D3AE1-86CA-5535-65C4-AFB8F2E984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Step1: Create a file named 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helloworld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3BEF4DC-32CB-A077-80D4-B95932742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994" y="3453577"/>
            <a:ext cx="7399375" cy="41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5" name="標題 10">
            <a:extLst>
              <a:ext uri="{FF2B5EF4-FFF2-40B4-BE49-F238E27FC236}">
                <a16:creationId xmlns:a16="http://schemas.microsoft.com/office/drawing/2014/main" id="{2FB6CD6F-7550-777F-A063-CE5A3D7F9A0E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(6/11)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4ACE43D-8C10-7494-9390-490EA7494D4E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232D072-9D30-0298-7DE9-803EB10D0F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Step2: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Enter Insert Mode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by pressing “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i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”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56DB22-BE51-3983-2E9F-94FB71ED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20" y="2099027"/>
            <a:ext cx="8521160" cy="421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7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5" name="標題 10">
            <a:extLst>
              <a:ext uri="{FF2B5EF4-FFF2-40B4-BE49-F238E27FC236}">
                <a16:creationId xmlns:a16="http://schemas.microsoft.com/office/drawing/2014/main" id="{16439497-093C-2492-656D-A262131BCF29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(7/11)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E1E086C-6225-D3D3-0BCD-ADCB3D5D4F4F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545F143-EC1D-4046-DE50-DF7D9F2316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Step3: Notice the --INSERT--” on bottom Left and you can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type something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now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E7E6552-862D-AAD5-7BE0-E9CA25073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252" y="2434497"/>
            <a:ext cx="8026296" cy="39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3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3" name="標題 10">
            <a:extLst>
              <a:ext uri="{FF2B5EF4-FFF2-40B4-BE49-F238E27FC236}">
                <a16:creationId xmlns:a16="http://schemas.microsoft.com/office/drawing/2014/main" id="{6F8ACA7A-3D71-283D-D89B-7FCBF8548B4E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(8/11)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08AE6D3-37FC-9E54-B736-E52182DC6358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DE143BA-C164-2A03-D0EE-84E1CC931B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Step4: Press “Esc”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return to normal mode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7483007-7135-CBC5-F232-0D160B73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8"/>
          <a:stretch>
            <a:fillRect/>
          </a:stretch>
        </p:blipFill>
        <p:spPr>
          <a:xfrm>
            <a:off x="1502473" y="1901835"/>
            <a:ext cx="9187054" cy="457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6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0E176754-EBE9-07E9-281E-7A4EFCFD0E13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(9/11)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2A59BCC-39F1-4A99-748F-6344F7B654E0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76D63A-2FE3-78B7-8A6F-71B8F8A920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Step5: Type “w” in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and press “enter” command line mode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save your file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18F9A1A-8F50-ACBD-3148-90DD72AB6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427" y="2440444"/>
            <a:ext cx="8271146" cy="410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4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ADA507D3-B2A9-1DF2-A0D6-D6F2FBDC5EB4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(10/11)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1DB041-980F-837B-6935-A110843057FF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E1408C-7A3C-C37A-2764-9A66076A0D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Step6: Type “q” and press “enter” in command line mode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quit Vim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3D2BA9-0B4A-DF5A-7373-25264062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97" y="2398275"/>
            <a:ext cx="7945206" cy="39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0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C367FC0C-3338-1437-8BC6-C1AA46B60F35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Vim Basics </a:t>
            </a:r>
            <a:r>
              <a:rPr lang="en-US" altLang="zh-TW" sz="4000" b="1">
                <a:solidFill>
                  <a:srgbClr val="FFFFFF"/>
                </a:solidFill>
                <a:cs typeface="Calibri"/>
              </a:rPr>
              <a:t>(11/11)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EC7FDC-5A77-BD0D-E984-5DB7A79B8BE9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044236-7B1D-722C-A144-A14BF293BA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6595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Note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9760F68-D6F6-49D8-BCF3-238395B71810}"/>
              </a:ext>
            </a:extLst>
          </p:cNvPr>
          <p:cNvSpPr txBox="1"/>
          <p:nvPr/>
        </p:nvSpPr>
        <p:spPr>
          <a:xfrm>
            <a:off x="2474186" y="1972752"/>
            <a:ext cx="6827923" cy="4057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1) Shell open :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ctrl + alt + t</a:t>
            </a: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2) vim open :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vim helloworld.sh	</a:t>
            </a: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3) before typing : </a:t>
            </a:r>
            <a:r>
              <a:rPr lang="en-US" altLang="zh-TW" sz="2400" b="1" dirty="0" err="1">
                <a:solidFill>
                  <a:srgbClr val="FFFF00"/>
                </a:solidFill>
                <a:cs typeface="Calibri"/>
              </a:rPr>
              <a:t>i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4) Return to normal mode :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Esc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	</a:t>
            </a: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5) Save the File :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w + Enter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6) Quit Vim :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q + Enter</a:t>
            </a: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7) Save and Quit : </a:t>
            </a:r>
            <a:r>
              <a:rPr lang="en-US" altLang="zh-TW" sz="2400" b="1" dirty="0" err="1">
                <a:solidFill>
                  <a:srgbClr val="FFFF00"/>
                </a:solidFill>
                <a:cs typeface="Calibri"/>
              </a:rPr>
              <a:t>wq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 + Enter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419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8909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Vim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Basics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Bash</a:t>
            </a:r>
            <a:r>
              <a:rPr lang="zh-TW" altLang="en-US" sz="32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Shell</a:t>
            </a:r>
            <a:r>
              <a:rPr lang="zh-TW" altLang="en-US" sz="32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Scripting</a:t>
            </a:r>
            <a:r>
              <a:rPr lang="zh-TW" altLang="en-US" sz="32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Tutorial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32752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44082" y="344206"/>
            <a:ext cx="1031471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(1/28)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799" y="1313212"/>
            <a:ext cx="10679997" cy="37237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Bash :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為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GNU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專案所編寫的自由軟體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Unix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為大多數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Linux kernel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系統、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Mac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OS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X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、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Darwin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的默認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可以使用其他語言</a:t>
            </a:r>
            <a:r>
              <a:rPr lang="en-US" altLang="zh-TW" sz="2800" dirty="0">
                <a:solidFill>
                  <a:schemeClr val="bg1"/>
                </a:solidFill>
                <a:cs typeface="Calibri"/>
              </a:rPr>
              <a:t>(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EX: Perl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、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Python</a:t>
            </a:r>
            <a:r>
              <a:rPr lang="en-US" altLang="zh-TW" sz="2800" dirty="0">
                <a:solidFill>
                  <a:schemeClr val="bg1"/>
                </a:solidFill>
                <a:cs typeface="Calibri"/>
              </a:rPr>
              <a:t>)</a:t>
            </a:r>
            <a:r>
              <a:rPr lang="zh-TW" altLang="en-US" sz="2800" dirty="0">
                <a:solidFill>
                  <a:schemeClr val="bg1"/>
                </a:solidFill>
                <a:cs typeface="Calibri"/>
              </a:rPr>
              <a:t>做到一樣的事情。</a:t>
            </a:r>
            <a:endParaRPr lang="en-US" altLang="zh-TW" sz="2800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74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CA6B699F-BB7E-2051-BB28-C330C19CD15A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31471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5E7243A-E263-E7F9-AD4E-4F45924BBD4D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475F516-DDD5-E71D-6438-3B1EB373B7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31277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echo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The simplest Hello World example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Just simply type “echo Hello World!” in your shell and it’s done!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D65C2AF-5024-7AB5-C020-B323C4A4D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89" t="60803" r="10104" b="23945"/>
          <a:stretch>
            <a:fillRect/>
          </a:stretch>
        </p:blipFill>
        <p:spPr>
          <a:xfrm>
            <a:off x="1319005" y="4121288"/>
            <a:ext cx="9553989" cy="96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4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CA6B699F-BB7E-2051-BB28-C330C19CD15A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31471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(3/28)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5E7243A-E263-E7F9-AD4E-4F45924BBD4D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475F516-DDD5-E71D-6438-3B1EB373B7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25891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Hello World using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.</a:t>
            </a:r>
            <a:r>
              <a:rPr lang="en-US" altLang="zh-TW" sz="2800" b="1" dirty="0" err="1">
                <a:solidFill>
                  <a:srgbClr val="FFFF00"/>
                </a:solidFill>
                <a:cs typeface="Calibri"/>
              </a:rPr>
              <a:t>sh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File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Now let’s use .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sh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file to do the same thing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8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818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507630FE-4DA1-91F6-C590-99D1809019E6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31471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(4/28)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CECE0A-4AE7-EDEA-5973-B50EC8CA4744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375D0FC-4FE9-8C6C-5BED-5A69BAE58E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Step1: Type “vim helloworld.sh” in shell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create a new shell file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EB1D11-7A02-3555-8728-E0BB14666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6" t="30994" r="11668" b="50639"/>
          <a:stretch>
            <a:fillRect/>
          </a:stretch>
        </p:blipFill>
        <p:spPr>
          <a:xfrm>
            <a:off x="2175674" y="3603126"/>
            <a:ext cx="7840652" cy="59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1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77F11D05-1F82-E16F-589A-2ED3B39543CA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(5/28)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D5A24A3-4639-1C69-EE3F-BFD0B2BE83F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1A50E29-1F0C-E5FB-F229-7892D2536A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Step2: Enter the insert mode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write our hello world script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EA5E468-E3B3-1386-729B-DA91A514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68" y="2414875"/>
            <a:ext cx="7964064" cy="400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9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8410C803-665F-FA79-5161-884E53F6469B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593429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(6/28)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A33C061-35C2-F800-89B0-C792930E7658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C4C1788-3B69-3CD1-E12B-9443D52B30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Step3: Return to the normal mode and type “: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wq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”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save and quit the file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292D989-0FA5-DA77-FB58-FD1217839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7" t="3099" r="7737"/>
          <a:stretch>
            <a:fillRect/>
          </a:stretch>
        </p:blipFill>
        <p:spPr>
          <a:xfrm>
            <a:off x="1843596" y="2381715"/>
            <a:ext cx="8504808" cy="42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2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9DAF3D3D-8008-482E-5B1A-BE09CEA39E8A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31471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(7/28)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A4D9D78-5B22-9143-0719-E04486770A85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C0E1DB2-0989-C1B4-0EE9-4A4D73AFD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Step4: Use </a:t>
            </a:r>
            <a:r>
              <a:rPr lang="en-US" altLang="zh-TW" sz="2800" b="1" dirty="0" err="1">
                <a:solidFill>
                  <a:schemeClr val="bg1"/>
                </a:solidFill>
                <a:cs typeface="Calibri"/>
              </a:rPr>
              <a:t>chmod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command to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grant execute permission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 to the shell file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0227AFF-F4D9-E28A-A745-14CF47BB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602" y="2356416"/>
            <a:ext cx="8408796" cy="412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1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12536EA4-E633-4DAB-1979-21B97769C613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482185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(8/28)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D7AA4A9-84F4-6C82-BD0A-FDB8D52FFEA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618BF0-9E60-4F4E-D2AD-C286781F50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1272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Step5: Now we can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execute the script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directly by “./helloword.sh” command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6754518-F824-7229-5B93-BC2DEAC9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66" y="2440444"/>
            <a:ext cx="8478467" cy="415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2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5" name="標題 10">
            <a:extLst>
              <a:ext uri="{FF2B5EF4-FFF2-40B4-BE49-F238E27FC236}">
                <a16:creationId xmlns:a16="http://schemas.microsoft.com/office/drawing/2014/main" id="{4613A851-672F-6765-6E6C-2BFF320FB64D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281753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(9/28)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90F9F34-188F-5834-B2D8-AD19EAC39140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DA1384B-A405-24D0-3D7F-CED00DB9CB59}"/>
              </a:ext>
            </a:extLst>
          </p:cNvPr>
          <p:cNvSpPr txBox="1"/>
          <p:nvPr/>
        </p:nvSpPr>
        <p:spPr>
          <a:xfrm>
            <a:off x="1078800" y="1313212"/>
            <a:ext cx="10679998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Variable in Shell: There are two types of variable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E862F1-4FEB-A2C5-9CED-D5E5710670F9}"/>
              </a:ext>
            </a:extLst>
          </p:cNvPr>
          <p:cNvSpPr txBox="1"/>
          <p:nvPr/>
        </p:nvSpPr>
        <p:spPr>
          <a:xfrm>
            <a:off x="1026250" y="1986777"/>
            <a:ext cx="8986345" cy="4390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1)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System variables</a:t>
            </a:r>
          </a:p>
          <a:p>
            <a:pPr marL="0" marR="0" lvl="0" indent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nsolas"/>
              <a:ea typeface="華康中特圓體"/>
              <a:cs typeface="Calibri"/>
            </a:endParaRPr>
          </a:p>
          <a:p>
            <a:pPr marL="964800" marR="0" lvl="1" indent="-50760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Ex: use “echo $PWD” to print your current working directory</a:t>
            </a:r>
          </a:p>
          <a:p>
            <a:pPr marL="964800" marR="0" lvl="1" indent="-50760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/>
              <a:ea typeface="華康中特圓體"/>
              <a:cs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2)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User defined variables (UDV)</a:t>
            </a:r>
          </a:p>
          <a:p>
            <a:pPr marL="964800" marR="0" lvl="1" indent="-507600" algn="l" defTabSz="914400" rtl="0" eaLnBrk="1" fontAlgn="auto" latin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華康中特圓體"/>
                <a:cs typeface="Calibri"/>
              </a:rPr>
              <a:t>Ex: use “no=10” to set variable no and use “echo $no” to print 10 on your screen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D0F52BE-FB7E-0FD4-C33C-E1F5B4372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86" t="14006" r="19764" b="63093"/>
          <a:stretch>
            <a:fillRect/>
          </a:stretch>
        </p:blipFill>
        <p:spPr>
          <a:xfrm>
            <a:off x="5456316" y="1973502"/>
            <a:ext cx="4556279" cy="116488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763A02C-722F-2174-9C4F-D697565A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12" t="47440" r="2730" b="29660"/>
          <a:stretch>
            <a:fillRect/>
          </a:stretch>
        </p:blipFill>
        <p:spPr>
          <a:xfrm>
            <a:off x="6196152" y="3697425"/>
            <a:ext cx="5182662" cy="116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9D3781FF-87E5-0EE6-42EA-282EBD02F3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0" t="4260" r="2068" b="3476"/>
          <a:stretch>
            <a:fillRect/>
          </a:stretch>
        </p:blipFill>
        <p:spPr>
          <a:xfrm>
            <a:off x="1153202" y="2900981"/>
            <a:ext cx="7109109" cy="3222596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28</a:t>
            </a:fld>
            <a:endParaRPr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28" name="Google Shape;364;p28">
            <a:extLst>
              <a:ext uri="{FF2B5EF4-FFF2-40B4-BE49-F238E27FC236}">
                <a16:creationId xmlns:a16="http://schemas.microsoft.com/office/drawing/2014/main" id="{8D435609-1528-CA61-1411-1502BF225EB8}"/>
              </a:ext>
            </a:extLst>
          </p:cNvPr>
          <p:cNvSpPr txBox="1"/>
          <p:nvPr/>
        </p:nvSpPr>
        <p:spPr>
          <a:xfrm>
            <a:off x="10010554" y="3589641"/>
            <a:ext cx="1028244" cy="461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space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36" name="標題 10">
            <a:extLst>
              <a:ext uri="{FF2B5EF4-FFF2-40B4-BE49-F238E27FC236}">
                <a16:creationId xmlns:a16="http://schemas.microsoft.com/office/drawing/2014/main" id="{2680C2F3-41DB-6FD7-5785-7EF8557CBF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44082" y="344206"/>
            <a:ext cx="10832001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(10/28)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725EA9E-9588-A40F-4B22-2FC77197FAD3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D4B54D5-1217-D9AE-54F1-72390A5796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25547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Expr: shell arithmetic (           )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nl-NL" altLang="zh-TW" sz="2800" b="1" dirty="0">
                <a:solidFill>
                  <a:schemeClr val="bg1"/>
                </a:solidFill>
                <a:cs typeface="Calibri"/>
              </a:rPr>
              <a:t>Syntax: </a:t>
            </a:r>
            <a:r>
              <a:rPr lang="nl-NL" altLang="zh-TW" sz="2800" b="1" dirty="0">
                <a:solidFill>
                  <a:srgbClr val="FFFF00"/>
                </a:solidFill>
                <a:cs typeface="Calibri"/>
              </a:rPr>
              <a:t>expr op1</a:t>
            </a:r>
            <a:r>
              <a:rPr lang="nl-NL" altLang="zh-TW" sz="2800" b="1" dirty="0">
                <a:solidFill>
                  <a:srgbClr val="FF0000"/>
                </a:solidFill>
                <a:cs typeface="Calibri"/>
              </a:rPr>
              <a:t>_</a:t>
            </a:r>
            <a:r>
              <a:rPr lang="nl-NL" altLang="zh-TW" sz="2800" b="1" dirty="0">
                <a:solidFill>
                  <a:srgbClr val="FFFF00"/>
                </a:solidFill>
                <a:cs typeface="Calibri"/>
              </a:rPr>
              <a:t>math-operator</a:t>
            </a:r>
            <a:r>
              <a:rPr lang="nl-NL" altLang="zh-TW" sz="2800" b="1" dirty="0">
                <a:solidFill>
                  <a:srgbClr val="FF0000"/>
                </a:solidFill>
                <a:cs typeface="Calibri"/>
              </a:rPr>
              <a:t>_</a:t>
            </a:r>
            <a:r>
              <a:rPr lang="nl-NL" altLang="zh-TW" sz="2800" b="1" dirty="0">
                <a:solidFill>
                  <a:srgbClr val="FFFF00"/>
                </a:solidFill>
                <a:cs typeface="Calibri"/>
              </a:rPr>
              <a:t>op2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BB56155-D798-C6B8-3FA0-F8C0DE0992A3}"/>
              </a:ext>
            </a:extLst>
          </p:cNvPr>
          <p:cNvCxnSpPr>
            <a:cxnSpLocks/>
          </p:cNvCxnSpPr>
          <p:nvPr/>
        </p:nvCxnSpPr>
        <p:spPr>
          <a:xfrm flipH="1" flipV="1">
            <a:off x="7648832" y="2501125"/>
            <a:ext cx="2361722" cy="1302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CE21C02-980F-BEAA-352F-A868A6C2D246}"/>
              </a:ext>
            </a:extLst>
          </p:cNvPr>
          <p:cNvSpPr/>
          <p:nvPr/>
        </p:nvSpPr>
        <p:spPr>
          <a:xfrm>
            <a:off x="7331693" y="4605498"/>
            <a:ext cx="427389" cy="3127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CA2ED4-4430-4B5D-97CD-478022EAA170}"/>
              </a:ext>
            </a:extLst>
          </p:cNvPr>
          <p:cNvSpPr txBox="1"/>
          <p:nvPr/>
        </p:nvSpPr>
        <p:spPr>
          <a:xfrm>
            <a:off x="8632371" y="4487257"/>
            <a:ext cx="2930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+mn-ea"/>
              </a:rPr>
              <a:t>在</a:t>
            </a:r>
            <a:r>
              <a:rPr lang="en-US" altLang="zh-TW" b="1" dirty="0">
                <a:solidFill>
                  <a:schemeClr val="bg1"/>
                </a:solidFill>
                <a:latin typeface="+mn-ea"/>
              </a:rPr>
              <a:t>shell</a:t>
            </a:r>
            <a:r>
              <a:rPr lang="zh-TW" altLang="en-US" b="1" dirty="0">
                <a:solidFill>
                  <a:schemeClr val="bg1"/>
                </a:solidFill>
                <a:latin typeface="+mn-ea"/>
              </a:rPr>
              <a:t>下</a:t>
            </a:r>
            <a:r>
              <a:rPr lang="zh-TW" altLang="en-US" sz="1800" b="1" dirty="0">
                <a:solidFill>
                  <a:schemeClr val="bg1"/>
                </a:solidFill>
                <a:latin typeface="+mn-ea"/>
                <a:cs typeface="Calibri"/>
              </a:rPr>
              <a:t>*會被解讀成目前路徑下的所有檔名</a:t>
            </a:r>
            <a:endParaRPr lang="en-US" altLang="zh-TW" sz="1800" b="1" dirty="0">
              <a:solidFill>
                <a:schemeClr val="bg1"/>
              </a:solidFill>
              <a:latin typeface="+mn-ea"/>
              <a:cs typeface="Calibri"/>
            </a:endParaRPr>
          </a:p>
          <a:p>
            <a:endParaRPr lang="en-US" altLang="zh-TW" sz="1800" b="1" dirty="0">
              <a:solidFill>
                <a:schemeClr val="bg1"/>
              </a:solidFill>
              <a:latin typeface="+mn-ea"/>
              <a:cs typeface="Calibri"/>
            </a:endParaRPr>
          </a:p>
          <a:p>
            <a:r>
              <a:rPr lang="zh-TW" altLang="en-US" b="1" dirty="0">
                <a:solidFill>
                  <a:schemeClr val="bg1"/>
                </a:solidFill>
                <a:latin typeface="+mn-ea"/>
                <a:cs typeface="Calibri"/>
              </a:rPr>
              <a:t>加</a:t>
            </a:r>
            <a:r>
              <a:rPr lang="en-US" altLang="zh-TW" b="1" dirty="0">
                <a:solidFill>
                  <a:schemeClr val="bg1"/>
                </a:solidFill>
                <a:latin typeface="+mn-ea"/>
                <a:cs typeface="Calibri"/>
              </a:rPr>
              <a:t>\</a:t>
            </a:r>
            <a:r>
              <a:rPr lang="zh-TW" altLang="en-US" b="1" dirty="0">
                <a:solidFill>
                  <a:schemeClr val="bg1"/>
                </a:solidFill>
                <a:latin typeface="+mn-ea"/>
                <a:cs typeface="Calibri"/>
              </a:rPr>
              <a:t>把他當一般字元解讀</a:t>
            </a:r>
            <a:endParaRPr lang="en-US" altLang="zh-TW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Google Shape;357;p28">
            <a:extLst>
              <a:ext uri="{FF2B5EF4-FFF2-40B4-BE49-F238E27FC236}">
                <a16:creationId xmlns:a16="http://schemas.microsoft.com/office/drawing/2014/main" id="{397A3249-4BD1-2B32-C374-1D1D36AD6BC6}"/>
              </a:ext>
            </a:extLst>
          </p:cNvPr>
          <p:cNvSpPr txBox="1"/>
          <p:nvPr/>
        </p:nvSpPr>
        <p:spPr>
          <a:xfrm>
            <a:off x="6474442" y="1320963"/>
            <a:ext cx="225558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+ - * /</a:t>
            </a:r>
            <a:endParaRPr sz="36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68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D459ED72-9D4D-5A0B-4E44-945AFF286239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1103184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(11/28)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B551939-D218-C29A-3A0D-19306446668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7FBC51-1D5B-77D1-4D6D-63BA5300B0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312636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More about Quotes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雙引號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</a:t>
            </a:r>
            <a:r>
              <a:rPr lang="en-US" altLang="zh-TW" sz="2800" dirty="0">
                <a:solidFill>
                  <a:srgbClr val="FFFF00"/>
                </a:solidFill>
              </a:rPr>
              <a:t>"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):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 會解讀字串裡的變數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($) 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與反引號 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(`)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，但會將多數特殊字元視為純文字。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單引號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</a:t>
            </a:r>
            <a:r>
              <a:rPr lang="en-US" altLang="zh-TW" sz="2800" dirty="0">
                <a:solidFill>
                  <a:srgbClr val="FFFF00"/>
                </a:solidFill>
              </a:rPr>
              <a:t>'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): 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全部視為純文字。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反引號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(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`</a:t>
            </a: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): </a:t>
            </a:r>
            <a:r>
              <a:rPr lang="zh-TW" altLang="en-US" sz="2800" b="1" dirty="0">
                <a:solidFill>
                  <a:schemeClr val="bg1"/>
                </a:solidFill>
                <a:cs typeface="Calibri"/>
              </a:rPr>
              <a:t>執行引號內的指令並將結果放回原位</a:t>
            </a:r>
            <a:endParaRPr lang="en-US" altLang="zh-TW" sz="28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945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9" name="標題 10">
            <a:extLst>
              <a:ext uri="{FF2B5EF4-FFF2-40B4-BE49-F238E27FC236}">
                <a16:creationId xmlns:a16="http://schemas.microsoft.com/office/drawing/2014/main" id="{FDF47436-7F98-EF83-DCA0-001BCF0B5C47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8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(12/28)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EBEA208-232F-3811-479B-5BCBB140E057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7E528F3-5116-A8AD-7D53-51411CF0CF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More about Quotes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76246DA-1431-AA33-F116-F9CFC06EE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764" y="2009066"/>
            <a:ext cx="6844472" cy="42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4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3" name="標題 10">
            <a:extLst>
              <a:ext uri="{FF2B5EF4-FFF2-40B4-BE49-F238E27FC236}">
                <a16:creationId xmlns:a16="http://schemas.microsoft.com/office/drawing/2014/main" id="{3E966B4C-CCC3-280E-A987-ED84663EEF2F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(13/28)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D0A37CF-B1FC-4D94-E92B-91595E3EAF7A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DE1719-5E2D-13D6-0F82-6459FEF3C1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125547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The read Statement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Syntax: </a:t>
            </a:r>
            <a:r>
              <a:rPr lang="en-US" altLang="zh-TW" sz="2800" b="1" dirty="0">
                <a:solidFill>
                  <a:srgbClr val="FFFF00"/>
                </a:solidFill>
                <a:cs typeface="Calibri"/>
              </a:rPr>
              <a:t>read variable1 variable2 …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44A0A17-A9EB-161F-5539-C1EBDDD0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8" t="12947" r="2235" b="9841"/>
          <a:stretch>
            <a:fillRect/>
          </a:stretch>
        </p:blipFill>
        <p:spPr>
          <a:xfrm>
            <a:off x="1419769" y="2910503"/>
            <a:ext cx="9352462" cy="217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1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399;p32">
            <a:extLst>
              <a:ext uri="{FF2B5EF4-FFF2-40B4-BE49-F238E27FC236}">
                <a16:creationId xmlns:a16="http://schemas.microsoft.com/office/drawing/2014/main" id="{7734A7DF-CDB7-99EB-6C81-136F8918A8DD}"/>
              </a:ext>
            </a:extLst>
          </p:cNvPr>
          <p:cNvSpPr txBox="1">
            <a:spLocks/>
          </p:cNvSpPr>
          <p:nvPr/>
        </p:nvSpPr>
        <p:spPr>
          <a:xfrm>
            <a:off x="433202" y="1937974"/>
            <a:ext cx="4920033" cy="41852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lnSpc>
                <a:spcPct val="100000"/>
              </a:lnSpc>
              <a:spcBef>
                <a:spcPts val="0"/>
              </a:spcBef>
              <a:buSzPts val="1840"/>
              <a:buFont typeface="Georgia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# myshell.sh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406400" indent="-406400">
              <a:lnSpc>
                <a:spcPct val="100000"/>
              </a:lnSpc>
              <a:buSzPts val="1840"/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echo “Welcome to use $0”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406400" indent="-406400">
              <a:lnSpc>
                <a:spcPct val="100000"/>
              </a:lnSpc>
              <a:buSzPts val="1840"/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echo “Hi, $1 $2, we have $#   argument(s).”</a:t>
            </a:r>
          </a:p>
          <a:p>
            <a:pPr marL="406400" indent="-406400">
              <a:lnSpc>
                <a:spcPct val="100000"/>
              </a:lnSpc>
              <a:buSzPts val="1840"/>
              <a:buFont typeface="Arial" panose="020B0604020202020204" pitchFamily="34" charset="0"/>
              <a:buNone/>
            </a:pP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406400" marR="0" lvl="0" indent="-4064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40"/>
              <a:buFont typeface="Georgia"/>
              <a:buChar char="•"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$ ./ex2.sh nelson yeh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406400" indent="-406400">
              <a:lnSpc>
                <a:spcPct val="100000"/>
              </a:lnSpc>
              <a:buSzPts val="1840"/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</a:t>
            </a:r>
            <a:r>
              <a:rPr lang="en-US" sz="2400" b="1" dirty="0">
                <a:solidFill>
                  <a:srgbClr val="00B05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Welcome to use ./myshell.sh</a:t>
            </a:r>
            <a:endParaRPr lang="en-US" sz="2400" b="1" dirty="0">
              <a:solidFill>
                <a:srgbClr val="00B05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406400" indent="-406400">
              <a:lnSpc>
                <a:spcPct val="100000"/>
              </a:lnSpc>
              <a:buClr>
                <a:srgbClr val="B3B3B3"/>
              </a:buClr>
              <a:buSzPts val="1840"/>
              <a:buNone/>
            </a:pPr>
            <a:r>
              <a:rPr lang="en-US" sz="2400" b="1" dirty="0">
                <a:solidFill>
                  <a:srgbClr val="00B05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Hi, nelson</a:t>
            </a:r>
            <a:r>
              <a:rPr lang="en-US" altLang="zh-TW" sz="2400" b="1" dirty="0">
                <a:solidFill>
                  <a:srgbClr val="00B05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yeh,</a:t>
            </a:r>
            <a:r>
              <a:rPr lang="en-US" sz="2400" b="1" dirty="0">
                <a:solidFill>
                  <a:srgbClr val="00B05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we have 2 argument(s).</a:t>
            </a:r>
            <a:endParaRPr lang="en-US" sz="2400" b="1" dirty="0">
              <a:solidFill>
                <a:srgbClr val="00B05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" name="標題 10">
            <a:extLst>
              <a:ext uri="{FF2B5EF4-FFF2-40B4-BE49-F238E27FC236}">
                <a16:creationId xmlns:a16="http://schemas.microsoft.com/office/drawing/2014/main" id="{DD1BE205-4465-B3CB-CA7B-7CD568BD0A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44082" y="344206"/>
            <a:ext cx="11157101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(14/28)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14D3C26-367C-0491-9FE1-E2CBBCC0C77C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E19EDD-22AA-EB40-CA73-46096FFDEB9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Arguments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94787B2-E51F-4E24-9655-723E9A7D3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3" y="4116953"/>
            <a:ext cx="5106113" cy="153373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103752D-9112-4F82-8EB9-E5FC9FD066B0}"/>
              </a:ext>
            </a:extLst>
          </p:cNvPr>
          <p:cNvSpPr txBox="1"/>
          <p:nvPr/>
        </p:nvSpPr>
        <p:spPr>
          <a:xfrm>
            <a:off x="5464442" y="2016919"/>
            <a:ext cx="854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step1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026B48-B601-4A9B-A1FB-6237239CA3D2}"/>
              </a:ext>
            </a:extLst>
          </p:cNvPr>
          <p:cNvSpPr txBox="1"/>
          <p:nvPr/>
        </p:nvSpPr>
        <p:spPr>
          <a:xfrm>
            <a:off x="5464442" y="2580068"/>
            <a:ext cx="854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step4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98920A5-488A-476B-BFA7-0BEFB32D83EB}"/>
              </a:ext>
            </a:extLst>
          </p:cNvPr>
          <p:cNvSpPr txBox="1"/>
          <p:nvPr/>
        </p:nvSpPr>
        <p:spPr>
          <a:xfrm>
            <a:off x="5472901" y="2292402"/>
            <a:ext cx="854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step3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BDAFA4D-091B-44A4-8196-C4B084732104}"/>
              </a:ext>
            </a:extLst>
          </p:cNvPr>
          <p:cNvSpPr txBox="1"/>
          <p:nvPr/>
        </p:nvSpPr>
        <p:spPr>
          <a:xfrm>
            <a:off x="6096000" y="3779000"/>
            <a:ext cx="85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step2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AEB9EA7-D489-9E56-A27A-1B1453D289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455" t="28663" b="49621"/>
          <a:stretch>
            <a:fillRect/>
          </a:stretch>
        </p:blipFill>
        <p:spPr>
          <a:xfrm>
            <a:off x="6223908" y="1998492"/>
            <a:ext cx="5659734" cy="136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7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423;p34">
            <a:extLst>
              <a:ext uri="{FF2B5EF4-FFF2-40B4-BE49-F238E27FC236}">
                <a16:creationId xmlns:a16="http://schemas.microsoft.com/office/drawing/2014/main" id="{4A02A8BF-87FA-6C43-16D9-CE9D3AAAC46B}"/>
              </a:ext>
            </a:extLst>
          </p:cNvPr>
          <p:cNvSpPr txBox="1">
            <a:spLocks/>
          </p:cNvSpPr>
          <p:nvPr/>
        </p:nvSpPr>
        <p:spPr>
          <a:xfrm>
            <a:off x="617059" y="2127254"/>
            <a:ext cx="5195416" cy="35732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sz="2400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Times New Roman" panose="02020603050405020304" pitchFamily="18" charset="0"/>
                <a:sym typeface="Helvetica Neue"/>
              </a:rPr>
              <a:t>if-then</a:t>
            </a:r>
            <a:endParaRPr lang="en-US" sz="2400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buClr>
                <a:srgbClr val="FFFCAB"/>
              </a:buClr>
              <a:buSzPts val="1840"/>
              <a:buFont typeface="Georgia"/>
              <a:buChar char="•"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if [ “foo” = “foo” ]; then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84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  echo you can see me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fi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Georgia"/>
              <a:buChar char="•"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if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[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“foo”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=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</a:t>
            </a: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“bar” ]; then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84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  echo you cannot see me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fi</a:t>
            </a:r>
            <a:endParaRPr lang="en-US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432;p34">
            <a:extLst>
              <a:ext uri="{FF2B5EF4-FFF2-40B4-BE49-F238E27FC236}">
                <a16:creationId xmlns:a16="http://schemas.microsoft.com/office/drawing/2014/main" id="{8D274B14-9107-208D-A7D6-04CFDBE13853}"/>
              </a:ext>
            </a:extLst>
          </p:cNvPr>
          <p:cNvSpPr txBox="1"/>
          <p:nvPr/>
        </p:nvSpPr>
        <p:spPr>
          <a:xfrm>
            <a:off x="6096262" y="5343875"/>
            <a:ext cx="3426110" cy="1015622"/>
          </a:xfrm>
          <a:prstGeom prst="rect">
            <a:avLst/>
          </a:prstGeom>
          <a:noFill/>
          <a:ln w="19050">
            <a:solidFill>
              <a:schemeClr val="bg2">
                <a:lumMod val="9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Linux </a:t>
            </a:r>
            <a:r>
              <a:rPr lang="en-US" sz="2000" dirty="0" err="1">
                <a:solidFill>
                  <a:schemeClr val="bg1"/>
                </a:solidFill>
              </a:rPr>
              <a:t>shell中</a:t>
            </a:r>
            <a:r>
              <a:rPr lang="en-US" sz="2000" dirty="0">
                <a:solidFill>
                  <a:schemeClr val="bg1"/>
                </a:solidFill>
              </a:rPr>
              <a:t>,</a:t>
            </a:r>
            <a:endParaRPr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比較時,等號左右必須有空格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zh-TW" altLang="en-US" sz="2000" dirty="0">
                <a:solidFill>
                  <a:schemeClr val="bg1"/>
                </a:solidFill>
              </a:rPr>
              <a:t>賦值時</a:t>
            </a:r>
            <a:r>
              <a:rPr lang="en-US" altLang="zh-TW" sz="2000" dirty="0">
                <a:solidFill>
                  <a:schemeClr val="bg1"/>
                </a:solidFill>
              </a:rPr>
              <a:t>,</a:t>
            </a:r>
            <a:r>
              <a:rPr lang="zh-TW" altLang="en-US" sz="2000" dirty="0">
                <a:solidFill>
                  <a:schemeClr val="bg1"/>
                </a:solidFill>
              </a:rPr>
              <a:t>等號旁邊不能有空格</a:t>
            </a:r>
          </a:p>
        </p:txBody>
      </p:sp>
      <p:sp>
        <p:nvSpPr>
          <p:cNvPr id="18" name="標題 10">
            <a:extLst>
              <a:ext uri="{FF2B5EF4-FFF2-40B4-BE49-F238E27FC236}">
                <a16:creationId xmlns:a16="http://schemas.microsoft.com/office/drawing/2014/main" id="{4E3CE625-D052-2453-A803-DCD28B562C9C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11708246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</a:t>
            </a:r>
            <a:r>
              <a:rPr lang="zh-TW" altLang="en-US" sz="40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(15/28)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DF9947-92CA-1D21-1C13-BCD78B30CF9F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D4A8B0C-39DC-D20C-1325-3A6DBBC3B8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64" b="4504"/>
          <a:stretch/>
        </p:blipFill>
        <p:spPr>
          <a:xfrm>
            <a:off x="6335743" y="2530453"/>
            <a:ext cx="4855409" cy="2426732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1D0A964-CD65-862C-42B1-6502EC9641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58862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Conditionals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7CA9956-3770-A5AB-244A-794F60ADA250}"/>
              </a:ext>
            </a:extLst>
          </p:cNvPr>
          <p:cNvCxnSpPr>
            <a:cxnSpLocks/>
          </p:cNvCxnSpPr>
          <p:nvPr/>
        </p:nvCxnSpPr>
        <p:spPr>
          <a:xfrm>
            <a:off x="3494029" y="4487052"/>
            <a:ext cx="2601710" cy="856823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B98967ED-C28B-13AB-F0F6-3D7A80D2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97" t="20385" r="15061" b="67976"/>
          <a:stretch>
            <a:fillRect/>
          </a:stretch>
        </p:blipFill>
        <p:spPr>
          <a:xfrm>
            <a:off x="6335743" y="1371820"/>
            <a:ext cx="4077269" cy="77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1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 dirty="0"/>
          </a:p>
        </p:txBody>
      </p:sp>
      <p:sp>
        <p:nvSpPr>
          <p:cNvPr id="7" name="Google Shape;441;p35">
            <a:extLst>
              <a:ext uri="{FF2B5EF4-FFF2-40B4-BE49-F238E27FC236}">
                <a16:creationId xmlns:a16="http://schemas.microsoft.com/office/drawing/2014/main" id="{3EDE16C7-5040-D060-E8E3-AE35BFF9D92E}"/>
              </a:ext>
            </a:extLst>
          </p:cNvPr>
          <p:cNvSpPr txBox="1"/>
          <p:nvPr/>
        </p:nvSpPr>
        <p:spPr>
          <a:xfrm>
            <a:off x="769531" y="3403472"/>
            <a:ext cx="5326469" cy="20928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850900" lvl="1" indent="-406400">
              <a:buClr>
                <a:schemeClr val="lt1"/>
              </a:buClr>
              <a:buSzPts val="3500"/>
              <a:buFont typeface="Georgia"/>
              <a:buChar char="•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Use test command: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if </a:t>
            </a:r>
            <a:r>
              <a:rPr lang="en-US" sz="24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test “foo” = “bar”</a:t>
            </a: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 then    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 echo You cannot see me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fi</a:t>
            </a:r>
            <a:endParaRPr sz="2400" b="1" dirty="0">
              <a:latin typeface="Ubuntu Mono" panose="020B0509030602030204" pitchFamily="49" charset="0"/>
            </a:endParaRPr>
          </a:p>
        </p:txBody>
      </p:sp>
      <p:sp>
        <p:nvSpPr>
          <p:cNvPr id="8" name="Google Shape;442;p35">
            <a:extLst>
              <a:ext uri="{FF2B5EF4-FFF2-40B4-BE49-F238E27FC236}">
                <a16:creationId xmlns:a16="http://schemas.microsoft.com/office/drawing/2014/main" id="{A1B8DAA1-676D-757B-C305-B2FAE52385D2}"/>
              </a:ext>
            </a:extLst>
          </p:cNvPr>
          <p:cNvSpPr txBox="1"/>
          <p:nvPr/>
        </p:nvSpPr>
        <p:spPr>
          <a:xfrm>
            <a:off x="6516415" y="3403473"/>
            <a:ext cx="5135586" cy="20928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850900" lvl="1" indent="-406400">
              <a:buClr>
                <a:schemeClr val="lt1"/>
              </a:buClr>
              <a:buSzPts val="3500"/>
              <a:buFont typeface="Georgia"/>
              <a:buChar char="•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Use [ expr ]: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if </a:t>
            </a:r>
            <a:r>
              <a:rPr lang="en-US" sz="24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[ “foo” = “bar” ]</a:t>
            </a: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 then    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echo You cannot see me</a:t>
            </a:r>
            <a:endParaRPr sz="2400" b="1" dirty="0"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chemeClr val="lt1"/>
              </a:buClr>
              <a:buSzPts val="3500"/>
            </a:pPr>
            <a:r>
              <a:rPr lang="en-US" sz="2400" b="1" dirty="0">
                <a:solidFill>
                  <a:schemeClr val="lt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fi</a:t>
            </a:r>
            <a:endParaRPr sz="2400" b="1" dirty="0">
              <a:latin typeface="Ubuntu Mono" panose="020B0509030602030204" pitchFamily="49" charset="0"/>
            </a:endParaRPr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A8DF1CDE-A1F0-36F4-4D50-3816C255B42F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10856476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(16/28)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F9F309-BB41-1A5D-7C37-6E212A9F1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E7D1D4-FD7A-2A04-FC9A-35BB8D4196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8159793" cy="177452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test command or [ expr ]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used to see if an expression is true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returns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0 for true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and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nonzero for false</a:t>
            </a:r>
          </a:p>
        </p:txBody>
      </p:sp>
    </p:spTree>
    <p:extLst>
      <p:ext uri="{BB962C8B-B14F-4D97-AF65-F5344CB8AC3E}">
        <p14:creationId xmlns:p14="http://schemas.microsoft.com/office/powerpoint/2010/main" val="3818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478;p39">
            <a:extLst>
              <a:ext uri="{FF2B5EF4-FFF2-40B4-BE49-F238E27FC236}">
                <a16:creationId xmlns:a16="http://schemas.microsoft.com/office/drawing/2014/main" id="{D02E0268-3843-3A69-93CE-072123A9450D}"/>
              </a:ext>
            </a:extLst>
          </p:cNvPr>
          <p:cNvSpPr txBox="1">
            <a:spLocks/>
          </p:cNvSpPr>
          <p:nvPr/>
        </p:nvSpPr>
        <p:spPr>
          <a:xfrm>
            <a:off x="1444082" y="2537017"/>
            <a:ext cx="4657306" cy="37705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0">
              <a:buClr>
                <a:srgbClr val="FFFCAB"/>
              </a:buClr>
              <a:buSzPts val="1610"/>
              <a:buNone/>
            </a:pP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T1=”foo”</a:t>
            </a:r>
            <a:endParaRPr lang="en-US" b="1" dirty="0">
              <a:solidFill>
                <a:srgbClr val="FFFF0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T2=”bar”</a:t>
            </a:r>
            <a:endParaRPr lang="en-US" b="1" dirty="0">
              <a:solidFill>
                <a:srgbClr val="FFFF0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if [ 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“$T1” = “$T2” 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]; then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  echo can see 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else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  echo can not see 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fi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54B2C8E5-E4CC-7BDB-C882-75C8004F44F9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(17/28)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F6C8771-CB16-C888-0381-57F06D4579E4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2332BC3-7E20-791A-0D7C-8A9B3ECFB0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00"/>
          <a:stretch/>
        </p:blipFill>
        <p:spPr>
          <a:xfrm>
            <a:off x="6547945" y="1325737"/>
            <a:ext cx="4980969" cy="332958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73E0641-9E15-6834-8409-245C027A3073}"/>
              </a:ext>
            </a:extLst>
          </p:cNvPr>
          <p:cNvSpPr txBox="1">
            <a:spLocks/>
          </p:cNvSpPr>
          <p:nvPr/>
        </p:nvSpPr>
        <p:spPr>
          <a:xfrm>
            <a:off x="1078801" y="1313211"/>
            <a:ext cx="5469144" cy="169758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Conditionals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Conditionals with variables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2E6187D-614A-DF3A-CE8D-1F5EE32E1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"/>
          <a:stretch>
            <a:fillRect/>
          </a:stretch>
        </p:blipFill>
        <p:spPr>
          <a:xfrm>
            <a:off x="6743700" y="4897980"/>
            <a:ext cx="4004218" cy="98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7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487;p40">
            <a:extLst>
              <a:ext uri="{FF2B5EF4-FFF2-40B4-BE49-F238E27FC236}">
                <a16:creationId xmlns:a16="http://schemas.microsoft.com/office/drawing/2014/main" id="{A7D9566B-97A0-F8E8-DE2C-9E223908E1DF}"/>
              </a:ext>
            </a:extLst>
          </p:cNvPr>
          <p:cNvSpPr txBox="1">
            <a:spLocks/>
          </p:cNvSpPr>
          <p:nvPr/>
        </p:nvSpPr>
        <p:spPr>
          <a:xfrm>
            <a:off x="945659" y="2528119"/>
            <a:ext cx="4947121" cy="3727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0">
              <a:buSzPts val="161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if [ “foo” = “bar” ]; then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echo foo eq bar</a:t>
            </a: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elif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[ “foo” = “foo” ]; then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echo foo eq foo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else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	echo foo not eq foo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fi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</p:txBody>
      </p:sp>
      <p:sp>
        <p:nvSpPr>
          <p:cNvPr id="12" name="標題 10">
            <a:extLst>
              <a:ext uri="{FF2B5EF4-FFF2-40B4-BE49-F238E27FC236}">
                <a16:creationId xmlns:a16="http://schemas.microsoft.com/office/drawing/2014/main" id="{1F3E6ECE-3D21-4E39-A3C1-066D17065EB4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(18/28)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C3D2B63-CEF9-806E-D2D9-3E60A334F54D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980FDC9-686E-49EB-F5FE-FC49021AD7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11"/>
          <a:stretch/>
        </p:blipFill>
        <p:spPr>
          <a:xfrm>
            <a:off x="6096000" y="1360643"/>
            <a:ext cx="5533157" cy="305822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9B652C6-A7A1-969B-6EEC-409FF45658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11076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Conditionals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if-then-</a:t>
            </a:r>
            <a:r>
              <a:rPr lang="en-US" altLang="zh-TW" sz="2400" b="1" dirty="0" err="1">
                <a:solidFill>
                  <a:schemeClr val="bg1"/>
                </a:solidFill>
                <a:cs typeface="Calibri"/>
              </a:rPr>
              <a:t>elif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-then-else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3EAA15-2CF4-F989-8200-C3FA3C5EC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82" t="69723" r="12393" b="14448"/>
          <a:stretch>
            <a:fillRect/>
          </a:stretch>
        </p:blipFill>
        <p:spPr>
          <a:xfrm>
            <a:off x="6523517" y="4805157"/>
            <a:ext cx="4191882" cy="106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graphicFrame>
        <p:nvGraphicFramePr>
          <p:cNvPr id="15" name="Google Shape;451;p36">
            <a:extLst>
              <a:ext uri="{FF2B5EF4-FFF2-40B4-BE49-F238E27FC236}">
                <a16:creationId xmlns:a16="http://schemas.microsoft.com/office/drawing/2014/main" id="{8357E8AE-B6E4-66A1-552F-B6D6BD9E3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991209"/>
              </p:ext>
            </p:extLst>
          </p:nvPr>
        </p:nvGraphicFramePr>
        <p:xfrm>
          <a:off x="2219821" y="2528119"/>
          <a:ext cx="7752358" cy="32302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-eq</a:t>
                      </a:r>
                      <a:endParaRPr sz="1200" u="none" strike="noStrike" cap="none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equal to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-ne</a:t>
                      </a:r>
                      <a:endParaRPr sz="1200" u="none" strike="noStrike" cap="none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not equal to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-lt</a:t>
                      </a:r>
                      <a:endParaRPr sz="1200" u="none" strike="noStrike" cap="none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less than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-le</a:t>
                      </a:r>
                      <a:endParaRPr sz="1200" u="none" strike="noStrike" cap="none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less than or equal to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</a:t>
                      </a:r>
                      <a:r>
                        <a:rPr lang="en-US" sz="2800" b="0" i="0" u="none" strike="noStrike" cap="none" dirty="0" err="1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gt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greater than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3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-</a:t>
                      </a:r>
                      <a:r>
                        <a:rPr lang="en-US" sz="2800" b="0" i="0" u="none" strike="noStrike" cap="none" dirty="0" err="1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ge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R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544E51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Helvetica Neue Light"/>
                        <a:buNone/>
                      </a:pPr>
                      <a:r>
                        <a:rPr lang="zh-TW" alt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 </a:t>
                      </a:r>
                      <a:r>
                        <a:rPr lang="en-US" sz="2800" b="0" i="0" u="none" strike="noStrike" cap="none" dirty="0">
                          <a:solidFill>
                            <a:schemeClr val="lt1"/>
                          </a:solidFill>
                          <a:latin typeface="Ubuntu Mono" panose="020B0509030602030204" pitchFamily="49" charset="0"/>
                          <a:ea typeface="Helvetica Neue Light"/>
                          <a:cs typeface="Times New Roman" panose="02020603050405020304" pitchFamily="18" charset="0"/>
                          <a:sym typeface="Helvetica Neue Light"/>
                        </a:rPr>
                        <a:t>is greater than or equal to</a:t>
                      </a:r>
                      <a:endParaRPr sz="1200" u="none" strike="noStrike" cap="none" dirty="0">
                        <a:latin typeface="Ubuntu Mono" panose="020B050903060203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544E51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Google Shape;452;p36">
            <a:extLst>
              <a:ext uri="{FF2B5EF4-FFF2-40B4-BE49-F238E27FC236}">
                <a16:creationId xmlns:a16="http://schemas.microsoft.com/office/drawing/2014/main" id="{C6C31450-45E8-0D5B-18D5-26F5F78EDEB7}"/>
              </a:ext>
            </a:extLst>
          </p:cNvPr>
          <p:cNvSpPr txBox="1"/>
          <p:nvPr/>
        </p:nvSpPr>
        <p:spPr>
          <a:xfrm>
            <a:off x="3475050" y="5948668"/>
            <a:ext cx="5241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42900" indent="-342900" algn="ctr">
              <a:buClr>
                <a:schemeClr val="lt1"/>
              </a:buClr>
              <a:buSzPts val="3500"/>
              <a:buFont typeface="Consolas" panose="020B0609020204030204" pitchFamily="49" charset="0"/>
              <a:buChar char="▲"/>
            </a:pPr>
            <a:r>
              <a:rPr lang="en-US" sz="2400" b="1" dirty="0">
                <a:solidFill>
                  <a:schemeClr val="lt1"/>
                </a:solidFill>
                <a:ea typeface="Helvetica Neue Light"/>
                <a:cs typeface="Helvetica Neue Light"/>
                <a:sym typeface="Helvetica Neue Light"/>
              </a:rPr>
              <a:t>Operators for Mathematics</a:t>
            </a:r>
            <a:endParaRPr sz="1200" b="1" dirty="0"/>
          </a:p>
        </p:txBody>
      </p:sp>
      <p:sp>
        <p:nvSpPr>
          <p:cNvPr id="19" name="標題 10">
            <a:extLst>
              <a:ext uri="{FF2B5EF4-FFF2-40B4-BE49-F238E27FC236}">
                <a16:creationId xmlns:a16="http://schemas.microsoft.com/office/drawing/2014/main" id="{03D12F7E-BC07-AA11-1341-F2A79367ADD7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85647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(19/28)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98FF4E4-0D4E-7BB2-2A03-A713ADEE1A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CCB417C-DE82-A3C0-68D8-2445A19A91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8159793" cy="11076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Conditionals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</a:rPr>
              <a:t>Ex: if [ </a:t>
            </a:r>
            <a:r>
              <a:rPr lang="en-US" altLang="zh-TW" sz="2400" dirty="0">
                <a:solidFill>
                  <a:schemeClr val="bg1"/>
                </a:solidFill>
              </a:rPr>
              <a:t>“$a“ –</a:t>
            </a:r>
            <a:r>
              <a:rPr lang="en-US" altLang="zh-TW" sz="2400" dirty="0" err="1">
                <a:solidFill>
                  <a:schemeClr val="bg1"/>
                </a:solidFill>
              </a:rPr>
              <a:t>lt</a:t>
            </a:r>
            <a:r>
              <a:rPr lang="en-US" altLang="zh-TW" sz="2400" dirty="0">
                <a:solidFill>
                  <a:schemeClr val="bg1"/>
                </a:solidFill>
              </a:rPr>
              <a:t> “$b”</a:t>
            </a:r>
            <a:r>
              <a:rPr lang="en-US" altLang="zh-TW" sz="2400" b="1" dirty="0">
                <a:solidFill>
                  <a:schemeClr val="bg1"/>
                </a:solidFill>
              </a:rPr>
              <a:t> ]; then</a:t>
            </a:r>
          </a:p>
        </p:txBody>
      </p:sp>
    </p:spTree>
    <p:extLst>
      <p:ext uri="{BB962C8B-B14F-4D97-AF65-F5344CB8AC3E}">
        <p14:creationId xmlns:p14="http://schemas.microsoft.com/office/powerpoint/2010/main" val="279599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31B0F69-6AF7-64D9-E960-CCFC6F16BCB1}"/>
              </a:ext>
            </a:extLst>
          </p:cNvPr>
          <p:cNvGrpSpPr/>
          <p:nvPr/>
        </p:nvGrpSpPr>
        <p:grpSpPr>
          <a:xfrm>
            <a:off x="1531404" y="2688922"/>
            <a:ext cx="9635394" cy="3547961"/>
            <a:chOff x="1517935" y="2688922"/>
            <a:chExt cx="9156129" cy="3547961"/>
          </a:xfrm>
        </p:grpSpPr>
        <p:graphicFrame>
          <p:nvGraphicFramePr>
            <p:cNvPr id="8" name="Google Shape;460;p37">
              <a:extLst>
                <a:ext uri="{FF2B5EF4-FFF2-40B4-BE49-F238E27FC236}">
                  <a16:creationId xmlns:a16="http://schemas.microsoft.com/office/drawing/2014/main" id="{9B1A0A32-79A0-FB46-F8E1-B0E9299AE7D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77526372"/>
                </p:ext>
              </p:extLst>
            </p:nvPr>
          </p:nvGraphicFramePr>
          <p:xfrm>
            <a:off x="1517935" y="2688922"/>
            <a:ext cx="9156129" cy="301334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334243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29295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602668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 = str2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R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zh-TW" alt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 </a:t>
                        </a: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 is equal to str2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L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B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02668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 != str2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R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zh-TW" alt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 </a:t>
                        </a: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 is NOT equal to str2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L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T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02668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R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zh-TW" alt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 </a:t>
                        </a: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 is NOT empty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L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T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02668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-n str1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R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zh-TW" alt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 </a:t>
                        </a: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str1’s length&gt;0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L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02668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-z str1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R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3200"/>
                          <a:buFont typeface="Helvetica Neue Light"/>
                          <a:buNone/>
                        </a:pPr>
                        <a:r>
                          <a:rPr lang="zh-TW" alt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 </a:t>
                        </a:r>
                        <a:r>
                          <a:rPr lang="en-US" sz="2800" b="0" i="0" u="none" strike="noStrike" cap="none" dirty="0">
                            <a:solidFill>
                              <a:schemeClr val="lt1"/>
                            </a:solidFill>
                            <a:latin typeface="Ubuntu Mono" panose="020B0509030602030204" pitchFamily="49" charset="0"/>
                            <a:ea typeface="Helvetica Neue Light"/>
                            <a:cs typeface="Times New Roman" panose="02020603050405020304" pitchFamily="18" charset="0"/>
                            <a:sym typeface="Helvetica Neue Light"/>
                          </a:rPr>
                          <a:t>str1’s length=0</a:t>
                        </a:r>
                        <a:endParaRPr sz="1200" u="none" strike="noStrike" cap="none" dirty="0">
                          <a:latin typeface="Ubuntu Mono" panose="020B0509030602030204" pitchFamily="49" charset="0"/>
                          <a:cs typeface="Times New Roman" panose="02020603050405020304" pitchFamily="18" charset="0"/>
                        </a:endParaRPr>
                      </a:p>
                    </a:txBody>
                    <a:tcPr marL="50800" marR="50800" marT="50800" marB="50800" anchor="ctr">
                      <a:lnL w="635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T w="254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solidFill>
                        <a:srgbClr val="544E51">
                          <a:alpha val="34901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9" name="Google Shape;461;p37">
              <a:extLst>
                <a:ext uri="{FF2B5EF4-FFF2-40B4-BE49-F238E27FC236}">
                  <a16:creationId xmlns:a16="http://schemas.microsoft.com/office/drawing/2014/main" id="{879E03DB-1890-8783-41A8-8E29D6B86B10}"/>
                </a:ext>
              </a:extLst>
            </p:cNvPr>
            <p:cNvSpPr txBox="1"/>
            <p:nvPr/>
          </p:nvSpPr>
          <p:spPr>
            <a:xfrm>
              <a:off x="3244393" y="5867551"/>
              <a:ext cx="570321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457200" indent="-457200" algn="ctr">
                <a:buClr>
                  <a:schemeClr val="lt1"/>
                </a:buClr>
                <a:buSzPts val="3500"/>
                <a:buFont typeface="Consolas" panose="020B0609020204030204" pitchFamily="49" charset="0"/>
                <a:buChar char="▲"/>
              </a:pPr>
              <a:r>
                <a:rPr lang="en-US" sz="2400" b="1" dirty="0">
                  <a:solidFill>
                    <a:schemeClr val="lt1"/>
                  </a:solidFill>
                  <a:ea typeface="Helvetica Neue Light"/>
                  <a:cs typeface="Helvetica Neue Light"/>
                  <a:sym typeface="Helvetica Neue Light"/>
                </a:rPr>
                <a:t>Operators for Strings</a:t>
              </a:r>
              <a:endParaRPr sz="1200" b="1" dirty="0"/>
            </a:p>
          </p:txBody>
        </p:sp>
      </p:grpSp>
      <p:sp>
        <p:nvSpPr>
          <p:cNvPr id="13" name="標題 10">
            <a:extLst>
              <a:ext uri="{FF2B5EF4-FFF2-40B4-BE49-F238E27FC236}">
                <a16:creationId xmlns:a16="http://schemas.microsoft.com/office/drawing/2014/main" id="{70E5A934-6F27-6F0D-F146-53FC9E919BE7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10894054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(20/28)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4335C53-4AB2-16BB-5CDF-D58BBFF70126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1674FE-EF1C-5D47-927F-6D030D772A7D}"/>
              </a:ext>
            </a:extLst>
          </p:cNvPr>
          <p:cNvSpPr txBox="1"/>
          <p:nvPr/>
        </p:nvSpPr>
        <p:spPr>
          <a:xfrm>
            <a:off x="1081733" y="1313212"/>
            <a:ext cx="6169980" cy="110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</a:rPr>
              <a:t>Conditionals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</a:rPr>
              <a:t>Ex: if [ -n str1 ]; then</a:t>
            </a:r>
          </a:p>
        </p:txBody>
      </p:sp>
    </p:spTree>
    <p:extLst>
      <p:ext uri="{BB962C8B-B14F-4D97-AF65-F5344CB8AC3E}">
        <p14:creationId xmlns:p14="http://schemas.microsoft.com/office/powerpoint/2010/main" val="329088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496;p41">
            <a:extLst>
              <a:ext uri="{FF2B5EF4-FFF2-40B4-BE49-F238E27FC236}">
                <a16:creationId xmlns:a16="http://schemas.microsoft.com/office/drawing/2014/main" id="{226AA830-BF79-D992-5381-04E229FC5136}"/>
              </a:ext>
            </a:extLst>
          </p:cNvPr>
          <p:cNvSpPr txBox="1">
            <a:spLocks/>
          </p:cNvSpPr>
          <p:nvPr/>
        </p:nvSpPr>
        <p:spPr>
          <a:xfrm>
            <a:off x="989770" y="2616977"/>
            <a:ext cx="4958070" cy="335573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Georgia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for</a:t>
            </a: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 loop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buClr>
                <a:srgbClr val="FFFCAB"/>
              </a:buClr>
              <a:buSzPts val="2070"/>
              <a:buFont typeface="Georgia"/>
              <a:buChar char="•"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for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in 1 2 3 4 5; 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do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echo Item $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done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2200"/>
              </a:spcBef>
              <a:buClr>
                <a:srgbClr val="FFFCAB"/>
              </a:buClr>
              <a:buSzPts val="2070"/>
              <a:buFont typeface="Georgia"/>
              <a:buChar char="•"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for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((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=1; 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&lt;6; 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++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)); do</a:t>
            </a:r>
            <a:endParaRPr lang="en-US" b="1" dirty="0">
              <a:solidFill>
                <a:srgbClr val="FFFF00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echo Item $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i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done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</p:txBody>
      </p:sp>
      <p:sp>
        <p:nvSpPr>
          <p:cNvPr id="13" name="標題 10">
            <a:extLst>
              <a:ext uri="{FF2B5EF4-FFF2-40B4-BE49-F238E27FC236}">
                <a16:creationId xmlns:a16="http://schemas.microsoft.com/office/drawing/2014/main" id="{475AE657-BFFF-9D57-1193-B0C3685C58CB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(21/28)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0F8EC67-1A35-C6B2-4870-E19548688AD6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765594D-92B2-AB51-46FB-765C7B462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11076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Loops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for loop 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A6053B4-2235-7043-8C65-4AF5ED30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517" y="1445829"/>
            <a:ext cx="3417171" cy="193550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FFB8A40-154D-89DB-D620-F913ABEA5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48" t="50889" r="18333" b="2565"/>
          <a:stretch>
            <a:fillRect/>
          </a:stretch>
        </p:blipFill>
        <p:spPr>
          <a:xfrm>
            <a:off x="6483996" y="3498747"/>
            <a:ext cx="3472211" cy="305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1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06;p42">
            <a:extLst>
              <a:ext uri="{FF2B5EF4-FFF2-40B4-BE49-F238E27FC236}">
                <a16:creationId xmlns:a16="http://schemas.microsoft.com/office/drawing/2014/main" id="{91E1C9C8-A569-0D52-A3E8-DEE585E442F7}"/>
              </a:ext>
            </a:extLst>
          </p:cNvPr>
          <p:cNvSpPr txBox="1">
            <a:spLocks/>
          </p:cNvSpPr>
          <p:nvPr/>
        </p:nvSpPr>
        <p:spPr>
          <a:xfrm>
            <a:off x="1215434" y="2673368"/>
            <a:ext cx="4313007" cy="26533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lvl="1" indent="0">
              <a:buSzPts val="2070"/>
              <a:buNone/>
            </a:pP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=1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000"/>
              </a:spcBef>
              <a:buClr>
                <a:srgbClr val="FFFCAB"/>
              </a:buClr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while [ $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-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lt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6 ]; </a:t>
            </a: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do</a:t>
            </a:r>
            <a:endParaRPr lang="en-US" b="1" dirty="0">
              <a:solidFill>
                <a:srgbClr val="FFFF0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echo Item $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    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=`expr $</a:t>
            </a: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i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 + 1`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  <a:p>
            <a:pPr marL="850900" lvl="1" indent="-406400">
              <a:spcBef>
                <a:spcPts val="1000"/>
              </a:spcBef>
              <a:buSzPts val="2070"/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Times New Roman" panose="02020603050405020304" pitchFamily="18" charset="0"/>
                <a:sym typeface="Georgia"/>
              </a:rPr>
              <a:t>done</a:t>
            </a:r>
            <a:endParaRPr lang="en-US" b="1" dirty="0">
              <a:solidFill>
                <a:srgbClr val="FFFF00"/>
              </a:solidFill>
              <a:latin typeface="Ubuntu Mono" panose="020B0509030602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標題 10">
            <a:extLst>
              <a:ext uri="{FF2B5EF4-FFF2-40B4-BE49-F238E27FC236}">
                <a16:creationId xmlns:a16="http://schemas.microsoft.com/office/drawing/2014/main" id="{34E632DB-E2C1-FDA5-D44B-918CF39B5AA1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1132049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(22/28)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24BF7C4-6DEA-20C7-0AB0-286B05935175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4FABBE-CF5D-8E74-707E-16133FFAB8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11076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Loops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while loop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CE45F42-1C07-4BF2-2EBB-338421761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641" y="1553729"/>
            <a:ext cx="4651157" cy="223927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2B94967-5EDE-67CE-3EDC-A789D2BFB004}"/>
              </a:ext>
            </a:extLst>
          </p:cNvPr>
          <p:cNvSpPr txBox="1"/>
          <p:nvPr/>
        </p:nvSpPr>
        <p:spPr>
          <a:xfrm>
            <a:off x="10381508" y="3808275"/>
            <a:ext cx="2055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可用</a:t>
            </a:r>
            <a:r>
              <a:rPr lang="en-US" altLang="zh-TW" dirty="0">
                <a:solidFill>
                  <a:schemeClr val="bg1"/>
                </a:solidFill>
              </a:rPr>
              <a:t>: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en-US" altLang="zh-TW" dirty="0">
                <a:solidFill>
                  <a:schemeClr val="bg1"/>
                </a:solidFill>
              </a:rPr>
              <a:t>((</a:t>
            </a:r>
            <a:r>
              <a:rPr lang="en-US" altLang="zh-TW" dirty="0" err="1">
                <a:solidFill>
                  <a:schemeClr val="bg1"/>
                </a:solidFill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++))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en-US" altLang="zh-TW" dirty="0">
                <a:solidFill>
                  <a:schemeClr val="bg1"/>
                </a:solidFill>
              </a:rPr>
              <a:t>((</a:t>
            </a:r>
            <a:r>
              <a:rPr lang="en-US" altLang="zh-TW" dirty="0" err="1">
                <a:solidFill>
                  <a:schemeClr val="bg1"/>
                </a:solidFill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=i+1))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  </a:t>
            </a:r>
            <a:r>
              <a:rPr lang="en-US" altLang="zh-TW" dirty="0">
                <a:solidFill>
                  <a:schemeClr val="bg1"/>
                </a:solidFill>
              </a:rPr>
              <a:t>((</a:t>
            </a:r>
            <a:r>
              <a:rPr lang="en-US" altLang="zh-TW" dirty="0" err="1">
                <a:solidFill>
                  <a:schemeClr val="bg1"/>
                </a:solidFill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+=1))</a:t>
            </a:r>
          </a:p>
          <a:p>
            <a:endParaRPr lang="zh-TW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D380B38C-8DC0-3A87-4BCE-EBECEE2DB8A2}"/>
              </a:ext>
            </a:extLst>
          </p:cNvPr>
          <p:cNvSpPr/>
          <p:nvPr/>
        </p:nvSpPr>
        <p:spPr>
          <a:xfrm rot="3004270">
            <a:off x="10093910" y="3511645"/>
            <a:ext cx="417250" cy="166456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4A209B8-BAE2-BB7C-92B7-98894EB22F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990" t="61768" r="16202" b="5161"/>
          <a:stretch>
            <a:fillRect/>
          </a:stretch>
        </p:blipFill>
        <p:spPr>
          <a:xfrm>
            <a:off x="6442854" y="4115954"/>
            <a:ext cx="3661955" cy="211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9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16;p43">
            <a:extLst>
              <a:ext uri="{FF2B5EF4-FFF2-40B4-BE49-F238E27FC236}">
                <a16:creationId xmlns:a16="http://schemas.microsoft.com/office/drawing/2014/main" id="{881322FD-0322-96CF-141B-68B08E3F5EF1}"/>
              </a:ext>
            </a:extLst>
          </p:cNvPr>
          <p:cNvSpPr txBox="1">
            <a:spLocks/>
          </p:cNvSpPr>
          <p:nvPr/>
        </p:nvSpPr>
        <p:spPr>
          <a:xfrm>
            <a:off x="3269195" y="2134973"/>
            <a:ext cx="5653610" cy="40854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Syntax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buClr>
                <a:srgbClr val="FFFCAB"/>
              </a:buClr>
              <a:buSzPts val="1840"/>
              <a:buFont typeface="Georgia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case $var in</a:t>
            </a:r>
            <a:endParaRPr lang="en-US" sz="2800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pattern1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)</a:t>
            </a: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command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;;</a:t>
            </a:r>
            <a:endParaRPr lang="en-US" sz="2800" b="1" dirty="0">
              <a:solidFill>
                <a:srgbClr val="FFFF00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pattern2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)</a:t>
            </a: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command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;;</a:t>
            </a:r>
            <a:endParaRPr lang="en-US" sz="2800" b="1" dirty="0">
              <a:solidFill>
                <a:srgbClr val="FFFF00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</a:t>
            </a:r>
            <a:r>
              <a:rPr lang="en-US" sz="2800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patternN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)</a:t>
            </a: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command</a:t>
            </a:r>
            <a:r>
              <a:rPr lang="en-US" sz="2800" b="1" dirty="0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;;</a:t>
            </a:r>
            <a:endParaRPr lang="en-US" sz="2800" b="1" dirty="0">
              <a:solidFill>
                <a:srgbClr val="FFFF00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 *) command;;</a:t>
            </a:r>
            <a:endParaRPr lang="en-US" sz="2800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Clr>
                <a:srgbClr val="FFFCAB"/>
              </a:buClr>
              <a:buSzPts val="184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</a:t>
            </a:r>
            <a:r>
              <a:rPr lang="en-US" sz="2800" b="1" dirty="0" err="1">
                <a:solidFill>
                  <a:srgbClr val="FFFF0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esac</a:t>
            </a:r>
            <a:endParaRPr lang="en-US" sz="2800" b="1" dirty="0">
              <a:solidFill>
                <a:srgbClr val="FFFF00"/>
              </a:solidFill>
              <a:latin typeface="Ubuntu Mono" panose="020B0509030602030204" pitchFamily="49" charset="0"/>
            </a:endParaRPr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C50AD17E-C7C8-0DA3-C3CA-3F488EA6995A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1096921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(23/28)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7CFCE4-9C7B-3402-D174-46BED7550A5A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AC9EE67-4B00-EB9D-EE82-DDB0EFD28E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case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72906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23;p44">
            <a:extLst>
              <a:ext uri="{FF2B5EF4-FFF2-40B4-BE49-F238E27FC236}">
                <a16:creationId xmlns:a16="http://schemas.microsoft.com/office/drawing/2014/main" id="{562CFF86-BDD7-B6AB-1504-C31C13D65B43}"/>
              </a:ext>
            </a:extLst>
          </p:cNvPr>
          <p:cNvSpPr txBox="1">
            <a:spLocks/>
          </p:cNvSpPr>
          <p:nvPr/>
        </p:nvSpPr>
        <p:spPr>
          <a:xfrm>
            <a:off x="359194" y="2092102"/>
            <a:ext cx="6170119" cy="41002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Example: name.sh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444500" lvl="1" indent="0">
              <a:buSzPts val="1472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case $1 in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“Amy") echo “Amy Lin";;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“Jimmy") echo “Jimmy Wang";;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“Johnny") echo “Johnny Chen";;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“Purple") echo “Purple Red";;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      *) echo “Error" </a:t>
            </a: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esac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5AC80F3E-A9CC-E34D-14FA-8A3B2D50C302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(24/28)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0CB39A-3BD0-1EAD-7514-8592F7073BD0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E68E44-809C-F8AC-A65C-4D29386FA9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case Statement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A830BBF-4DB0-9465-76D1-5D6A85BD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80" y="2453420"/>
            <a:ext cx="5401499" cy="26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3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30;p45">
            <a:extLst>
              <a:ext uri="{FF2B5EF4-FFF2-40B4-BE49-F238E27FC236}">
                <a16:creationId xmlns:a16="http://schemas.microsoft.com/office/drawing/2014/main" id="{17A28E5C-8027-4EEF-4638-84392B19515F}"/>
              </a:ext>
            </a:extLst>
          </p:cNvPr>
          <p:cNvSpPr txBox="1">
            <a:spLocks/>
          </p:cNvSpPr>
          <p:nvPr/>
        </p:nvSpPr>
        <p:spPr>
          <a:xfrm>
            <a:off x="639336" y="2619377"/>
            <a:ext cx="4060446" cy="26836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Result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444500" lvl="1" indent="0">
              <a:buClr>
                <a:srgbClr val="FFF959"/>
              </a:buClr>
              <a:buSzPts val="1472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$ ./ex5.sh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472"/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50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Enter a first name </a:t>
            </a:r>
            <a:endParaRPr lang="en-US" b="1" dirty="0">
              <a:solidFill>
                <a:srgbClr val="00B050"/>
              </a:solidFill>
              <a:latin typeface="Ubuntu Mono" panose="020B0509030602030204" pitchFamily="49" charset="0"/>
            </a:endParaRPr>
          </a:p>
          <a:p>
            <a:pPr marL="444500" lvl="1" indent="0">
              <a:spcBef>
                <a:spcPts val="1600"/>
              </a:spcBef>
              <a:buClr>
                <a:srgbClr val="FFF959"/>
              </a:buClr>
              <a:buSzPts val="1472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Amy</a:t>
            </a:r>
          </a:p>
          <a:p>
            <a:pPr marL="444500" lvl="1" indent="0">
              <a:spcBef>
                <a:spcPts val="1600"/>
              </a:spcBef>
              <a:buClr>
                <a:srgbClr val="FFF959"/>
              </a:buClr>
              <a:buSzPts val="1472"/>
              <a:buNone/>
            </a:pPr>
            <a:r>
              <a:rPr lang="en-US" b="1" dirty="0">
                <a:solidFill>
                  <a:srgbClr val="00B050"/>
                </a:solidFill>
                <a:latin typeface="Ubuntu Mono" panose="020B0509030602030204" pitchFamily="49" charset="0"/>
                <a:sym typeface="Georgia"/>
              </a:rPr>
              <a:t>Amy Lin</a:t>
            </a:r>
            <a:endParaRPr lang="en-US" b="1" dirty="0">
              <a:solidFill>
                <a:srgbClr val="00B050"/>
              </a:solidFill>
              <a:latin typeface="Ubuntu Mono" panose="020B0509030602030204" pitchFamily="49" charset="0"/>
            </a:endParaRPr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666F74A1-AE11-98F5-7E8C-162B5F469B85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969211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(25/28)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304EF7F-2208-FE08-746D-C01050078C7B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7D568D3-DAE4-EA84-A926-1185EF1316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case Statement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DCC5BA0-74F6-DC76-CD69-D8DC6FE65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54" t="37180" r="10194" b="25356"/>
          <a:stretch>
            <a:fillRect/>
          </a:stretch>
        </p:blipFill>
        <p:spPr>
          <a:xfrm>
            <a:off x="5823153" y="2955860"/>
            <a:ext cx="4891596" cy="19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7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43;p47">
            <a:extLst>
              <a:ext uri="{FF2B5EF4-FFF2-40B4-BE49-F238E27FC236}">
                <a16:creationId xmlns:a16="http://schemas.microsoft.com/office/drawing/2014/main" id="{6CD041A1-657F-CF14-6C5C-E0937556575C}"/>
              </a:ext>
            </a:extLst>
          </p:cNvPr>
          <p:cNvSpPr txBox="1">
            <a:spLocks/>
          </p:cNvSpPr>
          <p:nvPr/>
        </p:nvSpPr>
        <p:spPr>
          <a:xfrm>
            <a:off x="719803" y="1980798"/>
            <a:ext cx="6092431" cy="40206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Example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sym typeface="Helvetica Neue"/>
            </a:endParaRPr>
          </a:p>
          <a:p>
            <a:pPr marL="0" indent="0">
              <a:spcBef>
                <a:spcPts val="0"/>
              </a:spcBef>
              <a:buSzPts val="2300"/>
              <a:buNone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Helvetica Neue"/>
              </a:rPr>
              <a:t>   </a:t>
            </a: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num=10</a:t>
            </a: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  <a:sym typeface="Georgia"/>
            </a:endParaRPr>
          </a:p>
          <a:p>
            <a:pPr marL="444500" lvl="1" indent="0">
              <a:buSzPts val="1610"/>
              <a:buNone/>
            </a:pP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PrintNumber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() {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	echo “The number is $num!”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}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850900" lvl="1" indent="-406400">
              <a:spcBef>
                <a:spcPts val="1600"/>
              </a:spcBef>
              <a:buSzPts val="1610"/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PrintNumber</a:t>
            </a:r>
            <a:r>
              <a:rPr lang="en-US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;</a:t>
            </a:r>
            <a:endParaRPr lang="en-US" b="1" dirty="0">
              <a:solidFill>
                <a:schemeClr val="bg1"/>
              </a:solidFill>
              <a:latin typeface="Ubuntu Mono" panose="020B0509030602030204" pitchFamily="49" charset="0"/>
            </a:endParaRPr>
          </a:p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endParaRPr lang="en-US" altLang="zh-TW" sz="2400" b="1" dirty="0">
              <a:solidFill>
                <a:schemeClr val="bg1"/>
              </a:solidFill>
              <a:latin typeface="Ubuntu Mono" panose="020B0509030602030204" pitchFamily="49" charset="0"/>
              <a:ea typeface="Helvetica Neue"/>
              <a:cs typeface="Helvetica Neue"/>
              <a:sym typeface="Helvetica Neue"/>
            </a:endParaRPr>
          </a:p>
          <a:p>
            <a:pPr marL="406400" indent="-406400">
              <a:spcBef>
                <a:spcPts val="0"/>
              </a:spcBef>
              <a:buSzPts val="2300"/>
              <a:buFont typeface="Helvetica Neue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Ubuntu Mono" panose="020B0509030602030204" pitchFamily="49" charset="0"/>
                <a:ea typeface="Helvetica Neue"/>
                <a:cs typeface="Helvetica Neue"/>
                <a:sym typeface="Helvetica Neue"/>
              </a:rPr>
              <a:t>Result</a:t>
            </a:r>
            <a:endParaRPr lang="en-US" altLang="zh-TW" sz="2400" b="1" dirty="0">
              <a:solidFill>
                <a:schemeClr val="bg1"/>
              </a:solidFill>
              <a:latin typeface="Ubuntu Mono" panose="020B0509030602030204" pitchFamily="49" charset="0"/>
              <a:sym typeface="Helvetica Neue"/>
            </a:endParaRPr>
          </a:p>
          <a:p>
            <a:pPr marL="0" indent="0">
              <a:spcBef>
                <a:spcPts val="0"/>
              </a:spcBef>
              <a:buSzPts val="2300"/>
              <a:buNone/>
            </a:pP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Helvetica Neue"/>
              </a:rPr>
              <a:t>   </a:t>
            </a:r>
            <a: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  <a:t>The number is 10!</a:t>
            </a:r>
            <a:br>
              <a:rPr lang="en-US" sz="2400" b="1" dirty="0">
                <a:solidFill>
                  <a:schemeClr val="bg1"/>
                </a:solidFill>
                <a:latin typeface="Ubuntu Mono" panose="020B0509030602030204" pitchFamily="49" charset="0"/>
                <a:ea typeface="Georgia"/>
                <a:cs typeface="Georgia"/>
                <a:sym typeface="Georgia"/>
              </a:rPr>
            </a:br>
            <a:endParaRPr lang="en-US" sz="2400" b="1" dirty="0">
              <a:solidFill>
                <a:schemeClr val="bg1"/>
              </a:solidFill>
              <a:latin typeface="Ubuntu Mono" panose="020B0509030602030204" pitchFamily="49" charset="0"/>
            </a:endParaRPr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C61FC718-230D-EF7F-4539-D71D31387A4A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994263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(26/28)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943468B-32AD-0C9C-39D4-C3546D3A9365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EA21BA5-18B4-C33D-2799-9D7D0CA9D20E}"/>
              </a:ext>
            </a:extLst>
          </p:cNvPr>
          <p:cNvSpPr txBox="1"/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Function 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3BDE20-FF28-26C1-42FE-8EF52AD7E0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6"/>
          <a:stretch/>
        </p:blipFill>
        <p:spPr>
          <a:xfrm>
            <a:off x="7189646" y="1980798"/>
            <a:ext cx="4596713" cy="189081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65586FB-2DE7-2E9C-6691-FAD09CD94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41" t="61587" r="1730" b="18515"/>
          <a:stretch>
            <a:fillRect/>
          </a:stretch>
        </p:blipFill>
        <p:spPr>
          <a:xfrm>
            <a:off x="7189646" y="4420426"/>
            <a:ext cx="4394089" cy="120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020E4AC0-52A0-FBEA-7149-6EB44D4D7D1C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(27/28)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DBE4FD1-55A5-8CF6-1DCA-894B574E0B3D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14" name="流程圖: 直接存取儲存裝置 13">
            <a:extLst>
              <a:ext uri="{FF2B5EF4-FFF2-40B4-BE49-F238E27FC236}">
                <a16:creationId xmlns:a16="http://schemas.microsoft.com/office/drawing/2014/main" id="{1BC1A660-ACCE-AFBF-7F4D-ADE4054A7E70}"/>
              </a:ext>
            </a:extLst>
          </p:cNvPr>
          <p:cNvSpPr/>
          <p:nvPr/>
        </p:nvSpPr>
        <p:spPr>
          <a:xfrm>
            <a:off x="2202449" y="4464923"/>
            <a:ext cx="1072643" cy="1021565"/>
          </a:xfrm>
          <a:prstGeom prst="flowChartMagneticDrum">
            <a:avLst/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anose="02020500000000000000" pitchFamily="18" charset="-120"/>
                <a:cs typeface="+mn-cs"/>
                <a:sym typeface="Arial"/>
              </a:rPr>
              <a:t>A</a:t>
            </a:r>
            <a:endParaRPr kumimoji="0" lang="zh-TW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15" name="流程圖: 直接存取儲存裝置 14">
            <a:extLst>
              <a:ext uri="{FF2B5EF4-FFF2-40B4-BE49-F238E27FC236}">
                <a16:creationId xmlns:a16="http://schemas.microsoft.com/office/drawing/2014/main" id="{47204D9B-B70A-6E21-5C2D-A4BAB675E186}"/>
              </a:ext>
            </a:extLst>
          </p:cNvPr>
          <p:cNvSpPr/>
          <p:nvPr/>
        </p:nvSpPr>
        <p:spPr>
          <a:xfrm>
            <a:off x="6657937" y="4506835"/>
            <a:ext cx="1072643" cy="1021565"/>
          </a:xfrm>
          <a:prstGeom prst="flowChartMagneticDrum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anose="02020500000000000000" pitchFamily="18" charset="-120"/>
                <a:cs typeface="+mn-cs"/>
                <a:sym typeface="Arial"/>
              </a:rPr>
              <a:t>B</a:t>
            </a:r>
            <a:endParaRPr kumimoji="0" lang="zh-TW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16" name="向右箭號 2">
            <a:extLst>
              <a:ext uri="{FF2B5EF4-FFF2-40B4-BE49-F238E27FC236}">
                <a16:creationId xmlns:a16="http://schemas.microsoft.com/office/drawing/2014/main" id="{2F468735-CB57-F722-0252-C22CE8ABAED3}"/>
              </a:ext>
            </a:extLst>
          </p:cNvPr>
          <p:cNvSpPr/>
          <p:nvPr/>
        </p:nvSpPr>
        <p:spPr>
          <a:xfrm>
            <a:off x="3589397" y="4654974"/>
            <a:ext cx="556822" cy="568421"/>
          </a:xfrm>
          <a:prstGeom prst="rightArrow">
            <a:avLst/>
          </a:prstGeom>
          <a:gradFill rotWithShape="1">
            <a:gsLst>
              <a:gs pos="0">
                <a:srgbClr val="AAAAAA">
                  <a:tint val="100000"/>
                  <a:shade val="100000"/>
                  <a:satMod val="130000"/>
                </a:srgbClr>
              </a:gs>
              <a:gs pos="100000">
                <a:srgbClr val="AAAAAA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17" name="向右箭號 7">
            <a:extLst>
              <a:ext uri="{FF2B5EF4-FFF2-40B4-BE49-F238E27FC236}">
                <a16:creationId xmlns:a16="http://schemas.microsoft.com/office/drawing/2014/main" id="{D4B05A20-334F-8BB2-EC8C-67F887BD57A2}"/>
              </a:ext>
            </a:extLst>
          </p:cNvPr>
          <p:cNvSpPr/>
          <p:nvPr/>
        </p:nvSpPr>
        <p:spPr>
          <a:xfrm>
            <a:off x="5762830" y="4702416"/>
            <a:ext cx="566428" cy="578228"/>
          </a:xfrm>
          <a:prstGeom prst="rightArrow">
            <a:avLst>
              <a:gd name="adj1" fmla="val 50000"/>
              <a:gd name="adj2" fmla="val 82671"/>
            </a:avLst>
          </a:prstGeom>
          <a:gradFill rotWithShape="1">
            <a:gsLst>
              <a:gs pos="0">
                <a:srgbClr val="AAAAAA">
                  <a:tint val="100000"/>
                  <a:shade val="100000"/>
                  <a:satMod val="130000"/>
                </a:srgbClr>
              </a:gs>
              <a:gs pos="100000">
                <a:srgbClr val="AAAAAA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18" name="雲朵形 17">
            <a:extLst>
              <a:ext uri="{FF2B5EF4-FFF2-40B4-BE49-F238E27FC236}">
                <a16:creationId xmlns:a16="http://schemas.microsoft.com/office/drawing/2014/main" id="{322B853B-A43A-ACAD-F4BA-D3E7B6FF95D4}"/>
              </a:ext>
            </a:extLst>
          </p:cNvPr>
          <p:cNvSpPr/>
          <p:nvPr/>
        </p:nvSpPr>
        <p:spPr>
          <a:xfrm rot="495631">
            <a:off x="4315519" y="4607077"/>
            <a:ext cx="1167151" cy="799715"/>
          </a:xfrm>
          <a:prstGeom prst="cloud">
            <a:avLst/>
          </a:prstGeom>
          <a:solidFill>
            <a:srgbClr val="FFFFFF"/>
          </a:solidFill>
          <a:ln w="25400" cap="flat" cmpd="sng" algn="ctr">
            <a:solidFill>
              <a:srgbClr val="FFFF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  <a:sym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D3D21E-12E6-A297-1961-8D82D92493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679998" cy="26978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 dirty="0">
                <a:solidFill>
                  <a:schemeClr val="bg1"/>
                </a:solidFill>
                <a:cs typeface="Calibri"/>
              </a:rPr>
              <a:t>Pipes |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A pipe is a way to connect the output of one program to the input of another without any temporary file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We can use “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ls | sort -r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” to list sorted directory contents reversely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01E1790-F2B1-196A-7DA3-BF34A9DBAC53}"/>
              </a:ext>
            </a:extLst>
          </p:cNvPr>
          <p:cNvSpPr txBox="1"/>
          <p:nvPr/>
        </p:nvSpPr>
        <p:spPr>
          <a:xfrm>
            <a:off x="3446251" y="5710643"/>
            <a:ext cx="3371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</a:rPr>
              <a:t>將</a:t>
            </a:r>
            <a:r>
              <a:rPr lang="en-US" altLang="zh-TW" sz="2400" dirty="0">
                <a:solidFill>
                  <a:schemeClr val="bg1"/>
                </a:solidFill>
              </a:rPr>
              <a:t>A</a:t>
            </a:r>
            <a:r>
              <a:rPr lang="zh-TW" altLang="en-US" sz="2400" dirty="0">
                <a:solidFill>
                  <a:schemeClr val="bg1"/>
                </a:solidFill>
              </a:rPr>
              <a:t>的輸出丟到</a:t>
            </a:r>
            <a:r>
              <a:rPr lang="en-US" altLang="zh-TW" sz="2400" dirty="0">
                <a:solidFill>
                  <a:schemeClr val="bg1"/>
                </a:solidFill>
              </a:rPr>
              <a:t>B</a:t>
            </a:r>
            <a:r>
              <a:rPr lang="zh-TW" altLang="en-US" sz="2400" dirty="0">
                <a:solidFill>
                  <a:schemeClr val="bg1"/>
                </a:solidFill>
              </a:rPr>
              <a:t>的輸入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289BE15-BAC4-D935-6C3B-488469EB3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15" t="63016" b="14052"/>
          <a:stretch>
            <a:fillRect/>
          </a:stretch>
        </p:blipFill>
        <p:spPr>
          <a:xfrm>
            <a:off x="7868757" y="4176370"/>
            <a:ext cx="4116537" cy="14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9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10" name="標題 10">
            <a:extLst>
              <a:ext uri="{FF2B5EF4-FFF2-40B4-BE49-F238E27FC236}">
                <a16:creationId xmlns:a16="http://schemas.microsoft.com/office/drawing/2014/main" id="{020E4AC0-52A0-FBEA-7149-6EB44D4D7D1C}"/>
              </a:ext>
            </a:extLst>
          </p:cNvPr>
          <p:cNvSpPr txBox="1">
            <a:spLocks/>
          </p:cNvSpPr>
          <p:nvPr/>
        </p:nvSpPr>
        <p:spPr>
          <a:xfrm>
            <a:off x="1444082" y="344206"/>
            <a:ext cx="1074791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Bash Shell Scripting Tutorial (28/28)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DBE4FD1-55A5-8CF6-1DCA-894B574E0B3D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E38C88E-E582-430C-9271-EDF432F0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801" y="1260251"/>
            <a:ext cx="2416799" cy="250436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8222C43-B2A1-45CA-AB9A-4EF34B591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645" y="1361867"/>
            <a:ext cx="4845810" cy="254877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F348BD9-48E1-EB1F-B457-0AFCB5DA42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629" t="61971" r="26668" b="13317"/>
          <a:stretch>
            <a:fillRect/>
          </a:stretch>
        </p:blipFill>
        <p:spPr>
          <a:xfrm>
            <a:off x="2708841" y="4363958"/>
            <a:ext cx="6355608" cy="15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7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8909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Vim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Basics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Bash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Shell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Scripting</a:t>
            </a:r>
            <a:r>
              <a:rPr lang="zh-TW" altLang="en-US" sz="32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Tutorial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92336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50;p48">
            <a:extLst>
              <a:ext uri="{FF2B5EF4-FFF2-40B4-BE49-F238E27FC236}">
                <a16:creationId xmlns:a16="http://schemas.microsoft.com/office/drawing/2014/main" id="{EC93FC23-D7CB-0E0D-F067-7C8DDE3C4AC5}"/>
              </a:ext>
            </a:extLst>
          </p:cNvPr>
          <p:cNvSpPr txBox="1">
            <a:spLocks/>
          </p:cNvSpPr>
          <p:nvPr/>
        </p:nvSpPr>
        <p:spPr>
          <a:xfrm>
            <a:off x="542673" y="1571743"/>
            <a:ext cx="11430000" cy="32344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lnSpc>
                <a:spcPct val="150000"/>
              </a:lnSpc>
              <a:spcBef>
                <a:spcPts val="0"/>
              </a:spcBef>
              <a:buSzPts val="1840"/>
            </a:pPr>
            <a:r>
              <a:rPr lang="en-US" b="1" dirty="0">
                <a:solidFill>
                  <a:schemeClr val="bg1"/>
                </a:solidFill>
              </a:rPr>
              <a:t>Number Guessing Game</a:t>
            </a:r>
          </a:p>
          <a:p>
            <a:pPr marL="850900" lvl="1" indent="-406400">
              <a:lnSpc>
                <a:spcPct val="150000"/>
              </a:lnSpc>
              <a:buSzPts val="1840"/>
            </a:pPr>
            <a:r>
              <a:rPr lang="en-US" sz="2800" b="1" dirty="0">
                <a:solidFill>
                  <a:schemeClr val="bg1"/>
                </a:solidFill>
              </a:rPr>
              <a:t>Define the number range between </a:t>
            </a:r>
            <a:r>
              <a:rPr lang="en-US" sz="2800" b="1" dirty="0">
                <a:solidFill>
                  <a:srgbClr val="FFFF00"/>
                </a:solidFill>
              </a:rPr>
              <a:t>1</a:t>
            </a:r>
            <a:r>
              <a:rPr lang="en-US" sz="2800" b="1" dirty="0">
                <a:solidFill>
                  <a:schemeClr val="bg1"/>
                </a:solidFill>
              </a:rPr>
              <a:t> and </a:t>
            </a:r>
            <a:r>
              <a:rPr lang="en-US" sz="2800" b="1" dirty="0">
                <a:solidFill>
                  <a:srgbClr val="FFFF00"/>
                </a:solidFill>
              </a:rPr>
              <a:t>10</a:t>
            </a:r>
          </a:p>
          <a:p>
            <a:pPr marL="850900" lvl="1" indent="-406400">
              <a:lnSpc>
                <a:spcPct val="150000"/>
              </a:lnSpc>
              <a:buSzPts val="1840"/>
            </a:pPr>
            <a:r>
              <a:rPr lang="en-US" sz="2800" b="1" dirty="0">
                <a:solidFill>
                  <a:schemeClr val="bg1"/>
                </a:solidFill>
              </a:rPr>
              <a:t>Ask the user to enter a target number at beginning</a:t>
            </a:r>
          </a:p>
          <a:p>
            <a:pPr marL="850900" lvl="1" indent="-406400">
              <a:lnSpc>
                <a:spcPct val="150000"/>
              </a:lnSpc>
              <a:buSzPts val="1840"/>
            </a:pPr>
            <a:r>
              <a:rPr lang="en-US" sz="2800" b="1" dirty="0">
                <a:solidFill>
                  <a:srgbClr val="FFFF00"/>
                </a:solidFill>
              </a:rPr>
              <a:t>Keep narrowing down </a:t>
            </a:r>
            <a:r>
              <a:rPr lang="en-US" sz="2800" b="1" dirty="0">
                <a:solidFill>
                  <a:schemeClr val="bg1"/>
                </a:solidFill>
              </a:rPr>
              <a:t>the number range until the player guessing the right target number</a:t>
            </a:r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87B85108-414C-45FC-5D04-7227A01C3D04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Exercises (1/3)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62EB7C-6831-4F9A-335A-093C9615F483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</p:spTree>
    <p:extLst>
      <p:ext uri="{BB962C8B-B14F-4D97-AF65-F5344CB8AC3E}">
        <p14:creationId xmlns:p14="http://schemas.microsoft.com/office/powerpoint/2010/main" val="343156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62;p50">
            <a:extLst>
              <a:ext uri="{FF2B5EF4-FFF2-40B4-BE49-F238E27FC236}">
                <a16:creationId xmlns:a16="http://schemas.microsoft.com/office/drawing/2014/main" id="{62F999EF-95C0-5F32-93F9-C8AD932E1473}"/>
              </a:ext>
            </a:extLst>
          </p:cNvPr>
          <p:cNvSpPr txBox="1">
            <a:spLocks/>
          </p:cNvSpPr>
          <p:nvPr/>
        </p:nvSpPr>
        <p:spPr>
          <a:xfrm>
            <a:off x="1148634" y="1508512"/>
            <a:ext cx="9170164" cy="32232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lnSpc>
                <a:spcPct val="200000"/>
              </a:lnSpc>
              <a:spcBef>
                <a:spcPts val="0"/>
              </a:spcBef>
              <a:buSzPts val="1840"/>
            </a:pPr>
            <a:r>
              <a:rPr lang="en-US" b="1" dirty="0">
                <a:solidFill>
                  <a:schemeClr val="bg1"/>
                </a:solidFill>
              </a:rPr>
              <a:t>Use </a:t>
            </a:r>
            <a:r>
              <a:rPr lang="en-US" b="1" dirty="0">
                <a:solidFill>
                  <a:srgbClr val="FFFF00"/>
                </a:solidFill>
              </a:rPr>
              <a:t>echo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rgbClr val="FFFF00"/>
                </a:solidFill>
              </a:rPr>
              <a:t>read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rgbClr val="FFFF00"/>
                </a:solidFill>
              </a:rPr>
              <a:t>loop</a:t>
            </a:r>
            <a:r>
              <a:rPr lang="en-US" b="1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rgbClr val="FFFF00"/>
                </a:solidFill>
              </a:rPr>
              <a:t>conditionals</a:t>
            </a:r>
          </a:p>
          <a:p>
            <a:pPr marL="406400" indent="-406400">
              <a:lnSpc>
                <a:spcPct val="200000"/>
              </a:lnSpc>
              <a:buSzPts val="1840"/>
            </a:pPr>
            <a:r>
              <a:rPr lang="en-US" b="1" dirty="0">
                <a:solidFill>
                  <a:schemeClr val="bg1"/>
                </a:solidFill>
              </a:rPr>
              <a:t>Use </a:t>
            </a:r>
            <a:r>
              <a:rPr lang="en-US" b="1" dirty="0">
                <a:solidFill>
                  <a:srgbClr val="FFFF00"/>
                </a:solidFill>
              </a:rPr>
              <a:t>function</a:t>
            </a:r>
            <a:r>
              <a:rPr lang="en-US" b="1" dirty="0">
                <a:solidFill>
                  <a:schemeClr val="bg1"/>
                </a:solidFill>
              </a:rPr>
              <a:t> to ask for guessing number</a:t>
            </a:r>
          </a:p>
          <a:p>
            <a:pPr marL="0" indent="0">
              <a:buSzPts val="1840"/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標題 10">
            <a:extLst>
              <a:ext uri="{FF2B5EF4-FFF2-40B4-BE49-F238E27FC236}">
                <a16:creationId xmlns:a16="http://schemas.microsoft.com/office/drawing/2014/main" id="{6968B8A1-A977-8F13-45B1-B4A245618C00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Exercises (2/3)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E5686E8-6CD4-615D-8288-F4E8A1033144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</p:spTree>
    <p:extLst>
      <p:ext uri="{BB962C8B-B14F-4D97-AF65-F5344CB8AC3E}">
        <p14:creationId xmlns:p14="http://schemas.microsoft.com/office/powerpoint/2010/main" val="81489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193D311C-1EAC-786B-1B9C-09F5CFA1F0D1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Exercises (3/3)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0F1B7C-63A9-3B57-9EAD-75F65A718422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1C3F4FE-0142-B48D-F565-C81A10CE4B20}"/>
              </a:ext>
            </a:extLst>
          </p:cNvPr>
          <p:cNvSpPr txBox="1"/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Result 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DB2BC9C2-8465-425B-8FF8-C56BF838A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39" y="1313212"/>
            <a:ext cx="4639322" cy="508706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62AA30C3-E66B-48B7-8F9D-6855B53C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339" y="1351317"/>
            <a:ext cx="4667901" cy="5010849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B8EBFB51-C69E-424D-9184-C23657E05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760" y="1407238"/>
            <a:ext cx="4534533" cy="4991797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24E41C5E-732A-41C6-9D80-BE48B77F5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812" y="1369751"/>
            <a:ext cx="4658375" cy="5010849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648F31E2-F0A3-4244-859E-C829EF617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312" y="1369132"/>
            <a:ext cx="4639322" cy="5068007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2311CA36-435C-48B3-BC9F-6F9F7E823E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8654" y="1388190"/>
            <a:ext cx="4572638" cy="508706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1872A522-4185-40AC-9646-C5D3E8093B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8708" y="1349460"/>
            <a:ext cx="4629796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8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3" name="Google Shape;584;p53">
            <a:extLst>
              <a:ext uri="{FF2B5EF4-FFF2-40B4-BE49-F238E27FC236}">
                <a16:creationId xmlns:a16="http://schemas.microsoft.com/office/drawing/2014/main" id="{50636F99-3335-9934-C91B-DE8E292855D3}"/>
              </a:ext>
            </a:extLst>
          </p:cNvPr>
          <p:cNvSpPr txBox="1">
            <a:spLocks/>
          </p:cNvSpPr>
          <p:nvPr/>
        </p:nvSpPr>
        <p:spPr>
          <a:xfrm>
            <a:off x="1149403" y="1205980"/>
            <a:ext cx="7515864" cy="3544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0800" tIns="50800" rIns="50800" bIns="508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406400">
              <a:spcBef>
                <a:spcPts val="0"/>
              </a:spcBef>
              <a:buSzPts val="1656"/>
            </a:pPr>
            <a:r>
              <a:rPr lang="en-US" u="sng" dirty="0">
                <a:solidFill>
                  <a:schemeClr val="hlink"/>
                </a:solidFill>
                <a:hlinkClick r:id="rId2"/>
              </a:rPr>
              <a:t>Shell script</a:t>
            </a:r>
            <a:endParaRPr lang="en-US" dirty="0"/>
          </a:p>
          <a:p>
            <a:pPr marL="406400" indent="-406400">
              <a:buSzPts val="1656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Advanced Packaging Tool (APT)</a:t>
            </a:r>
            <a:endParaRPr lang="en-US" dirty="0"/>
          </a:p>
          <a:p>
            <a:pPr marL="406400" indent="-406400">
              <a:buSzPts val="1656"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New to Vim</a:t>
            </a:r>
            <a:endParaRPr lang="en-US" dirty="0"/>
          </a:p>
          <a:p>
            <a:pPr marL="406400" indent="-406400">
              <a:buSzPts val="1656"/>
            </a:pPr>
            <a:r>
              <a:rPr lang="en-US" u="sng" dirty="0">
                <a:solidFill>
                  <a:schemeClr val="hlink"/>
                </a:solidFill>
                <a:hlinkClick r:id="rId5"/>
              </a:rPr>
              <a:t>BASH Programming - Introduction</a:t>
            </a:r>
            <a:endParaRPr lang="en-US" dirty="0"/>
          </a:p>
          <a:p>
            <a:pPr marL="406400" indent="-406400">
              <a:buSzPts val="1656"/>
            </a:pPr>
            <a:r>
              <a:rPr lang="en-US" u="sng" dirty="0">
                <a:solidFill>
                  <a:schemeClr val="hlink"/>
                </a:solidFill>
                <a:hlinkClick r:id="rId6"/>
              </a:rPr>
              <a:t>Linux Shell Scripting Tutorial</a:t>
            </a:r>
            <a:endParaRPr lang="en-US" dirty="0"/>
          </a:p>
          <a:p>
            <a:pPr marL="406400" indent="-406400">
              <a:buSzPts val="1656"/>
            </a:pPr>
            <a:r>
              <a:rPr lang="en-US" u="sng" dirty="0">
                <a:solidFill>
                  <a:schemeClr val="hlink"/>
                </a:solidFill>
                <a:hlinkClick r:id="rId7"/>
              </a:rPr>
              <a:t>Common LINUX Command</a:t>
            </a:r>
            <a:endParaRPr lang="en-US" dirty="0"/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BAB739DC-C9D9-C287-D3D3-7E54D9C9DDE0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References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47D36-DE9A-7CBE-375B-C0188A4A626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</p:spTree>
    <p:extLst>
      <p:ext uri="{BB962C8B-B14F-4D97-AF65-F5344CB8AC3E}">
        <p14:creationId xmlns:p14="http://schemas.microsoft.com/office/powerpoint/2010/main" val="152626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BAB739DC-C9D9-C287-D3D3-7E54D9C9DDE0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cs typeface="Calibri"/>
              </a:rPr>
              <a:t>附錄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47D36-DE9A-7CBE-375B-C0188A4A626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BC4C719-A951-4129-9DEE-49A55D33A638}"/>
              </a:ext>
            </a:extLst>
          </p:cNvPr>
          <p:cNvSpPr txBox="1"/>
          <p:nvPr/>
        </p:nvSpPr>
        <p:spPr>
          <a:xfrm>
            <a:off x="1078800" y="1313212"/>
            <a:ext cx="4947121" cy="464588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其他常用指令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查看目錄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ls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目錄切換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cd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切換到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home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目錄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cd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~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查看當前目工作錄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cs typeface="Calibri"/>
              </a:rPr>
              <a:t>pwd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創建目錄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cs typeface="Calibri"/>
              </a:rPr>
              <a:t>mkdir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創建文件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touch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查看文件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 cat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E683798-3EB2-4BC8-BABD-1C52C3478346}"/>
              </a:ext>
            </a:extLst>
          </p:cNvPr>
          <p:cNvSpPr txBox="1"/>
          <p:nvPr/>
        </p:nvSpPr>
        <p:spPr>
          <a:xfrm>
            <a:off x="6025921" y="1903117"/>
            <a:ext cx="4947121" cy="405598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複製文件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/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文件夾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 cp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移動文件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/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文件夾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 mv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刪除文件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/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文件夾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 rm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輸入指定內容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 echo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更改權限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cs typeface="Calibri"/>
              </a:rPr>
              <a:t>chmod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搜尋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find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檔案中找關鍵字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grep</a:t>
            </a:r>
          </a:p>
        </p:txBody>
      </p:sp>
    </p:spTree>
    <p:extLst>
      <p:ext uri="{BB962C8B-B14F-4D97-AF65-F5344CB8AC3E}">
        <p14:creationId xmlns:p14="http://schemas.microsoft.com/office/powerpoint/2010/main" val="683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7" name="標題 10">
            <a:extLst>
              <a:ext uri="{FF2B5EF4-FFF2-40B4-BE49-F238E27FC236}">
                <a16:creationId xmlns:a16="http://schemas.microsoft.com/office/drawing/2014/main" id="{BAB739DC-C9D9-C287-D3D3-7E54D9C9DDE0}"/>
              </a:ext>
            </a:extLst>
          </p:cNvPr>
          <p:cNvSpPr txBox="1">
            <a:spLocks/>
          </p:cNvSpPr>
          <p:nvPr/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zh-TW" altLang="en-US" sz="4000" b="1" dirty="0">
                <a:solidFill>
                  <a:srgbClr val="FFFFFF"/>
                </a:solidFill>
                <a:cs typeface="Calibri"/>
              </a:rPr>
              <a:t>附錄</a:t>
            </a:r>
            <a:endParaRPr lang="en-US" altLang="zh-TW" sz="40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947D36-DE9A-7CBE-375B-C0188A4A6261}"/>
              </a:ext>
            </a:extLst>
          </p:cNvPr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BC4C719-A951-4129-9DEE-49A55D33A638}"/>
              </a:ext>
            </a:extLst>
          </p:cNvPr>
          <p:cNvSpPr txBox="1"/>
          <p:nvPr/>
        </p:nvSpPr>
        <p:spPr>
          <a:xfrm>
            <a:off x="1078800" y="1313212"/>
            <a:ext cx="9239998" cy="464710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其他常用快捷鍵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Shift + T : 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開啟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terminal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分頁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L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清空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terminal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C : 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強制停止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D : 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關閉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S 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鎖定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Ctrl + Q :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解除鎖定</a:t>
            </a:r>
            <a:endParaRPr lang="en-US" altLang="zh-TW" sz="2400" b="1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770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A622C7FD-5A78-80EC-8949-7B3836DF29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Thanks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your listening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B3DB47-A296-E215-293B-32F81B7F83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urpleRed">
      <a:majorFont>
        <a:latin typeface="Consolas"/>
        <a:ea typeface="華康中特圓體"/>
        <a:cs typeface=""/>
      </a:majorFont>
      <a:minorFont>
        <a:latin typeface="Consolas"/>
        <a:ea typeface="華康中特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3617</TotalTime>
  <Words>2320</Words>
  <Application>Microsoft Office PowerPoint</Application>
  <PresentationFormat>寬螢幕</PresentationFormat>
  <Paragraphs>511</Paragraphs>
  <Slides>54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2" baseType="lpstr">
      <vt:lpstr>Helvetica Neue Light</vt:lpstr>
      <vt:lpstr>Helvetica Neue</vt:lpstr>
      <vt:lpstr>Calibri</vt:lpstr>
      <vt:lpstr>Arial</vt:lpstr>
      <vt:lpstr>Georgia</vt:lpstr>
      <vt:lpstr>Consolas</vt:lpstr>
      <vt:lpstr>Ubuntu Mono</vt:lpstr>
      <vt:lpstr>Office 佈景主題</vt:lpstr>
      <vt:lpstr>PowerPoint 簡報</vt:lpstr>
      <vt:lpstr>Outline</vt:lpstr>
      <vt:lpstr>Introduction (1/3)</vt:lpstr>
      <vt:lpstr>Introduction (2/3)</vt:lpstr>
      <vt:lpstr>Introduction (3/3)</vt:lpstr>
      <vt:lpstr>Outline</vt:lpstr>
      <vt:lpstr>Vim Basics (1/11)</vt:lpstr>
      <vt:lpstr>Vim Basics (2/11)</vt:lpstr>
      <vt:lpstr>Vim Basics (3/11)</vt:lpstr>
      <vt:lpstr>Vim Basics (4/11)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Outline</vt:lpstr>
      <vt:lpstr>Bash Shell Scripting Tutorial (1/28)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Outline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 for your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PurpleRed</dc:creator>
  <cp:lastModifiedBy>弘堯 葉</cp:lastModifiedBy>
  <cp:revision>69</cp:revision>
  <dcterms:created xsi:type="dcterms:W3CDTF">2023-12-16T06:12:01Z</dcterms:created>
  <dcterms:modified xsi:type="dcterms:W3CDTF">2026-09-08T12:39:56Z</dcterms:modified>
</cp:coreProperties>
</file>